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Erwyna and Taabish, and this is our design for the EV charging wireless sensor network simulator. I'll cover the topology choice and the structure of our MPI architecture, and Taabish will cover the message passing and the communication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we're simulating is a grid of EV charging nodes. Each node has charging ports; when a node passes its utilisation threshold it asks its neighbours, and if the whole neighbourhood is saturated it alerts a base station, which finds the closest free node and redirects incoming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1 we compared seven topologies from Week 5 on diameter, link count, fault tolerance and scalability. Line and tree fail immediately on fault tolerance: cut any link and the network splits. A ring survives one cut but its path length grows linearly, so it doesn't scale. Fully connected has perfect fault tolerance but needs n squared links, which no wireless deployment can provide. A star matches the base-station traffic but makes the hub a single point of failure for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chose a hybrid: a 2-D mesh between charging nodes, because the spec places nodes in a Cartesian grid talking only to adjacent neighbours, which is also what real radio range gives you, plus a star overlay to the base station for logging and redirection. The mesh gives redundant paths if a node dies, and its degree is capped at four, so it scales incrementally.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2, each charging node is one MPI process. The node ranks form a Cartesian communicator built with MPI_Cart_create, so every process finds its four neighbours with MPI_Cart_shift instead of us hard-coding a mapping. The base station is a dedicated rank holding the global availability table and doing a Manhattan-distance search for the closest free node. Inside each node process, every charging port is a POSIX thread updating shared port state under a mutex, so we combine shared-memory parallelism inside each multi-core machine with message passing between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 by 3 grid needs ten processes; two 8-core machines cover that with cores to spare for the port threads. An alert struct is under 512 bytes, so worst-case base-station traffic is tens of kilobits per second, and 1 Gbps Ethernet is ample. Taabish will now take you through the messages themselves and how the delays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and A period: about one minute each, answered individually, no AI tools. Erwyna covers topology and structure questions, Taabish covers message passing and delay analysis questions. Appendix slides after this one are labelled APPENDIX so markers do not confuse them with assessed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duplicate this divider's style for any extra slides (full delay arithmetic, extra graphs, code snippets) so markers can tell them apart from the assessed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85800"/>
            <a:ext cx="1005840" cy="0"/>
          </a:xfrm>
          <a:prstGeom prst="line">
            <a:avLst/>
          </a:prstGeom>
          <a:noFill/>
          <a:ln w="12700">
            <a:solidFill>
              <a:srgbClr val="D9CBEF"/>
            </a:solidFill>
            <a:prstDash val="solid"/>
          </a:ln>
        </p:spPr>
      </p:sp>
      <p:sp>
        <p:nvSpPr>
          <p:cNvPr id="3" name="Shape 1"/>
          <p:cNvSpPr/>
          <p:nvPr/>
        </p:nvSpPr>
        <p:spPr>
          <a:xfrm>
            <a:off x="685800" y="685800"/>
            <a:ext cx="0" cy="1005840"/>
          </a:xfrm>
          <a:prstGeom prst="line">
            <a:avLst/>
          </a:prstGeom>
          <a:noFill/>
          <a:ln w="12700">
            <a:solidFill>
              <a:srgbClr val="D9CBEF"/>
            </a:solidFill>
            <a:prstDash val="solid"/>
          </a:ln>
        </p:spPr>
      </p:sp>
      <p:sp>
        <p:nvSpPr>
          <p:cNvPr id="4" name="Shape 2"/>
          <p:cNvSpPr/>
          <p:nvPr/>
        </p:nvSpPr>
        <p:spPr>
          <a:xfrm>
            <a:off x="685800" y="1188720"/>
            <a:ext cx="1005840" cy="0"/>
          </a:xfrm>
          <a:prstGeom prst="line">
            <a:avLst/>
          </a:prstGeom>
          <a:noFill/>
          <a:ln w="12700">
            <a:solidFill>
              <a:srgbClr val="D9CBEF"/>
            </a:solidFill>
            <a:prstDash val="solid"/>
          </a:ln>
        </p:spPr>
      </p:sp>
      <p:sp>
        <p:nvSpPr>
          <p:cNvPr id="5" name="Shape 3"/>
          <p:cNvSpPr/>
          <p:nvPr/>
        </p:nvSpPr>
        <p:spPr>
          <a:xfrm>
            <a:off x="1188720" y="685800"/>
            <a:ext cx="0" cy="1005840"/>
          </a:xfrm>
          <a:prstGeom prst="line">
            <a:avLst/>
          </a:prstGeom>
          <a:noFill/>
          <a:ln w="12700">
            <a:solidFill>
              <a:srgbClr val="D9CBEF"/>
            </a:solidFill>
            <a:prstDash val="solid"/>
          </a:ln>
        </p:spPr>
      </p:sp>
      <p:sp>
        <p:nvSpPr>
          <p:cNvPr id="6" name="Shape 4"/>
          <p:cNvSpPr/>
          <p:nvPr/>
        </p:nvSpPr>
        <p:spPr>
          <a:xfrm>
            <a:off x="685800" y="1691640"/>
            <a:ext cx="1005840" cy="0"/>
          </a:xfrm>
          <a:prstGeom prst="line">
            <a:avLst/>
          </a:prstGeom>
          <a:noFill/>
          <a:ln w="12700">
            <a:solidFill>
              <a:srgbClr val="D9CBEF"/>
            </a:solidFill>
            <a:prstDash val="solid"/>
          </a:ln>
        </p:spPr>
      </p:sp>
      <p:sp>
        <p:nvSpPr>
          <p:cNvPr id="7" name="Shape 5"/>
          <p:cNvSpPr/>
          <p:nvPr/>
        </p:nvSpPr>
        <p:spPr>
          <a:xfrm>
            <a:off x="1691640" y="685800"/>
            <a:ext cx="0" cy="1005840"/>
          </a:xfrm>
          <a:prstGeom prst="line">
            <a:avLst/>
          </a:prstGeom>
          <a:noFill/>
          <a:ln w="12700">
            <a:solidFill>
              <a:srgbClr val="D9CBEF"/>
            </a:solidFill>
            <a:prstDash val="solid"/>
          </a:ln>
        </p:spPr>
      </p:sp>
      <p:sp>
        <p:nvSpPr>
          <p:cNvPr id="8" name="Shape 6"/>
          <p:cNvSpPr/>
          <p:nvPr/>
        </p:nvSpPr>
        <p:spPr>
          <a:xfrm>
            <a:off x="644652" y="644652"/>
            <a:ext cx="82296" cy="82296"/>
          </a:xfrm>
          <a:prstGeom prst="ellipse">
            <a:avLst/>
          </a:prstGeom>
          <a:solidFill>
            <a:srgbClr val="7C4DBE"/>
          </a:solidFill>
          <a:ln/>
        </p:spPr>
      </p:sp>
      <p:sp>
        <p:nvSpPr>
          <p:cNvPr id="9" name="Shape 7"/>
          <p:cNvSpPr/>
          <p:nvPr/>
        </p:nvSpPr>
        <p:spPr>
          <a:xfrm>
            <a:off x="644652" y="1147572"/>
            <a:ext cx="82296" cy="82296"/>
          </a:xfrm>
          <a:prstGeom prst="ellipse">
            <a:avLst/>
          </a:prstGeom>
          <a:solidFill>
            <a:srgbClr val="7C4DBE"/>
          </a:solidFill>
          <a:ln/>
        </p:spPr>
      </p:sp>
      <p:sp>
        <p:nvSpPr>
          <p:cNvPr id="10" name="Shape 8"/>
          <p:cNvSpPr/>
          <p:nvPr/>
        </p:nvSpPr>
        <p:spPr>
          <a:xfrm>
            <a:off x="644652" y="1650492"/>
            <a:ext cx="82296" cy="82296"/>
          </a:xfrm>
          <a:prstGeom prst="ellipse">
            <a:avLst/>
          </a:prstGeom>
          <a:solidFill>
            <a:srgbClr val="7C4DBE"/>
          </a:solidFill>
          <a:ln/>
        </p:spPr>
      </p:sp>
      <p:sp>
        <p:nvSpPr>
          <p:cNvPr id="11" name="Shape 9"/>
          <p:cNvSpPr/>
          <p:nvPr/>
        </p:nvSpPr>
        <p:spPr>
          <a:xfrm>
            <a:off x="1147572" y="644652"/>
            <a:ext cx="82296" cy="82296"/>
          </a:xfrm>
          <a:prstGeom prst="ellipse">
            <a:avLst/>
          </a:prstGeom>
          <a:solidFill>
            <a:srgbClr val="7C4DBE"/>
          </a:solidFill>
          <a:ln/>
        </p:spPr>
      </p:sp>
      <p:sp>
        <p:nvSpPr>
          <p:cNvPr id="12" name="Shape 10"/>
          <p:cNvSpPr/>
          <p:nvPr/>
        </p:nvSpPr>
        <p:spPr>
          <a:xfrm>
            <a:off x="1147572" y="1147572"/>
            <a:ext cx="82296" cy="82296"/>
          </a:xfrm>
          <a:prstGeom prst="ellipse">
            <a:avLst/>
          </a:prstGeom>
          <a:solidFill>
            <a:srgbClr val="5B2D8E"/>
          </a:solidFill>
          <a:ln/>
        </p:spPr>
      </p:sp>
      <p:sp>
        <p:nvSpPr>
          <p:cNvPr id="13" name="Shape 11"/>
          <p:cNvSpPr/>
          <p:nvPr/>
        </p:nvSpPr>
        <p:spPr>
          <a:xfrm>
            <a:off x="1147572" y="1650492"/>
            <a:ext cx="82296" cy="82296"/>
          </a:xfrm>
          <a:prstGeom prst="ellipse">
            <a:avLst/>
          </a:prstGeom>
          <a:solidFill>
            <a:srgbClr val="7C4DBE"/>
          </a:solidFill>
          <a:ln/>
        </p:spPr>
      </p:sp>
      <p:sp>
        <p:nvSpPr>
          <p:cNvPr id="14" name="Shape 12"/>
          <p:cNvSpPr/>
          <p:nvPr/>
        </p:nvSpPr>
        <p:spPr>
          <a:xfrm>
            <a:off x="1650492" y="644652"/>
            <a:ext cx="82296" cy="82296"/>
          </a:xfrm>
          <a:prstGeom prst="ellipse">
            <a:avLst/>
          </a:prstGeom>
          <a:solidFill>
            <a:srgbClr val="7C4DBE"/>
          </a:solidFill>
          <a:ln/>
        </p:spPr>
      </p:sp>
      <p:sp>
        <p:nvSpPr>
          <p:cNvPr id="15" name="Shape 13"/>
          <p:cNvSpPr/>
          <p:nvPr/>
        </p:nvSpPr>
        <p:spPr>
          <a:xfrm>
            <a:off x="1650492" y="1147572"/>
            <a:ext cx="82296" cy="82296"/>
          </a:xfrm>
          <a:prstGeom prst="ellipse">
            <a:avLst/>
          </a:prstGeom>
          <a:solidFill>
            <a:srgbClr val="7C4DBE"/>
          </a:solidFill>
          <a:ln/>
        </p:spPr>
      </p:sp>
      <p:sp>
        <p:nvSpPr>
          <p:cNvPr id="16" name="Shape 14"/>
          <p:cNvSpPr/>
          <p:nvPr/>
        </p:nvSpPr>
        <p:spPr>
          <a:xfrm>
            <a:off x="1650492" y="1650492"/>
            <a:ext cx="82296" cy="82296"/>
          </a:xfrm>
          <a:prstGeom prst="ellipse">
            <a:avLst/>
          </a:prstGeom>
          <a:solidFill>
            <a:srgbClr val="7C4DBE"/>
          </a:solidFill>
          <a:ln/>
        </p:spPr>
      </p:sp>
      <p:sp>
        <p:nvSpPr>
          <p:cNvPr id="17" name="Text 15"/>
          <p:cNvSpPr/>
          <p:nvPr/>
        </p:nvSpPr>
        <p:spPr>
          <a:xfrm>
            <a:off x="548640" y="1965960"/>
            <a:ext cx="8046720" cy="1188720"/>
          </a:xfrm>
          <a:prstGeom prst="rect">
            <a:avLst/>
          </a:prstGeom>
          <a:noFill/>
          <a:ln/>
        </p:spPr>
        <p:txBody>
          <a:bodyPr wrap="square" lIns="0" tIns="0" rIns="0" bIns="0" rtlCol="0" anchor="ctr"/>
          <a:lstStyle/>
          <a:p>
            <a:pPr indent="0" marL="0">
              <a:buNone/>
            </a:pPr>
            <a:r>
              <a:rPr lang="en-US" sz="4400" b="1" dirty="0">
                <a:solidFill>
                  <a:srgbClr val="5B2D8E"/>
                </a:solidFill>
                <a:latin typeface="Calibri" pitchFamily="34" charset="0"/>
                <a:ea typeface="Calibri" pitchFamily="34" charset="-122"/>
                <a:cs typeface="Calibri" pitchFamily="34" charset="-120"/>
              </a:rPr>
              <a:t>Distributed Wireless Sensor Network</a:t>
            </a:r>
            <a:endParaRPr lang="en-US" sz="4400" dirty="0"/>
          </a:p>
        </p:txBody>
      </p:sp>
      <p:sp>
        <p:nvSpPr>
          <p:cNvPr id="18" name="Text 16"/>
          <p:cNvSpPr/>
          <p:nvPr/>
        </p:nvSpPr>
        <p:spPr>
          <a:xfrm>
            <a:off x="548640" y="3063240"/>
            <a:ext cx="8046720" cy="365760"/>
          </a:xfrm>
          <a:prstGeom prst="rect">
            <a:avLst/>
          </a:prstGeom>
          <a:noFill/>
          <a:ln/>
        </p:spPr>
        <p:txBody>
          <a:bodyPr wrap="square" lIns="0" tIns="0" rIns="0" bIns="0" rtlCol="0" anchor="ctr"/>
          <a:lstStyle/>
          <a:p>
            <a:pPr indent="0" marL="0">
              <a:buNone/>
            </a:pPr>
            <a:r>
              <a:rPr lang="en-US" sz="1800" dirty="0">
                <a:solidFill>
                  <a:srgbClr val="7C4DBE"/>
                </a:solidFill>
                <a:latin typeface="Calibri" pitchFamily="34" charset="0"/>
                <a:ea typeface="Calibri" pitchFamily="34" charset="-122"/>
                <a:cs typeface="Calibri" pitchFamily="34" charset="-120"/>
              </a:rPr>
              <a:t>FIT3143 Applied #1  |  EV Charging Navigation Simulator</a:t>
            </a:r>
            <a:endParaRPr lang="en-US" sz="1800" dirty="0"/>
          </a:p>
        </p:txBody>
      </p:sp>
      <p:sp>
        <p:nvSpPr>
          <p:cNvPr id="19" name="Text 17"/>
          <p:cNvSpPr/>
          <p:nvPr/>
        </p:nvSpPr>
        <p:spPr>
          <a:xfrm>
            <a:off x="548640" y="3977640"/>
            <a:ext cx="8046720" cy="640080"/>
          </a:xfrm>
          <a:prstGeom prst="rect">
            <a:avLst/>
          </a:prstGeom>
          <a:noFill/>
          <a:ln/>
        </p:spPr>
        <p:txBody>
          <a:bodyPr wrap="square" lIns="0" tIns="0" rIns="0" bIns="0" rtlCol="0" anchor="ctr"/>
          <a:lstStyle/>
          <a:p>
            <a:pPr indent="0" marL="0">
              <a:buNone/>
            </a:pPr>
            <a:r>
              <a:rPr lang="en-US" sz="1400" dirty="0">
                <a:solidFill>
                  <a:srgbClr val="6B6478"/>
                </a:solidFill>
                <a:latin typeface="Calibri" pitchFamily="34" charset="0"/>
                <a:ea typeface="Calibri" pitchFamily="34" charset="-122"/>
                <a:cs typeface="Calibri" pitchFamily="34" charset="-120"/>
              </a:rPr>
              <a:t>Erwyna Soo  |  [student ID]  |  [Monash email]</a:t>
            </a:r>
            <a:endParaRPr lang="en-US" sz="1400" dirty="0"/>
          </a:p>
          <a:p>
            <a:pPr indent="0" marL="0">
              <a:buNone/>
            </a:pPr>
            <a:r>
              <a:rPr lang="en-US" sz="1400" dirty="0">
                <a:solidFill>
                  <a:srgbClr val="6B6478"/>
                </a:solidFill>
                <a:latin typeface="Calibri" pitchFamily="34" charset="0"/>
                <a:ea typeface="Calibri" pitchFamily="34" charset="-122"/>
                <a:cs typeface="Calibri" pitchFamily="34" charset="-120"/>
              </a:rPr>
              <a:t>Taabish [surname]  |  [student ID]  |  [Monash email]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943600" cy="274320"/>
          </a:xfrm>
          <a:prstGeom prst="rect">
            <a:avLst/>
          </a:prstGeom>
          <a:noFill/>
          <a:ln/>
        </p:spPr>
        <p:txBody>
          <a:bodyPr wrap="square" lIns="0" tIns="0" rIns="0" bIns="0" rtlCol="0" anchor="ctr"/>
          <a:lstStyle/>
          <a:p>
            <a:pPr indent="0" marL="0">
              <a:buNone/>
            </a:pPr>
            <a:r>
              <a:rPr lang="en-US" sz="1200" b="1" spc="200" kern="0" dirty="0">
                <a:solidFill>
                  <a:srgbClr val="7C4DBE"/>
                </a:solidFill>
                <a:latin typeface="Calibri" pitchFamily="34" charset="0"/>
                <a:ea typeface="Calibri" pitchFamily="34" charset="-122"/>
                <a:cs typeface="Calibri" pitchFamily="34" charset="-120"/>
              </a:rPr>
              <a:t>CONTEXT</a:t>
            </a:r>
            <a:endParaRPr lang="en-US" sz="1200" dirty="0"/>
          </a:p>
        </p:txBody>
      </p:sp>
      <p:sp>
        <p:nvSpPr>
          <p:cNvPr id="3" name="Text 1"/>
          <p:cNvSpPr/>
          <p:nvPr/>
        </p:nvSpPr>
        <p:spPr>
          <a:xfrm>
            <a:off x="548640" y="548640"/>
            <a:ext cx="8046720" cy="685800"/>
          </a:xfrm>
          <a:prstGeom prst="rect">
            <a:avLst/>
          </a:prstGeom>
          <a:noFill/>
          <a:ln/>
        </p:spPr>
        <p:txBody>
          <a:bodyPr wrap="square" lIns="0" tIns="0" rIns="0" bIns="0" rtlCol="0" anchor="ctr"/>
          <a:lstStyle/>
          <a:p>
            <a:pPr indent="0" marL="0">
              <a:buNone/>
            </a:pPr>
            <a:r>
              <a:rPr lang="en-US" sz="3000" b="1" dirty="0">
                <a:solidFill>
                  <a:srgbClr val="5B2D8E"/>
                </a:solidFill>
                <a:latin typeface="Calibri" pitchFamily="34" charset="0"/>
                <a:ea typeface="Calibri" pitchFamily="34" charset="-122"/>
                <a:cs typeface="Calibri" pitchFamily="34" charset="-120"/>
              </a:rPr>
              <a:t>The system we simulate</a:t>
            </a:r>
            <a:endParaRPr lang="en-US" sz="3000" dirty="0"/>
          </a:p>
        </p:txBody>
      </p:sp>
      <p:sp>
        <p:nvSpPr>
          <p:cNvPr id="4" name="Shape 2"/>
          <p:cNvSpPr/>
          <p:nvPr/>
        </p:nvSpPr>
        <p:spPr>
          <a:xfrm>
            <a:off x="8275320" y="384048"/>
            <a:ext cx="384048" cy="0"/>
          </a:xfrm>
          <a:prstGeom prst="line">
            <a:avLst/>
          </a:prstGeom>
          <a:noFill/>
          <a:ln w="12700">
            <a:solidFill>
              <a:srgbClr val="D9CBEF"/>
            </a:solidFill>
            <a:prstDash val="solid"/>
          </a:ln>
        </p:spPr>
      </p:sp>
      <p:sp>
        <p:nvSpPr>
          <p:cNvPr id="5" name="Shape 3"/>
          <p:cNvSpPr/>
          <p:nvPr/>
        </p:nvSpPr>
        <p:spPr>
          <a:xfrm>
            <a:off x="8275320" y="384048"/>
            <a:ext cx="0" cy="384048"/>
          </a:xfrm>
          <a:prstGeom prst="line">
            <a:avLst/>
          </a:prstGeom>
          <a:noFill/>
          <a:ln w="12700">
            <a:solidFill>
              <a:srgbClr val="D9CBEF"/>
            </a:solidFill>
            <a:prstDash val="solid"/>
          </a:ln>
        </p:spPr>
      </p:sp>
      <p:sp>
        <p:nvSpPr>
          <p:cNvPr id="6" name="Shape 4"/>
          <p:cNvSpPr/>
          <p:nvPr/>
        </p:nvSpPr>
        <p:spPr>
          <a:xfrm>
            <a:off x="8275320" y="576072"/>
            <a:ext cx="384048" cy="0"/>
          </a:xfrm>
          <a:prstGeom prst="line">
            <a:avLst/>
          </a:prstGeom>
          <a:noFill/>
          <a:ln w="12700">
            <a:solidFill>
              <a:srgbClr val="D9CBEF"/>
            </a:solidFill>
            <a:prstDash val="solid"/>
          </a:ln>
        </p:spPr>
      </p:sp>
      <p:sp>
        <p:nvSpPr>
          <p:cNvPr id="7" name="Shape 5"/>
          <p:cNvSpPr/>
          <p:nvPr/>
        </p:nvSpPr>
        <p:spPr>
          <a:xfrm>
            <a:off x="8467344" y="384048"/>
            <a:ext cx="0" cy="384048"/>
          </a:xfrm>
          <a:prstGeom prst="line">
            <a:avLst/>
          </a:prstGeom>
          <a:noFill/>
          <a:ln w="12700">
            <a:solidFill>
              <a:srgbClr val="D9CBEF"/>
            </a:solidFill>
            <a:prstDash val="solid"/>
          </a:ln>
        </p:spPr>
      </p:sp>
      <p:sp>
        <p:nvSpPr>
          <p:cNvPr id="8" name="Shape 6"/>
          <p:cNvSpPr/>
          <p:nvPr/>
        </p:nvSpPr>
        <p:spPr>
          <a:xfrm>
            <a:off x="8275320" y="768096"/>
            <a:ext cx="384048" cy="0"/>
          </a:xfrm>
          <a:prstGeom prst="line">
            <a:avLst/>
          </a:prstGeom>
          <a:noFill/>
          <a:ln w="12700">
            <a:solidFill>
              <a:srgbClr val="D9CBEF"/>
            </a:solidFill>
            <a:prstDash val="solid"/>
          </a:ln>
        </p:spPr>
      </p:sp>
      <p:sp>
        <p:nvSpPr>
          <p:cNvPr id="9" name="Shape 7"/>
          <p:cNvSpPr/>
          <p:nvPr/>
        </p:nvSpPr>
        <p:spPr>
          <a:xfrm>
            <a:off x="8659368" y="384048"/>
            <a:ext cx="0" cy="384048"/>
          </a:xfrm>
          <a:prstGeom prst="line">
            <a:avLst/>
          </a:prstGeom>
          <a:noFill/>
          <a:ln w="12700">
            <a:solidFill>
              <a:srgbClr val="D9CBEF"/>
            </a:solidFill>
            <a:prstDash val="solid"/>
          </a:ln>
        </p:spPr>
      </p:sp>
      <p:sp>
        <p:nvSpPr>
          <p:cNvPr id="10" name="Shape 8"/>
          <p:cNvSpPr/>
          <p:nvPr/>
        </p:nvSpPr>
        <p:spPr>
          <a:xfrm>
            <a:off x="8234172" y="342900"/>
            <a:ext cx="82296" cy="82296"/>
          </a:xfrm>
          <a:prstGeom prst="ellipse">
            <a:avLst/>
          </a:prstGeom>
          <a:solidFill>
            <a:srgbClr val="7C4DBE"/>
          </a:solidFill>
          <a:ln/>
        </p:spPr>
      </p:sp>
      <p:sp>
        <p:nvSpPr>
          <p:cNvPr id="11" name="Shape 9"/>
          <p:cNvSpPr/>
          <p:nvPr/>
        </p:nvSpPr>
        <p:spPr>
          <a:xfrm>
            <a:off x="8234172" y="534924"/>
            <a:ext cx="82296" cy="82296"/>
          </a:xfrm>
          <a:prstGeom prst="ellipse">
            <a:avLst/>
          </a:prstGeom>
          <a:solidFill>
            <a:srgbClr val="7C4DBE"/>
          </a:solidFill>
          <a:ln/>
        </p:spPr>
      </p:sp>
      <p:sp>
        <p:nvSpPr>
          <p:cNvPr id="12" name="Shape 10"/>
          <p:cNvSpPr/>
          <p:nvPr/>
        </p:nvSpPr>
        <p:spPr>
          <a:xfrm>
            <a:off x="8234172" y="726948"/>
            <a:ext cx="82296" cy="82296"/>
          </a:xfrm>
          <a:prstGeom prst="ellipse">
            <a:avLst/>
          </a:prstGeom>
          <a:solidFill>
            <a:srgbClr val="7C4DBE"/>
          </a:solidFill>
          <a:ln/>
        </p:spPr>
      </p:sp>
      <p:sp>
        <p:nvSpPr>
          <p:cNvPr id="13" name="Shape 11"/>
          <p:cNvSpPr/>
          <p:nvPr/>
        </p:nvSpPr>
        <p:spPr>
          <a:xfrm>
            <a:off x="8426196" y="342900"/>
            <a:ext cx="82296" cy="82296"/>
          </a:xfrm>
          <a:prstGeom prst="ellipse">
            <a:avLst/>
          </a:prstGeom>
          <a:solidFill>
            <a:srgbClr val="7C4DBE"/>
          </a:solidFill>
          <a:ln/>
        </p:spPr>
      </p:sp>
      <p:sp>
        <p:nvSpPr>
          <p:cNvPr id="14" name="Shape 12"/>
          <p:cNvSpPr/>
          <p:nvPr/>
        </p:nvSpPr>
        <p:spPr>
          <a:xfrm>
            <a:off x="8426196" y="534924"/>
            <a:ext cx="82296" cy="82296"/>
          </a:xfrm>
          <a:prstGeom prst="ellipse">
            <a:avLst/>
          </a:prstGeom>
          <a:solidFill>
            <a:srgbClr val="5B2D8E"/>
          </a:solidFill>
          <a:ln/>
        </p:spPr>
      </p:sp>
      <p:sp>
        <p:nvSpPr>
          <p:cNvPr id="15" name="Shape 13"/>
          <p:cNvSpPr/>
          <p:nvPr/>
        </p:nvSpPr>
        <p:spPr>
          <a:xfrm>
            <a:off x="8426196" y="726948"/>
            <a:ext cx="82296" cy="82296"/>
          </a:xfrm>
          <a:prstGeom prst="ellipse">
            <a:avLst/>
          </a:prstGeom>
          <a:solidFill>
            <a:srgbClr val="7C4DBE"/>
          </a:solidFill>
          <a:ln/>
        </p:spPr>
      </p:sp>
      <p:sp>
        <p:nvSpPr>
          <p:cNvPr id="16" name="Shape 14"/>
          <p:cNvSpPr/>
          <p:nvPr/>
        </p:nvSpPr>
        <p:spPr>
          <a:xfrm>
            <a:off x="8618220" y="342900"/>
            <a:ext cx="82296" cy="82296"/>
          </a:xfrm>
          <a:prstGeom prst="ellipse">
            <a:avLst/>
          </a:prstGeom>
          <a:solidFill>
            <a:srgbClr val="7C4DBE"/>
          </a:solidFill>
          <a:ln/>
        </p:spPr>
      </p:sp>
      <p:sp>
        <p:nvSpPr>
          <p:cNvPr id="17" name="Shape 15"/>
          <p:cNvSpPr/>
          <p:nvPr/>
        </p:nvSpPr>
        <p:spPr>
          <a:xfrm>
            <a:off x="8618220" y="534924"/>
            <a:ext cx="82296" cy="82296"/>
          </a:xfrm>
          <a:prstGeom prst="ellipse">
            <a:avLst/>
          </a:prstGeom>
          <a:solidFill>
            <a:srgbClr val="7C4DBE"/>
          </a:solidFill>
          <a:ln/>
        </p:spPr>
      </p:sp>
      <p:sp>
        <p:nvSpPr>
          <p:cNvPr id="18" name="Shape 16"/>
          <p:cNvSpPr/>
          <p:nvPr/>
        </p:nvSpPr>
        <p:spPr>
          <a:xfrm>
            <a:off x="8618220" y="726948"/>
            <a:ext cx="82296" cy="82296"/>
          </a:xfrm>
          <a:prstGeom prst="ellipse">
            <a:avLst/>
          </a:prstGeom>
          <a:solidFill>
            <a:srgbClr val="7C4DBE"/>
          </a:solidFill>
          <a:ln/>
        </p:spPr>
      </p:sp>
      <p:sp>
        <p:nvSpPr>
          <p:cNvPr id="19" name="Text 17"/>
          <p:cNvSpPr/>
          <p:nvPr/>
        </p:nvSpPr>
        <p:spPr>
          <a:xfrm>
            <a:off x="548640" y="1645920"/>
            <a:ext cx="7955280" cy="3108960"/>
          </a:xfrm>
          <a:prstGeom prst="rect">
            <a:avLst/>
          </a:prstGeom>
          <a:noFill/>
          <a:ln/>
        </p:spPr>
        <p:txBody>
          <a:bodyPr wrap="square" lIns="0" tIns="0" rIns="0" bIns="0" rtlCol="0" anchor="t"/>
          <a:lstStyle/>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Grid of EV charging nodes, each with charging ports</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Over threshold → query adjacent neighbours</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Neighbourhood saturated → alert base station</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Base station: log, find closest free node, redirect</a:t>
            </a:r>
            <a:endParaRPr lang="en-US" sz="1800" dirty="0"/>
          </a:p>
        </p:txBody>
      </p:sp>
      <p:sp>
        <p:nvSpPr>
          <p:cNvPr id="20" name="Shape 18"/>
          <p:cNvSpPr/>
          <p:nvPr/>
        </p:nvSpPr>
        <p:spPr>
          <a:xfrm>
            <a:off x="6492240" y="2011680"/>
            <a:ext cx="1463040" cy="0"/>
          </a:xfrm>
          <a:prstGeom prst="line">
            <a:avLst/>
          </a:prstGeom>
          <a:noFill/>
          <a:ln w="12700">
            <a:solidFill>
              <a:srgbClr val="D9CBEF"/>
            </a:solidFill>
            <a:prstDash val="solid"/>
          </a:ln>
        </p:spPr>
      </p:sp>
      <p:sp>
        <p:nvSpPr>
          <p:cNvPr id="21" name="Shape 19"/>
          <p:cNvSpPr/>
          <p:nvPr/>
        </p:nvSpPr>
        <p:spPr>
          <a:xfrm>
            <a:off x="6492240" y="2011680"/>
            <a:ext cx="0" cy="1463040"/>
          </a:xfrm>
          <a:prstGeom prst="line">
            <a:avLst/>
          </a:prstGeom>
          <a:noFill/>
          <a:ln w="12700">
            <a:solidFill>
              <a:srgbClr val="D9CBEF"/>
            </a:solidFill>
            <a:prstDash val="solid"/>
          </a:ln>
        </p:spPr>
      </p:sp>
      <p:sp>
        <p:nvSpPr>
          <p:cNvPr id="22" name="Shape 20"/>
          <p:cNvSpPr/>
          <p:nvPr/>
        </p:nvSpPr>
        <p:spPr>
          <a:xfrm>
            <a:off x="6492240" y="2743200"/>
            <a:ext cx="1463040" cy="0"/>
          </a:xfrm>
          <a:prstGeom prst="line">
            <a:avLst/>
          </a:prstGeom>
          <a:noFill/>
          <a:ln w="12700">
            <a:solidFill>
              <a:srgbClr val="D9CBEF"/>
            </a:solidFill>
            <a:prstDash val="solid"/>
          </a:ln>
        </p:spPr>
      </p:sp>
      <p:sp>
        <p:nvSpPr>
          <p:cNvPr id="23" name="Shape 21"/>
          <p:cNvSpPr/>
          <p:nvPr/>
        </p:nvSpPr>
        <p:spPr>
          <a:xfrm>
            <a:off x="7223760" y="2011680"/>
            <a:ext cx="0" cy="1463040"/>
          </a:xfrm>
          <a:prstGeom prst="line">
            <a:avLst/>
          </a:prstGeom>
          <a:noFill/>
          <a:ln w="12700">
            <a:solidFill>
              <a:srgbClr val="D9CBEF"/>
            </a:solidFill>
            <a:prstDash val="solid"/>
          </a:ln>
        </p:spPr>
      </p:sp>
      <p:sp>
        <p:nvSpPr>
          <p:cNvPr id="24" name="Shape 22"/>
          <p:cNvSpPr/>
          <p:nvPr/>
        </p:nvSpPr>
        <p:spPr>
          <a:xfrm>
            <a:off x="6492240" y="3474720"/>
            <a:ext cx="1463040" cy="0"/>
          </a:xfrm>
          <a:prstGeom prst="line">
            <a:avLst/>
          </a:prstGeom>
          <a:noFill/>
          <a:ln w="12700">
            <a:solidFill>
              <a:srgbClr val="D9CBEF"/>
            </a:solidFill>
            <a:prstDash val="solid"/>
          </a:ln>
        </p:spPr>
      </p:sp>
      <p:sp>
        <p:nvSpPr>
          <p:cNvPr id="25" name="Shape 23"/>
          <p:cNvSpPr/>
          <p:nvPr/>
        </p:nvSpPr>
        <p:spPr>
          <a:xfrm>
            <a:off x="7955280" y="2011680"/>
            <a:ext cx="0" cy="1463040"/>
          </a:xfrm>
          <a:prstGeom prst="line">
            <a:avLst/>
          </a:prstGeom>
          <a:noFill/>
          <a:ln w="12700">
            <a:solidFill>
              <a:srgbClr val="D9CBEF"/>
            </a:solidFill>
            <a:prstDash val="solid"/>
          </a:ln>
        </p:spPr>
      </p:sp>
      <p:sp>
        <p:nvSpPr>
          <p:cNvPr id="26" name="Shape 24"/>
          <p:cNvSpPr/>
          <p:nvPr/>
        </p:nvSpPr>
        <p:spPr>
          <a:xfrm>
            <a:off x="6451092" y="1970532"/>
            <a:ext cx="82296" cy="82296"/>
          </a:xfrm>
          <a:prstGeom prst="ellipse">
            <a:avLst/>
          </a:prstGeom>
          <a:solidFill>
            <a:srgbClr val="7C4DBE"/>
          </a:solidFill>
          <a:ln/>
        </p:spPr>
      </p:sp>
      <p:sp>
        <p:nvSpPr>
          <p:cNvPr id="27" name="Shape 25"/>
          <p:cNvSpPr/>
          <p:nvPr/>
        </p:nvSpPr>
        <p:spPr>
          <a:xfrm>
            <a:off x="6451092" y="2702052"/>
            <a:ext cx="82296" cy="82296"/>
          </a:xfrm>
          <a:prstGeom prst="ellipse">
            <a:avLst/>
          </a:prstGeom>
          <a:solidFill>
            <a:srgbClr val="7C4DBE"/>
          </a:solidFill>
          <a:ln/>
        </p:spPr>
      </p:sp>
      <p:sp>
        <p:nvSpPr>
          <p:cNvPr id="28" name="Shape 26"/>
          <p:cNvSpPr/>
          <p:nvPr/>
        </p:nvSpPr>
        <p:spPr>
          <a:xfrm>
            <a:off x="6451092" y="3433572"/>
            <a:ext cx="82296" cy="82296"/>
          </a:xfrm>
          <a:prstGeom prst="ellipse">
            <a:avLst/>
          </a:prstGeom>
          <a:solidFill>
            <a:srgbClr val="7C4DBE"/>
          </a:solidFill>
          <a:ln/>
        </p:spPr>
      </p:sp>
      <p:sp>
        <p:nvSpPr>
          <p:cNvPr id="29" name="Shape 27"/>
          <p:cNvSpPr/>
          <p:nvPr/>
        </p:nvSpPr>
        <p:spPr>
          <a:xfrm>
            <a:off x="7182612" y="1970532"/>
            <a:ext cx="82296" cy="82296"/>
          </a:xfrm>
          <a:prstGeom prst="ellipse">
            <a:avLst/>
          </a:prstGeom>
          <a:solidFill>
            <a:srgbClr val="7C4DBE"/>
          </a:solidFill>
          <a:ln/>
        </p:spPr>
      </p:sp>
      <p:sp>
        <p:nvSpPr>
          <p:cNvPr id="30" name="Shape 28"/>
          <p:cNvSpPr/>
          <p:nvPr/>
        </p:nvSpPr>
        <p:spPr>
          <a:xfrm>
            <a:off x="7182612" y="2702052"/>
            <a:ext cx="82296" cy="82296"/>
          </a:xfrm>
          <a:prstGeom prst="ellipse">
            <a:avLst/>
          </a:prstGeom>
          <a:solidFill>
            <a:srgbClr val="5B2D8E"/>
          </a:solidFill>
          <a:ln/>
        </p:spPr>
      </p:sp>
      <p:sp>
        <p:nvSpPr>
          <p:cNvPr id="31" name="Shape 29"/>
          <p:cNvSpPr/>
          <p:nvPr/>
        </p:nvSpPr>
        <p:spPr>
          <a:xfrm>
            <a:off x="7182612" y="3433572"/>
            <a:ext cx="82296" cy="82296"/>
          </a:xfrm>
          <a:prstGeom prst="ellipse">
            <a:avLst/>
          </a:prstGeom>
          <a:solidFill>
            <a:srgbClr val="7C4DBE"/>
          </a:solidFill>
          <a:ln/>
        </p:spPr>
      </p:sp>
      <p:sp>
        <p:nvSpPr>
          <p:cNvPr id="32" name="Shape 30"/>
          <p:cNvSpPr/>
          <p:nvPr/>
        </p:nvSpPr>
        <p:spPr>
          <a:xfrm>
            <a:off x="7914132" y="1970532"/>
            <a:ext cx="82296" cy="82296"/>
          </a:xfrm>
          <a:prstGeom prst="ellipse">
            <a:avLst/>
          </a:prstGeom>
          <a:solidFill>
            <a:srgbClr val="7C4DBE"/>
          </a:solidFill>
          <a:ln/>
        </p:spPr>
      </p:sp>
      <p:sp>
        <p:nvSpPr>
          <p:cNvPr id="33" name="Shape 31"/>
          <p:cNvSpPr/>
          <p:nvPr/>
        </p:nvSpPr>
        <p:spPr>
          <a:xfrm>
            <a:off x="7914132" y="2702052"/>
            <a:ext cx="82296" cy="82296"/>
          </a:xfrm>
          <a:prstGeom prst="ellipse">
            <a:avLst/>
          </a:prstGeom>
          <a:solidFill>
            <a:srgbClr val="7C4DBE"/>
          </a:solidFill>
          <a:ln/>
        </p:spPr>
      </p:sp>
      <p:sp>
        <p:nvSpPr>
          <p:cNvPr id="34" name="Shape 32"/>
          <p:cNvSpPr/>
          <p:nvPr/>
        </p:nvSpPr>
        <p:spPr>
          <a:xfrm>
            <a:off x="7914132" y="3433572"/>
            <a:ext cx="82296" cy="82296"/>
          </a:xfrm>
          <a:prstGeom prst="ellipse">
            <a:avLst/>
          </a:prstGeom>
          <a:solidFill>
            <a:srgbClr val="7C4DB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943600" cy="274320"/>
          </a:xfrm>
          <a:prstGeom prst="rect">
            <a:avLst/>
          </a:prstGeom>
          <a:noFill/>
          <a:ln/>
        </p:spPr>
        <p:txBody>
          <a:bodyPr wrap="square" lIns="0" tIns="0" rIns="0" bIns="0" rtlCol="0" anchor="ctr"/>
          <a:lstStyle/>
          <a:p>
            <a:pPr indent="0" marL="0">
              <a:buNone/>
            </a:pPr>
            <a:r>
              <a:rPr lang="en-US" sz="1200" b="1" spc="200" kern="0" dirty="0">
                <a:solidFill>
                  <a:srgbClr val="7C4DBE"/>
                </a:solidFill>
                <a:latin typeface="Calibri" pitchFamily="34" charset="0"/>
                <a:ea typeface="Calibri" pitchFamily="34" charset="-122"/>
                <a:cs typeface="Calibri" pitchFamily="34" charset="-120"/>
              </a:rPr>
              <a:t>TASK 1</a:t>
            </a:r>
            <a:endParaRPr lang="en-US" sz="1200" dirty="0"/>
          </a:p>
        </p:txBody>
      </p:sp>
      <p:sp>
        <p:nvSpPr>
          <p:cNvPr id="3" name="Text 1"/>
          <p:cNvSpPr/>
          <p:nvPr/>
        </p:nvSpPr>
        <p:spPr>
          <a:xfrm>
            <a:off x="548640" y="548640"/>
            <a:ext cx="8046720" cy="685800"/>
          </a:xfrm>
          <a:prstGeom prst="rect">
            <a:avLst/>
          </a:prstGeom>
          <a:noFill/>
          <a:ln/>
        </p:spPr>
        <p:txBody>
          <a:bodyPr wrap="square" lIns="0" tIns="0" rIns="0" bIns="0" rtlCol="0" anchor="ctr"/>
          <a:lstStyle/>
          <a:p>
            <a:pPr indent="0" marL="0">
              <a:buNone/>
            </a:pPr>
            <a:r>
              <a:rPr lang="en-US" sz="3000" b="1" dirty="0">
                <a:solidFill>
                  <a:srgbClr val="5B2D8E"/>
                </a:solidFill>
                <a:latin typeface="Calibri" pitchFamily="34" charset="0"/>
                <a:ea typeface="Calibri" pitchFamily="34" charset="-122"/>
                <a:cs typeface="Calibri" pitchFamily="34" charset="-120"/>
              </a:rPr>
              <a:t>Comparing Week 5 topologies</a:t>
            </a:r>
            <a:endParaRPr lang="en-US" sz="3000" dirty="0"/>
          </a:p>
        </p:txBody>
      </p:sp>
      <p:sp>
        <p:nvSpPr>
          <p:cNvPr id="4" name="Shape 2"/>
          <p:cNvSpPr/>
          <p:nvPr/>
        </p:nvSpPr>
        <p:spPr>
          <a:xfrm>
            <a:off x="8275320" y="384048"/>
            <a:ext cx="384048" cy="0"/>
          </a:xfrm>
          <a:prstGeom prst="line">
            <a:avLst/>
          </a:prstGeom>
          <a:noFill/>
          <a:ln w="12700">
            <a:solidFill>
              <a:srgbClr val="D9CBEF"/>
            </a:solidFill>
            <a:prstDash val="solid"/>
          </a:ln>
        </p:spPr>
      </p:sp>
      <p:sp>
        <p:nvSpPr>
          <p:cNvPr id="5" name="Shape 3"/>
          <p:cNvSpPr/>
          <p:nvPr/>
        </p:nvSpPr>
        <p:spPr>
          <a:xfrm>
            <a:off x="8275320" y="384048"/>
            <a:ext cx="0" cy="384048"/>
          </a:xfrm>
          <a:prstGeom prst="line">
            <a:avLst/>
          </a:prstGeom>
          <a:noFill/>
          <a:ln w="12700">
            <a:solidFill>
              <a:srgbClr val="D9CBEF"/>
            </a:solidFill>
            <a:prstDash val="solid"/>
          </a:ln>
        </p:spPr>
      </p:sp>
      <p:sp>
        <p:nvSpPr>
          <p:cNvPr id="6" name="Shape 4"/>
          <p:cNvSpPr/>
          <p:nvPr/>
        </p:nvSpPr>
        <p:spPr>
          <a:xfrm>
            <a:off x="8275320" y="576072"/>
            <a:ext cx="384048" cy="0"/>
          </a:xfrm>
          <a:prstGeom prst="line">
            <a:avLst/>
          </a:prstGeom>
          <a:noFill/>
          <a:ln w="12700">
            <a:solidFill>
              <a:srgbClr val="D9CBEF"/>
            </a:solidFill>
            <a:prstDash val="solid"/>
          </a:ln>
        </p:spPr>
      </p:sp>
      <p:sp>
        <p:nvSpPr>
          <p:cNvPr id="7" name="Shape 5"/>
          <p:cNvSpPr/>
          <p:nvPr/>
        </p:nvSpPr>
        <p:spPr>
          <a:xfrm>
            <a:off x="8467344" y="384048"/>
            <a:ext cx="0" cy="384048"/>
          </a:xfrm>
          <a:prstGeom prst="line">
            <a:avLst/>
          </a:prstGeom>
          <a:noFill/>
          <a:ln w="12700">
            <a:solidFill>
              <a:srgbClr val="D9CBEF"/>
            </a:solidFill>
            <a:prstDash val="solid"/>
          </a:ln>
        </p:spPr>
      </p:sp>
      <p:sp>
        <p:nvSpPr>
          <p:cNvPr id="8" name="Shape 6"/>
          <p:cNvSpPr/>
          <p:nvPr/>
        </p:nvSpPr>
        <p:spPr>
          <a:xfrm>
            <a:off x="8275320" y="768096"/>
            <a:ext cx="384048" cy="0"/>
          </a:xfrm>
          <a:prstGeom prst="line">
            <a:avLst/>
          </a:prstGeom>
          <a:noFill/>
          <a:ln w="12700">
            <a:solidFill>
              <a:srgbClr val="D9CBEF"/>
            </a:solidFill>
            <a:prstDash val="solid"/>
          </a:ln>
        </p:spPr>
      </p:sp>
      <p:sp>
        <p:nvSpPr>
          <p:cNvPr id="9" name="Shape 7"/>
          <p:cNvSpPr/>
          <p:nvPr/>
        </p:nvSpPr>
        <p:spPr>
          <a:xfrm>
            <a:off x="8659368" y="384048"/>
            <a:ext cx="0" cy="384048"/>
          </a:xfrm>
          <a:prstGeom prst="line">
            <a:avLst/>
          </a:prstGeom>
          <a:noFill/>
          <a:ln w="12700">
            <a:solidFill>
              <a:srgbClr val="D9CBEF"/>
            </a:solidFill>
            <a:prstDash val="solid"/>
          </a:ln>
        </p:spPr>
      </p:sp>
      <p:sp>
        <p:nvSpPr>
          <p:cNvPr id="10" name="Shape 8"/>
          <p:cNvSpPr/>
          <p:nvPr/>
        </p:nvSpPr>
        <p:spPr>
          <a:xfrm>
            <a:off x="8234172" y="342900"/>
            <a:ext cx="82296" cy="82296"/>
          </a:xfrm>
          <a:prstGeom prst="ellipse">
            <a:avLst/>
          </a:prstGeom>
          <a:solidFill>
            <a:srgbClr val="7C4DBE"/>
          </a:solidFill>
          <a:ln/>
        </p:spPr>
      </p:sp>
      <p:sp>
        <p:nvSpPr>
          <p:cNvPr id="11" name="Shape 9"/>
          <p:cNvSpPr/>
          <p:nvPr/>
        </p:nvSpPr>
        <p:spPr>
          <a:xfrm>
            <a:off x="8234172" y="534924"/>
            <a:ext cx="82296" cy="82296"/>
          </a:xfrm>
          <a:prstGeom prst="ellipse">
            <a:avLst/>
          </a:prstGeom>
          <a:solidFill>
            <a:srgbClr val="7C4DBE"/>
          </a:solidFill>
          <a:ln/>
        </p:spPr>
      </p:sp>
      <p:sp>
        <p:nvSpPr>
          <p:cNvPr id="12" name="Shape 10"/>
          <p:cNvSpPr/>
          <p:nvPr/>
        </p:nvSpPr>
        <p:spPr>
          <a:xfrm>
            <a:off x="8234172" y="726948"/>
            <a:ext cx="82296" cy="82296"/>
          </a:xfrm>
          <a:prstGeom prst="ellipse">
            <a:avLst/>
          </a:prstGeom>
          <a:solidFill>
            <a:srgbClr val="7C4DBE"/>
          </a:solidFill>
          <a:ln/>
        </p:spPr>
      </p:sp>
      <p:sp>
        <p:nvSpPr>
          <p:cNvPr id="13" name="Shape 11"/>
          <p:cNvSpPr/>
          <p:nvPr/>
        </p:nvSpPr>
        <p:spPr>
          <a:xfrm>
            <a:off x="8426196" y="342900"/>
            <a:ext cx="82296" cy="82296"/>
          </a:xfrm>
          <a:prstGeom prst="ellipse">
            <a:avLst/>
          </a:prstGeom>
          <a:solidFill>
            <a:srgbClr val="7C4DBE"/>
          </a:solidFill>
          <a:ln/>
        </p:spPr>
      </p:sp>
      <p:sp>
        <p:nvSpPr>
          <p:cNvPr id="14" name="Shape 12"/>
          <p:cNvSpPr/>
          <p:nvPr/>
        </p:nvSpPr>
        <p:spPr>
          <a:xfrm>
            <a:off x="8426196" y="534924"/>
            <a:ext cx="82296" cy="82296"/>
          </a:xfrm>
          <a:prstGeom prst="ellipse">
            <a:avLst/>
          </a:prstGeom>
          <a:solidFill>
            <a:srgbClr val="5B2D8E"/>
          </a:solidFill>
          <a:ln/>
        </p:spPr>
      </p:sp>
      <p:sp>
        <p:nvSpPr>
          <p:cNvPr id="15" name="Shape 13"/>
          <p:cNvSpPr/>
          <p:nvPr/>
        </p:nvSpPr>
        <p:spPr>
          <a:xfrm>
            <a:off x="8426196" y="726948"/>
            <a:ext cx="82296" cy="82296"/>
          </a:xfrm>
          <a:prstGeom prst="ellipse">
            <a:avLst/>
          </a:prstGeom>
          <a:solidFill>
            <a:srgbClr val="7C4DBE"/>
          </a:solidFill>
          <a:ln/>
        </p:spPr>
      </p:sp>
      <p:sp>
        <p:nvSpPr>
          <p:cNvPr id="16" name="Shape 14"/>
          <p:cNvSpPr/>
          <p:nvPr/>
        </p:nvSpPr>
        <p:spPr>
          <a:xfrm>
            <a:off x="8618220" y="342900"/>
            <a:ext cx="82296" cy="82296"/>
          </a:xfrm>
          <a:prstGeom prst="ellipse">
            <a:avLst/>
          </a:prstGeom>
          <a:solidFill>
            <a:srgbClr val="7C4DBE"/>
          </a:solidFill>
          <a:ln/>
        </p:spPr>
      </p:sp>
      <p:sp>
        <p:nvSpPr>
          <p:cNvPr id="17" name="Shape 15"/>
          <p:cNvSpPr/>
          <p:nvPr/>
        </p:nvSpPr>
        <p:spPr>
          <a:xfrm>
            <a:off x="8618220" y="534924"/>
            <a:ext cx="82296" cy="82296"/>
          </a:xfrm>
          <a:prstGeom prst="ellipse">
            <a:avLst/>
          </a:prstGeom>
          <a:solidFill>
            <a:srgbClr val="7C4DBE"/>
          </a:solidFill>
          <a:ln/>
        </p:spPr>
      </p:sp>
      <p:sp>
        <p:nvSpPr>
          <p:cNvPr id="18" name="Shape 16"/>
          <p:cNvSpPr/>
          <p:nvPr/>
        </p:nvSpPr>
        <p:spPr>
          <a:xfrm>
            <a:off x="8618220" y="726948"/>
            <a:ext cx="82296" cy="82296"/>
          </a:xfrm>
          <a:prstGeom prst="ellipse">
            <a:avLst/>
          </a:prstGeom>
          <a:solidFill>
            <a:srgbClr val="7C4DBE"/>
          </a:solidFill>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8046720" cy="914400"/>
        </p:xfrm>
        <a:graphic>
          <a:graphicData uri="http://schemas.openxmlformats.org/drawingml/2006/table">
            <a:tbl>
              <a:tblPr/>
              <a:tblGrid>
                <a:gridCol w="1554480"/>
                <a:gridCol w="1371600"/>
                <a:gridCol w="2743200"/>
                <a:gridCol w="237744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Topology</a:t>
                      </a:r>
                      <a:endParaRPr lang="en-US" sz="120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5B2D8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Diameter</a:t>
                      </a:r>
                      <a:endParaRPr lang="en-US" sz="120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5B2D8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Fault tolerance</a:t>
                      </a:r>
                      <a:endParaRPr lang="en-US" sz="120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5B2D8E"/>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Scales?</a:t>
                      </a:r>
                      <a:endParaRPr lang="en-US" sz="120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5B2D8E"/>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Line</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 − 1</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None: one cut splits it</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Ring</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⌊n/2⌋</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Survives 1 cut</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Poorly</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Star</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Hub = single point of failure</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Hub bottleneck</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Binary tree</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 2 log₂ n</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None: any cut splits it</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No redundancy</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Fully connected</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Excellent</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n(n−1)/2 links: unrealistic</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2-D mesh</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 2(√n − 1)</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Redundant paths</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Yes: degree capped at 4</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FFFFFF"/>
                    </a:solidFill>
                  </a:tcPr>
                </a:tc>
              </a:tr>
              <a:tr h="292608">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Hypercube</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log₂ n</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Good</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c>
                  <a:txBody>
                    <a:bodyPr/>
                    <a:lstStyle/>
                    <a:p>
                      <a:pPr indent="0" marL="0">
                        <a:buNone/>
                      </a:pPr>
                      <a:r>
                        <a:rPr lang="en-US" sz="1150" dirty="0">
                          <a:solidFill>
                            <a:srgbClr val="2B2140"/>
                          </a:solidFill>
                          <a:latin typeface="Calibri" pitchFamily="34" charset="0"/>
                          <a:ea typeface="Calibri" pitchFamily="34" charset="-122"/>
                          <a:cs typeface="Calibri" pitchFamily="34" charset="-120"/>
                        </a:rPr>
                        <a:t>Needs n = 2^k</a:t>
                      </a:r>
                      <a:endParaRPr lang="en-US" sz="1150" dirty="0">
                        <a:latin typeface="Calibri" charset="0"/>
                        <a:ea typeface="Calibri" charset="0"/>
                        <a:cs typeface="Calibri" charset="0"/>
                      </a:endParaRPr>
                    </a:p>
                  </a:txBody>
                  <a:tcPr marL="36576" marR="36576" marT="36576" marB="36576" anchor="ctr">
                    <a:lnL w="6350" cap="flat" cmpd="sng" algn="ctr">
                      <a:solidFill>
                        <a:srgbClr val="D9CBEF"/>
                      </a:solidFill>
                      <a:prstDash val="solid"/>
                      <a:round/>
                      <a:headEnd type="none" w="med" len="med"/>
                      <a:tailEnd type="none" w="med" len="med"/>
                    </a:lnL>
                    <a:lnR w="6350" cap="flat" cmpd="sng" algn="ctr">
                      <a:solidFill>
                        <a:srgbClr val="D9CBEF"/>
                      </a:solidFill>
                      <a:prstDash val="solid"/>
                      <a:round/>
                      <a:headEnd type="none" w="med" len="med"/>
                      <a:tailEnd type="none" w="med" len="med"/>
                    </a:lnR>
                    <a:lnT w="6350" cap="flat" cmpd="sng" algn="ctr">
                      <a:solidFill>
                        <a:srgbClr val="D9CBEF"/>
                      </a:solidFill>
                      <a:prstDash val="solid"/>
                      <a:round/>
                      <a:headEnd type="none" w="med" len="med"/>
                      <a:tailEnd type="none" w="med" len="med"/>
                    </a:lnT>
                    <a:lnB w="6350" cap="flat" cmpd="sng" algn="ctr">
                      <a:solidFill>
                        <a:srgbClr val="D9CBEF"/>
                      </a:solidFill>
                      <a:prstDash val="solid"/>
                      <a:round/>
                      <a:headEnd type="none" w="med" len="med"/>
                      <a:tailEnd type="none" w="med" len="med"/>
                    </a:lnB>
                    <a:solidFill>
                      <a:srgbClr val="EFE9F8"/>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943600" cy="274320"/>
          </a:xfrm>
          <a:prstGeom prst="rect">
            <a:avLst/>
          </a:prstGeom>
          <a:noFill/>
          <a:ln/>
        </p:spPr>
        <p:txBody>
          <a:bodyPr wrap="square" lIns="0" tIns="0" rIns="0" bIns="0" rtlCol="0" anchor="ctr"/>
          <a:lstStyle/>
          <a:p>
            <a:pPr indent="0" marL="0">
              <a:buNone/>
            </a:pPr>
            <a:r>
              <a:rPr lang="en-US" sz="1200" b="1" spc="200" kern="0" dirty="0">
                <a:solidFill>
                  <a:srgbClr val="7C4DBE"/>
                </a:solidFill>
                <a:latin typeface="Calibri" pitchFamily="34" charset="0"/>
                <a:ea typeface="Calibri" pitchFamily="34" charset="-122"/>
                <a:cs typeface="Calibri" pitchFamily="34" charset="-120"/>
              </a:rPr>
              <a:t>TASK 1</a:t>
            </a:r>
            <a:endParaRPr lang="en-US" sz="1200" dirty="0"/>
          </a:p>
        </p:txBody>
      </p:sp>
      <p:sp>
        <p:nvSpPr>
          <p:cNvPr id="3" name="Text 1"/>
          <p:cNvSpPr/>
          <p:nvPr/>
        </p:nvSpPr>
        <p:spPr>
          <a:xfrm>
            <a:off x="548640" y="548640"/>
            <a:ext cx="8046720" cy="685800"/>
          </a:xfrm>
          <a:prstGeom prst="rect">
            <a:avLst/>
          </a:prstGeom>
          <a:noFill/>
          <a:ln/>
        </p:spPr>
        <p:txBody>
          <a:bodyPr wrap="square" lIns="0" tIns="0" rIns="0" bIns="0" rtlCol="0" anchor="ctr"/>
          <a:lstStyle/>
          <a:p>
            <a:pPr indent="0" marL="0">
              <a:buNone/>
            </a:pPr>
            <a:r>
              <a:rPr lang="en-US" sz="3000" b="1" dirty="0">
                <a:solidFill>
                  <a:srgbClr val="5B2D8E"/>
                </a:solidFill>
                <a:latin typeface="Calibri" pitchFamily="34" charset="0"/>
                <a:ea typeface="Calibri" pitchFamily="34" charset="-122"/>
                <a:cs typeface="Calibri" pitchFamily="34" charset="-120"/>
              </a:rPr>
              <a:t>Our choice: 2-D mesh + star overlay</a:t>
            </a:r>
            <a:endParaRPr lang="en-US" sz="3000" dirty="0"/>
          </a:p>
        </p:txBody>
      </p:sp>
      <p:sp>
        <p:nvSpPr>
          <p:cNvPr id="4" name="Shape 2"/>
          <p:cNvSpPr/>
          <p:nvPr/>
        </p:nvSpPr>
        <p:spPr>
          <a:xfrm>
            <a:off x="8275320" y="384048"/>
            <a:ext cx="384048" cy="0"/>
          </a:xfrm>
          <a:prstGeom prst="line">
            <a:avLst/>
          </a:prstGeom>
          <a:noFill/>
          <a:ln w="12700">
            <a:solidFill>
              <a:srgbClr val="D9CBEF"/>
            </a:solidFill>
            <a:prstDash val="solid"/>
          </a:ln>
        </p:spPr>
      </p:sp>
      <p:sp>
        <p:nvSpPr>
          <p:cNvPr id="5" name="Shape 3"/>
          <p:cNvSpPr/>
          <p:nvPr/>
        </p:nvSpPr>
        <p:spPr>
          <a:xfrm>
            <a:off x="8275320" y="384048"/>
            <a:ext cx="0" cy="384048"/>
          </a:xfrm>
          <a:prstGeom prst="line">
            <a:avLst/>
          </a:prstGeom>
          <a:noFill/>
          <a:ln w="12700">
            <a:solidFill>
              <a:srgbClr val="D9CBEF"/>
            </a:solidFill>
            <a:prstDash val="solid"/>
          </a:ln>
        </p:spPr>
      </p:sp>
      <p:sp>
        <p:nvSpPr>
          <p:cNvPr id="6" name="Shape 4"/>
          <p:cNvSpPr/>
          <p:nvPr/>
        </p:nvSpPr>
        <p:spPr>
          <a:xfrm>
            <a:off x="8275320" y="576072"/>
            <a:ext cx="384048" cy="0"/>
          </a:xfrm>
          <a:prstGeom prst="line">
            <a:avLst/>
          </a:prstGeom>
          <a:noFill/>
          <a:ln w="12700">
            <a:solidFill>
              <a:srgbClr val="D9CBEF"/>
            </a:solidFill>
            <a:prstDash val="solid"/>
          </a:ln>
        </p:spPr>
      </p:sp>
      <p:sp>
        <p:nvSpPr>
          <p:cNvPr id="7" name="Shape 5"/>
          <p:cNvSpPr/>
          <p:nvPr/>
        </p:nvSpPr>
        <p:spPr>
          <a:xfrm>
            <a:off x="8467344" y="384048"/>
            <a:ext cx="0" cy="384048"/>
          </a:xfrm>
          <a:prstGeom prst="line">
            <a:avLst/>
          </a:prstGeom>
          <a:noFill/>
          <a:ln w="12700">
            <a:solidFill>
              <a:srgbClr val="D9CBEF"/>
            </a:solidFill>
            <a:prstDash val="solid"/>
          </a:ln>
        </p:spPr>
      </p:sp>
      <p:sp>
        <p:nvSpPr>
          <p:cNvPr id="8" name="Shape 6"/>
          <p:cNvSpPr/>
          <p:nvPr/>
        </p:nvSpPr>
        <p:spPr>
          <a:xfrm>
            <a:off x="8275320" y="768096"/>
            <a:ext cx="384048" cy="0"/>
          </a:xfrm>
          <a:prstGeom prst="line">
            <a:avLst/>
          </a:prstGeom>
          <a:noFill/>
          <a:ln w="12700">
            <a:solidFill>
              <a:srgbClr val="D9CBEF"/>
            </a:solidFill>
            <a:prstDash val="solid"/>
          </a:ln>
        </p:spPr>
      </p:sp>
      <p:sp>
        <p:nvSpPr>
          <p:cNvPr id="9" name="Shape 7"/>
          <p:cNvSpPr/>
          <p:nvPr/>
        </p:nvSpPr>
        <p:spPr>
          <a:xfrm>
            <a:off x="8659368" y="384048"/>
            <a:ext cx="0" cy="384048"/>
          </a:xfrm>
          <a:prstGeom prst="line">
            <a:avLst/>
          </a:prstGeom>
          <a:noFill/>
          <a:ln w="12700">
            <a:solidFill>
              <a:srgbClr val="D9CBEF"/>
            </a:solidFill>
            <a:prstDash val="solid"/>
          </a:ln>
        </p:spPr>
      </p:sp>
      <p:sp>
        <p:nvSpPr>
          <p:cNvPr id="10" name="Shape 8"/>
          <p:cNvSpPr/>
          <p:nvPr/>
        </p:nvSpPr>
        <p:spPr>
          <a:xfrm>
            <a:off x="8234172" y="342900"/>
            <a:ext cx="82296" cy="82296"/>
          </a:xfrm>
          <a:prstGeom prst="ellipse">
            <a:avLst/>
          </a:prstGeom>
          <a:solidFill>
            <a:srgbClr val="7C4DBE"/>
          </a:solidFill>
          <a:ln/>
        </p:spPr>
      </p:sp>
      <p:sp>
        <p:nvSpPr>
          <p:cNvPr id="11" name="Shape 9"/>
          <p:cNvSpPr/>
          <p:nvPr/>
        </p:nvSpPr>
        <p:spPr>
          <a:xfrm>
            <a:off x="8234172" y="534924"/>
            <a:ext cx="82296" cy="82296"/>
          </a:xfrm>
          <a:prstGeom prst="ellipse">
            <a:avLst/>
          </a:prstGeom>
          <a:solidFill>
            <a:srgbClr val="7C4DBE"/>
          </a:solidFill>
          <a:ln/>
        </p:spPr>
      </p:sp>
      <p:sp>
        <p:nvSpPr>
          <p:cNvPr id="12" name="Shape 10"/>
          <p:cNvSpPr/>
          <p:nvPr/>
        </p:nvSpPr>
        <p:spPr>
          <a:xfrm>
            <a:off x="8234172" y="726948"/>
            <a:ext cx="82296" cy="82296"/>
          </a:xfrm>
          <a:prstGeom prst="ellipse">
            <a:avLst/>
          </a:prstGeom>
          <a:solidFill>
            <a:srgbClr val="7C4DBE"/>
          </a:solidFill>
          <a:ln/>
        </p:spPr>
      </p:sp>
      <p:sp>
        <p:nvSpPr>
          <p:cNvPr id="13" name="Shape 11"/>
          <p:cNvSpPr/>
          <p:nvPr/>
        </p:nvSpPr>
        <p:spPr>
          <a:xfrm>
            <a:off x="8426196" y="342900"/>
            <a:ext cx="82296" cy="82296"/>
          </a:xfrm>
          <a:prstGeom prst="ellipse">
            <a:avLst/>
          </a:prstGeom>
          <a:solidFill>
            <a:srgbClr val="7C4DBE"/>
          </a:solidFill>
          <a:ln/>
        </p:spPr>
      </p:sp>
      <p:sp>
        <p:nvSpPr>
          <p:cNvPr id="14" name="Shape 12"/>
          <p:cNvSpPr/>
          <p:nvPr/>
        </p:nvSpPr>
        <p:spPr>
          <a:xfrm>
            <a:off x="8426196" y="534924"/>
            <a:ext cx="82296" cy="82296"/>
          </a:xfrm>
          <a:prstGeom prst="ellipse">
            <a:avLst/>
          </a:prstGeom>
          <a:solidFill>
            <a:srgbClr val="5B2D8E"/>
          </a:solidFill>
          <a:ln/>
        </p:spPr>
      </p:sp>
      <p:sp>
        <p:nvSpPr>
          <p:cNvPr id="15" name="Shape 13"/>
          <p:cNvSpPr/>
          <p:nvPr/>
        </p:nvSpPr>
        <p:spPr>
          <a:xfrm>
            <a:off x="8426196" y="726948"/>
            <a:ext cx="82296" cy="82296"/>
          </a:xfrm>
          <a:prstGeom prst="ellipse">
            <a:avLst/>
          </a:prstGeom>
          <a:solidFill>
            <a:srgbClr val="7C4DBE"/>
          </a:solidFill>
          <a:ln/>
        </p:spPr>
      </p:sp>
      <p:sp>
        <p:nvSpPr>
          <p:cNvPr id="16" name="Shape 14"/>
          <p:cNvSpPr/>
          <p:nvPr/>
        </p:nvSpPr>
        <p:spPr>
          <a:xfrm>
            <a:off x="8618220" y="342900"/>
            <a:ext cx="82296" cy="82296"/>
          </a:xfrm>
          <a:prstGeom prst="ellipse">
            <a:avLst/>
          </a:prstGeom>
          <a:solidFill>
            <a:srgbClr val="7C4DBE"/>
          </a:solidFill>
          <a:ln/>
        </p:spPr>
      </p:sp>
      <p:sp>
        <p:nvSpPr>
          <p:cNvPr id="17" name="Shape 15"/>
          <p:cNvSpPr/>
          <p:nvPr/>
        </p:nvSpPr>
        <p:spPr>
          <a:xfrm>
            <a:off x="8618220" y="534924"/>
            <a:ext cx="82296" cy="82296"/>
          </a:xfrm>
          <a:prstGeom prst="ellipse">
            <a:avLst/>
          </a:prstGeom>
          <a:solidFill>
            <a:srgbClr val="7C4DBE"/>
          </a:solidFill>
          <a:ln/>
        </p:spPr>
      </p:sp>
      <p:sp>
        <p:nvSpPr>
          <p:cNvPr id="18" name="Shape 16"/>
          <p:cNvSpPr/>
          <p:nvPr/>
        </p:nvSpPr>
        <p:spPr>
          <a:xfrm>
            <a:off x="8618220" y="726948"/>
            <a:ext cx="82296" cy="82296"/>
          </a:xfrm>
          <a:prstGeom prst="ellipse">
            <a:avLst/>
          </a:prstGeom>
          <a:solidFill>
            <a:srgbClr val="7C4DBE"/>
          </a:solidFill>
          <a:ln/>
        </p:spPr>
      </p:sp>
      <p:sp>
        <p:nvSpPr>
          <p:cNvPr id="19" name="Text 17"/>
          <p:cNvSpPr/>
          <p:nvPr/>
        </p:nvSpPr>
        <p:spPr>
          <a:xfrm>
            <a:off x="548640" y="1645920"/>
            <a:ext cx="5120640" cy="3108960"/>
          </a:xfrm>
          <a:prstGeom prst="rect">
            <a:avLst/>
          </a:prstGeom>
          <a:noFill/>
          <a:ln/>
        </p:spPr>
        <p:txBody>
          <a:bodyPr wrap="square" lIns="0" tIns="0" rIns="0" bIns="0" rtlCol="0" anchor="t"/>
          <a:lstStyle/>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Spec = Cartesian grid, neighbours-only radio range</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Mesh: redundant paths, degree capped at 4</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Star overlay: every node reaches the base station</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Realistic for a wireless sensor network</a:t>
            </a:r>
            <a:endParaRPr lang="en-US" sz="1800" dirty="0"/>
          </a:p>
        </p:txBody>
      </p:sp>
      <p:sp>
        <p:nvSpPr>
          <p:cNvPr id="20" name="Shape 18"/>
          <p:cNvSpPr/>
          <p:nvPr/>
        </p:nvSpPr>
        <p:spPr>
          <a:xfrm>
            <a:off x="6400800" y="1828800"/>
            <a:ext cx="1645920" cy="0"/>
          </a:xfrm>
          <a:prstGeom prst="line">
            <a:avLst/>
          </a:prstGeom>
          <a:noFill/>
          <a:ln w="12700">
            <a:solidFill>
              <a:srgbClr val="D9CBEF"/>
            </a:solidFill>
            <a:prstDash val="solid"/>
          </a:ln>
        </p:spPr>
      </p:sp>
      <p:sp>
        <p:nvSpPr>
          <p:cNvPr id="21" name="Shape 19"/>
          <p:cNvSpPr/>
          <p:nvPr/>
        </p:nvSpPr>
        <p:spPr>
          <a:xfrm>
            <a:off x="6400800" y="1828800"/>
            <a:ext cx="0" cy="1645920"/>
          </a:xfrm>
          <a:prstGeom prst="line">
            <a:avLst/>
          </a:prstGeom>
          <a:noFill/>
          <a:ln w="12700">
            <a:solidFill>
              <a:srgbClr val="D9CBEF"/>
            </a:solidFill>
            <a:prstDash val="solid"/>
          </a:ln>
        </p:spPr>
      </p:sp>
      <p:sp>
        <p:nvSpPr>
          <p:cNvPr id="22" name="Shape 20"/>
          <p:cNvSpPr/>
          <p:nvPr/>
        </p:nvSpPr>
        <p:spPr>
          <a:xfrm>
            <a:off x="6400800" y="2651760"/>
            <a:ext cx="1645920" cy="0"/>
          </a:xfrm>
          <a:prstGeom prst="line">
            <a:avLst/>
          </a:prstGeom>
          <a:noFill/>
          <a:ln w="12700">
            <a:solidFill>
              <a:srgbClr val="D9CBEF"/>
            </a:solidFill>
            <a:prstDash val="solid"/>
          </a:ln>
        </p:spPr>
      </p:sp>
      <p:sp>
        <p:nvSpPr>
          <p:cNvPr id="23" name="Shape 21"/>
          <p:cNvSpPr/>
          <p:nvPr/>
        </p:nvSpPr>
        <p:spPr>
          <a:xfrm>
            <a:off x="7223760" y="1828800"/>
            <a:ext cx="0" cy="1645920"/>
          </a:xfrm>
          <a:prstGeom prst="line">
            <a:avLst/>
          </a:prstGeom>
          <a:noFill/>
          <a:ln w="12700">
            <a:solidFill>
              <a:srgbClr val="D9CBEF"/>
            </a:solidFill>
            <a:prstDash val="solid"/>
          </a:ln>
        </p:spPr>
      </p:sp>
      <p:sp>
        <p:nvSpPr>
          <p:cNvPr id="24" name="Shape 22"/>
          <p:cNvSpPr/>
          <p:nvPr/>
        </p:nvSpPr>
        <p:spPr>
          <a:xfrm>
            <a:off x="6400800" y="3474720"/>
            <a:ext cx="1645920" cy="0"/>
          </a:xfrm>
          <a:prstGeom prst="line">
            <a:avLst/>
          </a:prstGeom>
          <a:noFill/>
          <a:ln w="12700">
            <a:solidFill>
              <a:srgbClr val="D9CBEF"/>
            </a:solidFill>
            <a:prstDash val="solid"/>
          </a:ln>
        </p:spPr>
      </p:sp>
      <p:sp>
        <p:nvSpPr>
          <p:cNvPr id="25" name="Shape 23"/>
          <p:cNvSpPr/>
          <p:nvPr/>
        </p:nvSpPr>
        <p:spPr>
          <a:xfrm>
            <a:off x="8046720" y="1828800"/>
            <a:ext cx="0" cy="1645920"/>
          </a:xfrm>
          <a:prstGeom prst="line">
            <a:avLst/>
          </a:prstGeom>
          <a:noFill/>
          <a:ln w="12700">
            <a:solidFill>
              <a:srgbClr val="D9CBEF"/>
            </a:solidFill>
            <a:prstDash val="solid"/>
          </a:ln>
        </p:spPr>
      </p:sp>
      <p:sp>
        <p:nvSpPr>
          <p:cNvPr id="26" name="Shape 24"/>
          <p:cNvSpPr/>
          <p:nvPr/>
        </p:nvSpPr>
        <p:spPr>
          <a:xfrm>
            <a:off x="6359652" y="1787652"/>
            <a:ext cx="82296" cy="82296"/>
          </a:xfrm>
          <a:prstGeom prst="ellipse">
            <a:avLst/>
          </a:prstGeom>
          <a:solidFill>
            <a:srgbClr val="7C4DBE"/>
          </a:solidFill>
          <a:ln/>
        </p:spPr>
      </p:sp>
      <p:sp>
        <p:nvSpPr>
          <p:cNvPr id="27" name="Shape 25"/>
          <p:cNvSpPr/>
          <p:nvPr/>
        </p:nvSpPr>
        <p:spPr>
          <a:xfrm>
            <a:off x="6359652" y="2610612"/>
            <a:ext cx="82296" cy="82296"/>
          </a:xfrm>
          <a:prstGeom prst="ellipse">
            <a:avLst/>
          </a:prstGeom>
          <a:solidFill>
            <a:srgbClr val="7C4DBE"/>
          </a:solidFill>
          <a:ln/>
        </p:spPr>
      </p:sp>
      <p:sp>
        <p:nvSpPr>
          <p:cNvPr id="28" name="Shape 26"/>
          <p:cNvSpPr/>
          <p:nvPr/>
        </p:nvSpPr>
        <p:spPr>
          <a:xfrm>
            <a:off x="6359652" y="3433572"/>
            <a:ext cx="82296" cy="82296"/>
          </a:xfrm>
          <a:prstGeom prst="ellipse">
            <a:avLst/>
          </a:prstGeom>
          <a:solidFill>
            <a:srgbClr val="7C4DBE"/>
          </a:solidFill>
          <a:ln/>
        </p:spPr>
      </p:sp>
      <p:sp>
        <p:nvSpPr>
          <p:cNvPr id="29" name="Shape 27"/>
          <p:cNvSpPr/>
          <p:nvPr/>
        </p:nvSpPr>
        <p:spPr>
          <a:xfrm>
            <a:off x="7182612" y="1787652"/>
            <a:ext cx="82296" cy="82296"/>
          </a:xfrm>
          <a:prstGeom prst="ellipse">
            <a:avLst/>
          </a:prstGeom>
          <a:solidFill>
            <a:srgbClr val="7C4DBE"/>
          </a:solidFill>
          <a:ln/>
        </p:spPr>
      </p:sp>
      <p:sp>
        <p:nvSpPr>
          <p:cNvPr id="30" name="Shape 28"/>
          <p:cNvSpPr/>
          <p:nvPr/>
        </p:nvSpPr>
        <p:spPr>
          <a:xfrm>
            <a:off x="7182612" y="2610612"/>
            <a:ext cx="82296" cy="82296"/>
          </a:xfrm>
          <a:prstGeom prst="ellipse">
            <a:avLst/>
          </a:prstGeom>
          <a:solidFill>
            <a:srgbClr val="5B2D8E"/>
          </a:solidFill>
          <a:ln/>
        </p:spPr>
      </p:sp>
      <p:sp>
        <p:nvSpPr>
          <p:cNvPr id="31" name="Shape 29"/>
          <p:cNvSpPr/>
          <p:nvPr/>
        </p:nvSpPr>
        <p:spPr>
          <a:xfrm>
            <a:off x="7182612" y="3433572"/>
            <a:ext cx="82296" cy="82296"/>
          </a:xfrm>
          <a:prstGeom prst="ellipse">
            <a:avLst/>
          </a:prstGeom>
          <a:solidFill>
            <a:srgbClr val="7C4DBE"/>
          </a:solidFill>
          <a:ln/>
        </p:spPr>
      </p:sp>
      <p:sp>
        <p:nvSpPr>
          <p:cNvPr id="32" name="Shape 30"/>
          <p:cNvSpPr/>
          <p:nvPr/>
        </p:nvSpPr>
        <p:spPr>
          <a:xfrm>
            <a:off x="8005572" y="1787652"/>
            <a:ext cx="82296" cy="82296"/>
          </a:xfrm>
          <a:prstGeom prst="ellipse">
            <a:avLst/>
          </a:prstGeom>
          <a:solidFill>
            <a:srgbClr val="7C4DBE"/>
          </a:solidFill>
          <a:ln/>
        </p:spPr>
      </p:sp>
      <p:sp>
        <p:nvSpPr>
          <p:cNvPr id="33" name="Shape 31"/>
          <p:cNvSpPr/>
          <p:nvPr/>
        </p:nvSpPr>
        <p:spPr>
          <a:xfrm>
            <a:off x="8005572" y="2610612"/>
            <a:ext cx="82296" cy="82296"/>
          </a:xfrm>
          <a:prstGeom prst="ellipse">
            <a:avLst/>
          </a:prstGeom>
          <a:solidFill>
            <a:srgbClr val="7C4DBE"/>
          </a:solidFill>
          <a:ln/>
        </p:spPr>
      </p:sp>
      <p:sp>
        <p:nvSpPr>
          <p:cNvPr id="34" name="Shape 32"/>
          <p:cNvSpPr/>
          <p:nvPr/>
        </p:nvSpPr>
        <p:spPr>
          <a:xfrm>
            <a:off x="8005572" y="3433572"/>
            <a:ext cx="82296" cy="82296"/>
          </a:xfrm>
          <a:prstGeom prst="ellipse">
            <a:avLst/>
          </a:prstGeom>
          <a:solidFill>
            <a:srgbClr val="7C4DBE"/>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943600" cy="274320"/>
          </a:xfrm>
          <a:prstGeom prst="rect">
            <a:avLst/>
          </a:prstGeom>
          <a:noFill/>
          <a:ln/>
        </p:spPr>
        <p:txBody>
          <a:bodyPr wrap="square" lIns="0" tIns="0" rIns="0" bIns="0" rtlCol="0" anchor="ctr"/>
          <a:lstStyle/>
          <a:p>
            <a:pPr indent="0" marL="0">
              <a:buNone/>
            </a:pPr>
            <a:r>
              <a:rPr lang="en-US" sz="1200" b="1" spc="200" kern="0" dirty="0">
                <a:solidFill>
                  <a:srgbClr val="7C4DBE"/>
                </a:solidFill>
                <a:latin typeface="Calibri" pitchFamily="34" charset="0"/>
                <a:ea typeface="Calibri" pitchFamily="34" charset="-122"/>
                <a:cs typeface="Calibri" pitchFamily="34" charset="-120"/>
              </a:rPr>
              <a:t>TASK 2</a:t>
            </a:r>
            <a:endParaRPr lang="en-US" sz="1200" dirty="0"/>
          </a:p>
        </p:txBody>
      </p:sp>
      <p:sp>
        <p:nvSpPr>
          <p:cNvPr id="3" name="Text 1"/>
          <p:cNvSpPr/>
          <p:nvPr/>
        </p:nvSpPr>
        <p:spPr>
          <a:xfrm>
            <a:off x="548640" y="548640"/>
            <a:ext cx="8046720" cy="685800"/>
          </a:xfrm>
          <a:prstGeom prst="rect">
            <a:avLst/>
          </a:prstGeom>
          <a:noFill/>
          <a:ln/>
        </p:spPr>
        <p:txBody>
          <a:bodyPr wrap="square" lIns="0" tIns="0" rIns="0" bIns="0" rtlCol="0" anchor="ctr"/>
          <a:lstStyle/>
          <a:p>
            <a:pPr indent="0" marL="0">
              <a:buNone/>
            </a:pPr>
            <a:r>
              <a:rPr lang="en-US" sz="3000" b="1" dirty="0">
                <a:solidFill>
                  <a:srgbClr val="5B2D8E"/>
                </a:solidFill>
                <a:latin typeface="Calibri" pitchFamily="34" charset="0"/>
                <a:ea typeface="Calibri" pitchFamily="34" charset="-122"/>
                <a:cs typeface="Calibri" pitchFamily="34" charset="-120"/>
              </a:rPr>
              <a:t>MPI architecture</a:t>
            </a:r>
            <a:endParaRPr lang="en-US" sz="3000" dirty="0"/>
          </a:p>
        </p:txBody>
      </p:sp>
      <p:sp>
        <p:nvSpPr>
          <p:cNvPr id="4" name="Shape 2"/>
          <p:cNvSpPr/>
          <p:nvPr/>
        </p:nvSpPr>
        <p:spPr>
          <a:xfrm>
            <a:off x="8275320" y="384048"/>
            <a:ext cx="384048" cy="0"/>
          </a:xfrm>
          <a:prstGeom prst="line">
            <a:avLst/>
          </a:prstGeom>
          <a:noFill/>
          <a:ln w="12700">
            <a:solidFill>
              <a:srgbClr val="D9CBEF"/>
            </a:solidFill>
            <a:prstDash val="solid"/>
          </a:ln>
        </p:spPr>
      </p:sp>
      <p:sp>
        <p:nvSpPr>
          <p:cNvPr id="5" name="Shape 3"/>
          <p:cNvSpPr/>
          <p:nvPr/>
        </p:nvSpPr>
        <p:spPr>
          <a:xfrm>
            <a:off x="8275320" y="384048"/>
            <a:ext cx="0" cy="384048"/>
          </a:xfrm>
          <a:prstGeom prst="line">
            <a:avLst/>
          </a:prstGeom>
          <a:noFill/>
          <a:ln w="12700">
            <a:solidFill>
              <a:srgbClr val="D9CBEF"/>
            </a:solidFill>
            <a:prstDash val="solid"/>
          </a:ln>
        </p:spPr>
      </p:sp>
      <p:sp>
        <p:nvSpPr>
          <p:cNvPr id="6" name="Shape 4"/>
          <p:cNvSpPr/>
          <p:nvPr/>
        </p:nvSpPr>
        <p:spPr>
          <a:xfrm>
            <a:off x="8275320" y="576072"/>
            <a:ext cx="384048" cy="0"/>
          </a:xfrm>
          <a:prstGeom prst="line">
            <a:avLst/>
          </a:prstGeom>
          <a:noFill/>
          <a:ln w="12700">
            <a:solidFill>
              <a:srgbClr val="D9CBEF"/>
            </a:solidFill>
            <a:prstDash val="solid"/>
          </a:ln>
        </p:spPr>
      </p:sp>
      <p:sp>
        <p:nvSpPr>
          <p:cNvPr id="7" name="Shape 5"/>
          <p:cNvSpPr/>
          <p:nvPr/>
        </p:nvSpPr>
        <p:spPr>
          <a:xfrm>
            <a:off x="8467344" y="384048"/>
            <a:ext cx="0" cy="384048"/>
          </a:xfrm>
          <a:prstGeom prst="line">
            <a:avLst/>
          </a:prstGeom>
          <a:noFill/>
          <a:ln w="12700">
            <a:solidFill>
              <a:srgbClr val="D9CBEF"/>
            </a:solidFill>
            <a:prstDash val="solid"/>
          </a:ln>
        </p:spPr>
      </p:sp>
      <p:sp>
        <p:nvSpPr>
          <p:cNvPr id="8" name="Shape 6"/>
          <p:cNvSpPr/>
          <p:nvPr/>
        </p:nvSpPr>
        <p:spPr>
          <a:xfrm>
            <a:off x="8275320" y="768096"/>
            <a:ext cx="384048" cy="0"/>
          </a:xfrm>
          <a:prstGeom prst="line">
            <a:avLst/>
          </a:prstGeom>
          <a:noFill/>
          <a:ln w="12700">
            <a:solidFill>
              <a:srgbClr val="D9CBEF"/>
            </a:solidFill>
            <a:prstDash val="solid"/>
          </a:ln>
        </p:spPr>
      </p:sp>
      <p:sp>
        <p:nvSpPr>
          <p:cNvPr id="9" name="Shape 7"/>
          <p:cNvSpPr/>
          <p:nvPr/>
        </p:nvSpPr>
        <p:spPr>
          <a:xfrm>
            <a:off x="8659368" y="384048"/>
            <a:ext cx="0" cy="384048"/>
          </a:xfrm>
          <a:prstGeom prst="line">
            <a:avLst/>
          </a:prstGeom>
          <a:noFill/>
          <a:ln w="12700">
            <a:solidFill>
              <a:srgbClr val="D9CBEF"/>
            </a:solidFill>
            <a:prstDash val="solid"/>
          </a:ln>
        </p:spPr>
      </p:sp>
      <p:sp>
        <p:nvSpPr>
          <p:cNvPr id="10" name="Shape 8"/>
          <p:cNvSpPr/>
          <p:nvPr/>
        </p:nvSpPr>
        <p:spPr>
          <a:xfrm>
            <a:off x="8234172" y="342900"/>
            <a:ext cx="82296" cy="82296"/>
          </a:xfrm>
          <a:prstGeom prst="ellipse">
            <a:avLst/>
          </a:prstGeom>
          <a:solidFill>
            <a:srgbClr val="7C4DBE"/>
          </a:solidFill>
          <a:ln/>
        </p:spPr>
      </p:sp>
      <p:sp>
        <p:nvSpPr>
          <p:cNvPr id="11" name="Shape 9"/>
          <p:cNvSpPr/>
          <p:nvPr/>
        </p:nvSpPr>
        <p:spPr>
          <a:xfrm>
            <a:off x="8234172" y="534924"/>
            <a:ext cx="82296" cy="82296"/>
          </a:xfrm>
          <a:prstGeom prst="ellipse">
            <a:avLst/>
          </a:prstGeom>
          <a:solidFill>
            <a:srgbClr val="7C4DBE"/>
          </a:solidFill>
          <a:ln/>
        </p:spPr>
      </p:sp>
      <p:sp>
        <p:nvSpPr>
          <p:cNvPr id="12" name="Shape 10"/>
          <p:cNvSpPr/>
          <p:nvPr/>
        </p:nvSpPr>
        <p:spPr>
          <a:xfrm>
            <a:off x="8234172" y="726948"/>
            <a:ext cx="82296" cy="82296"/>
          </a:xfrm>
          <a:prstGeom prst="ellipse">
            <a:avLst/>
          </a:prstGeom>
          <a:solidFill>
            <a:srgbClr val="7C4DBE"/>
          </a:solidFill>
          <a:ln/>
        </p:spPr>
      </p:sp>
      <p:sp>
        <p:nvSpPr>
          <p:cNvPr id="13" name="Shape 11"/>
          <p:cNvSpPr/>
          <p:nvPr/>
        </p:nvSpPr>
        <p:spPr>
          <a:xfrm>
            <a:off x="8426196" y="342900"/>
            <a:ext cx="82296" cy="82296"/>
          </a:xfrm>
          <a:prstGeom prst="ellipse">
            <a:avLst/>
          </a:prstGeom>
          <a:solidFill>
            <a:srgbClr val="7C4DBE"/>
          </a:solidFill>
          <a:ln/>
        </p:spPr>
      </p:sp>
      <p:sp>
        <p:nvSpPr>
          <p:cNvPr id="14" name="Shape 12"/>
          <p:cNvSpPr/>
          <p:nvPr/>
        </p:nvSpPr>
        <p:spPr>
          <a:xfrm>
            <a:off x="8426196" y="534924"/>
            <a:ext cx="82296" cy="82296"/>
          </a:xfrm>
          <a:prstGeom prst="ellipse">
            <a:avLst/>
          </a:prstGeom>
          <a:solidFill>
            <a:srgbClr val="5B2D8E"/>
          </a:solidFill>
          <a:ln/>
        </p:spPr>
      </p:sp>
      <p:sp>
        <p:nvSpPr>
          <p:cNvPr id="15" name="Shape 13"/>
          <p:cNvSpPr/>
          <p:nvPr/>
        </p:nvSpPr>
        <p:spPr>
          <a:xfrm>
            <a:off x="8426196" y="726948"/>
            <a:ext cx="82296" cy="82296"/>
          </a:xfrm>
          <a:prstGeom prst="ellipse">
            <a:avLst/>
          </a:prstGeom>
          <a:solidFill>
            <a:srgbClr val="7C4DBE"/>
          </a:solidFill>
          <a:ln/>
        </p:spPr>
      </p:sp>
      <p:sp>
        <p:nvSpPr>
          <p:cNvPr id="16" name="Shape 14"/>
          <p:cNvSpPr/>
          <p:nvPr/>
        </p:nvSpPr>
        <p:spPr>
          <a:xfrm>
            <a:off x="8618220" y="342900"/>
            <a:ext cx="82296" cy="82296"/>
          </a:xfrm>
          <a:prstGeom prst="ellipse">
            <a:avLst/>
          </a:prstGeom>
          <a:solidFill>
            <a:srgbClr val="7C4DBE"/>
          </a:solidFill>
          <a:ln/>
        </p:spPr>
      </p:sp>
      <p:sp>
        <p:nvSpPr>
          <p:cNvPr id="17" name="Shape 15"/>
          <p:cNvSpPr/>
          <p:nvPr/>
        </p:nvSpPr>
        <p:spPr>
          <a:xfrm>
            <a:off x="8618220" y="534924"/>
            <a:ext cx="82296" cy="82296"/>
          </a:xfrm>
          <a:prstGeom prst="ellipse">
            <a:avLst/>
          </a:prstGeom>
          <a:solidFill>
            <a:srgbClr val="7C4DBE"/>
          </a:solidFill>
          <a:ln/>
        </p:spPr>
      </p:sp>
      <p:sp>
        <p:nvSpPr>
          <p:cNvPr id="18" name="Shape 16"/>
          <p:cNvSpPr/>
          <p:nvPr/>
        </p:nvSpPr>
        <p:spPr>
          <a:xfrm>
            <a:off x="8618220" y="726948"/>
            <a:ext cx="82296" cy="82296"/>
          </a:xfrm>
          <a:prstGeom prst="ellipse">
            <a:avLst/>
          </a:prstGeom>
          <a:solidFill>
            <a:srgbClr val="7C4DBE"/>
          </a:solidFill>
          <a:ln/>
        </p:spPr>
      </p:sp>
      <p:sp>
        <p:nvSpPr>
          <p:cNvPr id="19" name="Text 17"/>
          <p:cNvSpPr/>
          <p:nvPr/>
        </p:nvSpPr>
        <p:spPr>
          <a:xfrm>
            <a:off x="548640" y="1508760"/>
            <a:ext cx="4206240" cy="3108960"/>
          </a:xfrm>
          <a:prstGeom prst="rect">
            <a:avLst/>
          </a:prstGeom>
          <a:noFill/>
          <a:ln/>
        </p:spPr>
        <p:txBody>
          <a:bodyPr wrap="square" lIns="0" tIns="0" rIns="0" bIns="0" rtlCol="0" anchor="t"/>
          <a:lstStyle/>
          <a:p>
            <a:pPr marL="152400" indent="-152400">
              <a:spcAft>
                <a:spcPts val="1000"/>
              </a:spcAft>
              <a:buSzPct val="100000"/>
              <a:buChar char="•"/>
            </a:pPr>
            <a:r>
              <a:rPr lang="en-US" sz="1500" dirty="0">
                <a:solidFill>
                  <a:srgbClr val="2B2140"/>
                </a:solidFill>
                <a:latin typeface="Calibri" pitchFamily="34" charset="0"/>
                <a:ea typeface="Calibri" pitchFamily="34" charset="-122"/>
                <a:cs typeface="Calibri" pitchFamily="34" charset="-120"/>
              </a:rPr>
              <a:t>1 charging node = 1 MPI process (MPI_Cart_create grid)</a:t>
            </a:r>
            <a:endParaRPr lang="en-US" sz="1500" dirty="0"/>
          </a:p>
          <a:p>
            <a:pPr marL="152400" indent="-152400">
              <a:spcAft>
                <a:spcPts val="1000"/>
              </a:spcAft>
              <a:buSzPct val="100000"/>
              <a:buChar char="•"/>
            </a:pPr>
            <a:r>
              <a:rPr lang="en-US" sz="1500" dirty="0">
                <a:solidFill>
                  <a:srgbClr val="2B2140"/>
                </a:solidFill>
                <a:latin typeface="Calibri" pitchFamily="34" charset="0"/>
                <a:ea typeface="Calibri" pitchFamily="34" charset="-122"/>
                <a:cs typeface="Calibri" pitchFamily="34" charset="-120"/>
              </a:rPr>
              <a:t>Neighbours via MPI_Cart_shift</a:t>
            </a:r>
            <a:endParaRPr lang="en-US" sz="1500" dirty="0"/>
          </a:p>
          <a:p>
            <a:pPr marL="152400" indent="-152400">
              <a:spcAft>
                <a:spcPts val="1000"/>
              </a:spcAft>
              <a:buSzPct val="100000"/>
              <a:buChar char="•"/>
            </a:pPr>
            <a:r>
              <a:rPr lang="en-US" sz="1500" dirty="0">
                <a:solidFill>
                  <a:srgbClr val="2B2140"/>
                </a:solidFill>
                <a:latin typeface="Calibri" pitchFamily="34" charset="0"/>
                <a:ea typeface="Calibri" pitchFamily="34" charset="-122"/>
                <a:cs typeface="Calibri" pitchFamily="34" charset="-120"/>
              </a:rPr>
              <a:t>Base station = dedicated rank, global table, Manhattan search</a:t>
            </a:r>
            <a:endParaRPr lang="en-US" sz="1500" dirty="0"/>
          </a:p>
          <a:p>
            <a:pPr marL="152400" indent="-152400">
              <a:spcAft>
                <a:spcPts val="1000"/>
              </a:spcAft>
              <a:buSzPct val="100000"/>
              <a:buChar char="•"/>
            </a:pPr>
            <a:r>
              <a:rPr lang="en-US" sz="1500" dirty="0">
                <a:solidFill>
                  <a:srgbClr val="2B2140"/>
                </a:solidFill>
                <a:latin typeface="Calibri" pitchFamily="34" charset="0"/>
                <a:ea typeface="Calibri" pitchFamily="34" charset="-122"/>
                <a:cs typeface="Calibri" pitchFamily="34" charset="-120"/>
              </a:rPr>
              <a:t>Ports = POSIX threads per node, mutex on shared state</a:t>
            </a:r>
            <a:endParaRPr lang="en-US" sz="1500" dirty="0"/>
          </a:p>
          <a:p>
            <a:pPr marL="152400" indent="-152400">
              <a:spcAft>
                <a:spcPts val="1000"/>
              </a:spcAft>
              <a:buSzPct val="100000"/>
              <a:buChar char="•"/>
            </a:pPr>
            <a:r>
              <a:rPr lang="en-US" sz="1500" dirty="0">
                <a:solidFill>
                  <a:srgbClr val="2B2140"/>
                </a:solidFill>
                <a:latin typeface="Calibri" pitchFamily="34" charset="0"/>
                <a:ea typeface="Calibri" pitchFamily="34" charset="-122"/>
                <a:cs typeface="Calibri" pitchFamily="34" charset="-120"/>
              </a:rPr>
              <a:t>Shared memory within machines + message passing between</a:t>
            </a:r>
            <a:endParaRPr lang="en-US" sz="1500" dirty="0"/>
          </a:p>
        </p:txBody>
      </p:sp>
      <p:pic>
        <p:nvPicPr>
          <p:cNvPr id="20" name="Image 0" descr="/Users/erwynasoo/Desktop/Obsidian Vault/FIT3143_Parallel_Computing/01_Weekly_Materials/Week_06/Applied_1/wsn_class_diagram.png">    </p:cNvPr>
          <p:cNvPicPr>
            <a:picLocks noChangeAspect="1"/>
          </p:cNvPicPr>
          <p:nvPr/>
        </p:nvPicPr>
        <p:blipFill>
          <a:blip r:embed="rId1"/>
          <a:stretch>
            <a:fillRect/>
          </a:stretch>
        </p:blipFill>
        <p:spPr>
          <a:xfrm>
            <a:off x="4892040" y="1463040"/>
            <a:ext cx="3794760" cy="31546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5943600" cy="274320"/>
          </a:xfrm>
          <a:prstGeom prst="rect">
            <a:avLst/>
          </a:prstGeom>
          <a:noFill/>
          <a:ln/>
        </p:spPr>
        <p:txBody>
          <a:bodyPr wrap="square" lIns="0" tIns="0" rIns="0" bIns="0" rtlCol="0" anchor="ctr"/>
          <a:lstStyle/>
          <a:p>
            <a:pPr indent="0" marL="0">
              <a:buNone/>
            </a:pPr>
            <a:r>
              <a:rPr lang="en-US" sz="1200" b="1" spc="200" kern="0" dirty="0">
                <a:solidFill>
                  <a:srgbClr val="7C4DBE"/>
                </a:solidFill>
                <a:latin typeface="Calibri" pitchFamily="34" charset="0"/>
                <a:ea typeface="Calibri" pitchFamily="34" charset="-122"/>
                <a:cs typeface="Calibri" pitchFamily="34" charset="-120"/>
              </a:rPr>
              <a:t>TASK 2</a:t>
            </a:r>
            <a:endParaRPr lang="en-US" sz="1200" dirty="0"/>
          </a:p>
        </p:txBody>
      </p:sp>
      <p:sp>
        <p:nvSpPr>
          <p:cNvPr id="3" name="Text 1"/>
          <p:cNvSpPr/>
          <p:nvPr/>
        </p:nvSpPr>
        <p:spPr>
          <a:xfrm>
            <a:off x="548640" y="548640"/>
            <a:ext cx="8046720" cy="685800"/>
          </a:xfrm>
          <a:prstGeom prst="rect">
            <a:avLst/>
          </a:prstGeom>
          <a:noFill/>
          <a:ln/>
        </p:spPr>
        <p:txBody>
          <a:bodyPr wrap="square" lIns="0" tIns="0" rIns="0" bIns="0" rtlCol="0" anchor="ctr"/>
          <a:lstStyle/>
          <a:p>
            <a:pPr indent="0" marL="0">
              <a:buNone/>
            </a:pPr>
            <a:r>
              <a:rPr lang="en-US" sz="3000" b="1" dirty="0">
                <a:solidFill>
                  <a:srgbClr val="5B2D8E"/>
                </a:solidFill>
                <a:latin typeface="Calibri" pitchFamily="34" charset="0"/>
                <a:ea typeface="Calibri" pitchFamily="34" charset="-122"/>
                <a:cs typeface="Calibri" pitchFamily="34" charset="-120"/>
              </a:rPr>
              <a:t>Deployment: machines, cores, bandwidth</a:t>
            </a:r>
            <a:endParaRPr lang="en-US" sz="3000" dirty="0"/>
          </a:p>
        </p:txBody>
      </p:sp>
      <p:sp>
        <p:nvSpPr>
          <p:cNvPr id="4" name="Shape 2"/>
          <p:cNvSpPr/>
          <p:nvPr/>
        </p:nvSpPr>
        <p:spPr>
          <a:xfrm>
            <a:off x="8275320" y="384048"/>
            <a:ext cx="384048" cy="0"/>
          </a:xfrm>
          <a:prstGeom prst="line">
            <a:avLst/>
          </a:prstGeom>
          <a:noFill/>
          <a:ln w="12700">
            <a:solidFill>
              <a:srgbClr val="D9CBEF"/>
            </a:solidFill>
            <a:prstDash val="solid"/>
          </a:ln>
        </p:spPr>
      </p:sp>
      <p:sp>
        <p:nvSpPr>
          <p:cNvPr id="5" name="Shape 3"/>
          <p:cNvSpPr/>
          <p:nvPr/>
        </p:nvSpPr>
        <p:spPr>
          <a:xfrm>
            <a:off x="8275320" y="384048"/>
            <a:ext cx="0" cy="384048"/>
          </a:xfrm>
          <a:prstGeom prst="line">
            <a:avLst/>
          </a:prstGeom>
          <a:noFill/>
          <a:ln w="12700">
            <a:solidFill>
              <a:srgbClr val="D9CBEF"/>
            </a:solidFill>
            <a:prstDash val="solid"/>
          </a:ln>
        </p:spPr>
      </p:sp>
      <p:sp>
        <p:nvSpPr>
          <p:cNvPr id="6" name="Shape 4"/>
          <p:cNvSpPr/>
          <p:nvPr/>
        </p:nvSpPr>
        <p:spPr>
          <a:xfrm>
            <a:off x="8275320" y="576072"/>
            <a:ext cx="384048" cy="0"/>
          </a:xfrm>
          <a:prstGeom prst="line">
            <a:avLst/>
          </a:prstGeom>
          <a:noFill/>
          <a:ln w="12700">
            <a:solidFill>
              <a:srgbClr val="D9CBEF"/>
            </a:solidFill>
            <a:prstDash val="solid"/>
          </a:ln>
        </p:spPr>
      </p:sp>
      <p:sp>
        <p:nvSpPr>
          <p:cNvPr id="7" name="Shape 5"/>
          <p:cNvSpPr/>
          <p:nvPr/>
        </p:nvSpPr>
        <p:spPr>
          <a:xfrm>
            <a:off x="8467344" y="384048"/>
            <a:ext cx="0" cy="384048"/>
          </a:xfrm>
          <a:prstGeom prst="line">
            <a:avLst/>
          </a:prstGeom>
          <a:noFill/>
          <a:ln w="12700">
            <a:solidFill>
              <a:srgbClr val="D9CBEF"/>
            </a:solidFill>
            <a:prstDash val="solid"/>
          </a:ln>
        </p:spPr>
      </p:sp>
      <p:sp>
        <p:nvSpPr>
          <p:cNvPr id="8" name="Shape 6"/>
          <p:cNvSpPr/>
          <p:nvPr/>
        </p:nvSpPr>
        <p:spPr>
          <a:xfrm>
            <a:off x="8275320" y="768096"/>
            <a:ext cx="384048" cy="0"/>
          </a:xfrm>
          <a:prstGeom prst="line">
            <a:avLst/>
          </a:prstGeom>
          <a:noFill/>
          <a:ln w="12700">
            <a:solidFill>
              <a:srgbClr val="D9CBEF"/>
            </a:solidFill>
            <a:prstDash val="solid"/>
          </a:ln>
        </p:spPr>
      </p:sp>
      <p:sp>
        <p:nvSpPr>
          <p:cNvPr id="9" name="Shape 7"/>
          <p:cNvSpPr/>
          <p:nvPr/>
        </p:nvSpPr>
        <p:spPr>
          <a:xfrm>
            <a:off x="8659368" y="384048"/>
            <a:ext cx="0" cy="384048"/>
          </a:xfrm>
          <a:prstGeom prst="line">
            <a:avLst/>
          </a:prstGeom>
          <a:noFill/>
          <a:ln w="12700">
            <a:solidFill>
              <a:srgbClr val="D9CBEF"/>
            </a:solidFill>
            <a:prstDash val="solid"/>
          </a:ln>
        </p:spPr>
      </p:sp>
      <p:sp>
        <p:nvSpPr>
          <p:cNvPr id="10" name="Shape 8"/>
          <p:cNvSpPr/>
          <p:nvPr/>
        </p:nvSpPr>
        <p:spPr>
          <a:xfrm>
            <a:off x="8234172" y="342900"/>
            <a:ext cx="82296" cy="82296"/>
          </a:xfrm>
          <a:prstGeom prst="ellipse">
            <a:avLst/>
          </a:prstGeom>
          <a:solidFill>
            <a:srgbClr val="7C4DBE"/>
          </a:solidFill>
          <a:ln/>
        </p:spPr>
      </p:sp>
      <p:sp>
        <p:nvSpPr>
          <p:cNvPr id="11" name="Shape 9"/>
          <p:cNvSpPr/>
          <p:nvPr/>
        </p:nvSpPr>
        <p:spPr>
          <a:xfrm>
            <a:off x="8234172" y="534924"/>
            <a:ext cx="82296" cy="82296"/>
          </a:xfrm>
          <a:prstGeom prst="ellipse">
            <a:avLst/>
          </a:prstGeom>
          <a:solidFill>
            <a:srgbClr val="7C4DBE"/>
          </a:solidFill>
          <a:ln/>
        </p:spPr>
      </p:sp>
      <p:sp>
        <p:nvSpPr>
          <p:cNvPr id="12" name="Shape 10"/>
          <p:cNvSpPr/>
          <p:nvPr/>
        </p:nvSpPr>
        <p:spPr>
          <a:xfrm>
            <a:off x="8234172" y="726948"/>
            <a:ext cx="82296" cy="82296"/>
          </a:xfrm>
          <a:prstGeom prst="ellipse">
            <a:avLst/>
          </a:prstGeom>
          <a:solidFill>
            <a:srgbClr val="7C4DBE"/>
          </a:solidFill>
          <a:ln/>
        </p:spPr>
      </p:sp>
      <p:sp>
        <p:nvSpPr>
          <p:cNvPr id="13" name="Shape 11"/>
          <p:cNvSpPr/>
          <p:nvPr/>
        </p:nvSpPr>
        <p:spPr>
          <a:xfrm>
            <a:off x="8426196" y="342900"/>
            <a:ext cx="82296" cy="82296"/>
          </a:xfrm>
          <a:prstGeom prst="ellipse">
            <a:avLst/>
          </a:prstGeom>
          <a:solidFill>
            <a:srgbClr val="7C4DBE"/>
          </a:solidFill>
          <a:ln/>
        </p:spPr>
      </p:sp>
      <p:sp>
        <p:nvSpPr>
          <p:cNvPr id="14" name="Shape 12"/>
          <p:cNvSpPr/>
          <p:nvPr/>
        </p:nvSpPr>
        <p:spPr>
          <a:xfrm>
            <a:off x="8426196" y="534924"/>
            <a:ext cx="82296" cy="82296"/>
          </a:xfrm>
          <a:prstGeom prst="ellipse">
            <a:avLst/>
          </a:prstGeom>
          <a:solidFill>
            <a:srgbClr val="5B2D8E"/>
          </a:solidFill>
          <a:ln/>
        </p:spPr>
      </p:sp>
      <p:sp>
        <p:nvSpPr>
          <p:cNvPr id="15" name="Shape 13"/>
          <p:cNvSpPr/>
          <p:nvPr/>
        </p:nvSpPr>
        <p:spPr>
          <a:xfrm>
            <a:off x="8426196" y="726948"/>
            <a:ext cx="82296" cy="82296"/>
          </a:xfrm>
          <a:prstGeom prst="ellipse">
            <a:avLst/>
          </a:prstGeom>
          <a:solidFill>
            <a:srgbClr val="7C4DBE"/>
          </a:solidFill>
          <a:ln/>
        </p:spPr>
      </p:sp>
      <p:sp>
        <p:nvSpPr>
          <p:cNvPr id="16" name="Shape 14"/>
          <p:cNvSpPr/>
          <p:nvPr/>
        </p:nvSpPr>
        <p:spPr>
          <a:xfrm>
            <a:off x="8618220" y="342900"/>
            <a:ext cx="82296" cy="82296"/>
          </a:xfrm>
          <a:prstGeom prst="ellipse">
            <a:avLst/>
          </a:prstGeom>
          <a:solidFill>
            <a:srgbClr val="7C4DBE"/>
          </a:solidFill>
          <a:ln/>
        </p:spPr>
      </p:sp>
      <p:sp>
        <p:nvSpPr>
          <p:cNvPr id="17" name="Shape 15"/>
          <p:cNvSpPr/>
          <p:nvPr/>
        </p:nvSpPr>
        <p:spPr>
          <a:xfrm>
            <a:off x="8618220" y="534924"/>
            <a:ext cx="82296" cy="82296"/>
          </a:xfrm>
          <a:prstGeom prst="ellipse">
            <a:avLst/>
          </a:prstGeom>
          <a:solidFill>
            <a:srgbClr val="7C4DBE"/>
          </a:solidFill>
          <a:ln/>
        </p:spPr>
      </p:sp>
      <p:sp>
        <p:nvSpPr>
          <p:cNvPr id="18" name="Shape 16"/>
          <p:cNvSpPr/>
          <p:nvPr/>
        </p:nvSpPr>
        <p:spPr>
          <a:xfrm>
            <a:off x="8618220" y="726948"/>
            <a:ext cx="82296" cy="82296"/>
          </a:xfrm>
          <a:prstGeom prst="ellipse">
            <a:avLst/>
          </a:prstGeom>
          <a:solidFill>
            <a:srgbClr val="7C4DBE"/>
          </a:solidFill>
          <a:ln/>
        </p:spPr>
      </p:sp>
      <p:sp>
        <p:nvSpPr>
          <p:cNvPr id="19" name="Text 17"/>
          <p:cNvSpPr/>
          <p:nvPr/>
        </p:nvSpPr>
        <p:spPr>
          <a:xfrm>
            <a:off x="548640" y="1645920"/>
            <a:ext cx="7955280" cy="3108960"/>
          </a:xfrm>
          <a:prstGeom prst="rect">
            <a:avLst/>
          </a:prstGeom>
          <a:noFill/>
          <a:ln/>
        </p:spPr>
        <p:txBody>
          <a:bodyPr wrap="square" lIns="0" tIns="0" rIns="0" bIns="0" rtlCol="0" anchor="t"/>
          <a:lstStyle/>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3×3 grid + base station = 10 MPI processes</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2 × 8-core machines, spare cores for port threads</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Alert struct &lt; 512 B → ~37 kbit/s worst case</a:t>
            </a:r>
            <a:endParaRPr lang="en-US" sz="1800" dirty="0"/>
          </a:p>
          <a:p>
            <a:pPr marL="152400" indent="-152400">
              <a:spcAft>
                <a:spcPts val="1400"/>
              </a:spcAft>
              <a:buSzPct val="100000"/>
              <a:buChar char="•"/>
            </a:pPr>
            <a:r>
              <a:rPr lang="en-US" sz="1800" dirty="0">
                <a:solidFill>
                  <a:srgbClr val="2B2140"/>
                </a:solidFill>
                <a:latin typeface="Calibri" pitchFamily="34" charset="0"/>
                <a:ea typeface="Calibri" pitchFamily="34" charset="-122"/>
                <a:cs typeface="Calibri" pitchFamily="34" charset="-120"/>
              </a:rPr>
              <a:t>1 Gbps Ethernet is ample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B2D8E"/>
        </a:solidFill>
      </p:bgPr>
    </p:bg>
    <p:spTree>
      <p:nvGrpSpPr>
        <p:cNvPr id="1" name=""/>
        <p:cNvGrpSpPr/>
        <p:nvPr/>
      </p:nvGrpSpPr>
      <p:grpSpPr>
        <a:xfrm>
          <a:off x="0" y="0"/>
          <a:ext cx="0" cy="0"/>
          <a:chOff x="0" y="0"/>
          <a:chExt cx="0" cy="0"/>
        </a:xfrm>
      </p:grpSpPr>
      <p:sp>
        <p:nvSpPr>
          <p:cNvPr id="2" name="Text 0"/>
          <p:cNvSpPr/>
          <p:nvPr/>
        </p:nvSpPr>
        <p:spPr>
          <a:xfrm>
            <a:off x="548640" y="2011680"/>
            <a:ext cx="804672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Questions?</a:t>
            </a:r>
            <a:endParaRPr lang="en-US" sz="4800" dirty="0"/>
          </a:p>
        </p:txBody>
      </p:sp>
      <p:sp>
        <p:nvSpPr>
          <p:cNvPr id="3" name="Text 1"/>
          <p:cNvSpPr/>
          <p:nvPr/>
        </p:nvSpPr>
        <p:spPr>
          <a:xfrm>
            <a:off x="548640" y="4297680"/>
            <a:ext cx="8046720" cy="365760"/>
          </a:xfrm>
          <a:prstGeom prst="rect">
            <a:avLst/>
          </a:prstGeom>
          <a:noFill/>
          <a:ln/>
        </p:spPr>
        <p:txBody>
          <a:bodyPr wrap="square" lIns="0" tIns="0" rIns="0" bIns="0" rtlCol="0" anchor="ctr"/>
          <a:lstStyle/>
          <a:p>
            <a:pPr algn="ctr" indent="0" marL="0">
              <a:buNone/>
            </a:pPr>
            <a:r>
              <a:rPr lang="en-US" sz="1300" dirty="0">
                <a:solidFill>
                  <a:srgbClr val="D9CBEF"/>
                </a:solidFill>
                <a:latin typeface="Calibri" pitchFamily="34" charset="0"/>
                <a:ea typeface="Calibri" pitchFamily="34" charset="-122"/>
                <a:cs typeface="Calibri" pitchFamily="34" charset="-120"/>
              </a:rPr>
              <a:t>Appendix slides follow, clearly labelled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194560"/>
            <a:ext cx="8046720" cy="731520"/>
          </a:xfrm>
          <a:prstGeom prst="rect">
            <a:avLst/>
          </a:prstGeom>
          <a:noFill/>
          <a:ln/>
        </p:spPr>
        <p:txBody>
          <a:bodyPr wrap="square" lIns="0" tIns="0" rIns="0" bIns="0" rtlCol="0" anchor="ctr"/>
          <a:lstStyle/>
          <a:p>
            <a:pPr algn="ctr" indent="0" marL="0">
              <a:buNone/>
            </a:pPr>
            <a:r>
              <a:rPr lang="en-US" sz="3600" b="1" spc="600" kern="0" dirty="0">
                <a:solidFill>
                  <a:srgbClr val="7C4DBE"/>
                </a:solidFill>
                <a:latin typeface="Calibri" pitchFamily="34" charset="0"/>
                <a:ea typeface="Calibri" pitchFamily="34" charset="-122"/>
                <a:cs typeface="Calibri" pitchFamily="34" charset="-120"/>
              </a:rPr>
              <a:t>APPENDIX</a:t>
            </a:r>
            <a:endParaRPr lang="en-US" sz="3600" dirty="0"/>
          </a:p>
        </p:txBody>
      </p:sp>
      <p:sp>
        <p:nvSpPr>
          <p:cNvPr id="3" name="Text 1"/>
          <p:cNvSpPr/>
          <p:nvPr/>
        </p:nvSpPr>
        <p:spPr>
          <a:xfrm>
            <a:off x="548640" y="3017520"/>
            <a:ext cx="8046720" cy="365760"/>
          </a:xfrm>
          <a:prstGeom prst="rect">
            <a:avLst/>
          </a:prstGeom>
          <a:noFill/>
          <a:ln/>
        </p:spPr>
        <p:txBody>
          <a:bodyPr wrap="square" lIns="0" tIns="0" rIns="0" bIns="0" rtlCol="0" anchor="ctr"/>
          <a:lstStyle/>
          <a:p>
            <a:pPr algn="ctr" indent="0" marL="0">
              <a:buNone/>
            </a:pPr>
            <a:r>
              <a:rPr lang="en-US" sz="1400" dirty="0">
                <a:solidFill>
                  <a:srgbClr val="6B6478"/>
                </a:solidFill>
                <a:latin typeface="Calibri" pitchFamily="34" charset="0"/>
                <a:ea typeface="Calibri" pitchFamily="34" charset="-122"/>
                <a:cs typeface="Calibri" pitchFamily="34" charset="-120"/>
              </a:rPr>
              <a:t>Extra material: full topology working, delay calculations, code skeleton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2026-08-28T07:34:51Z</dcterms:created>
  <dcterms:modified xsi:type="dcterms:W3CDTF">2026-08-28T07:34:51Z</dcterms:modified>
</cp:coreProperties>
</file>