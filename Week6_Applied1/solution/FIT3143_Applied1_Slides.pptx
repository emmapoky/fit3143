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Erwyna and Taabish, and this is our design for the EV charging wireless sensor network simulator. I'll cover the topology choice and the structure of our MPI architecture, and Taabish will cover the message passing and the communication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we're simulating is a grid of EV charging nodes. Each node has charging ports; when a node passes its utilisation threshold it asks its neighbours, and if the whole neighbourhood is saturated it alerts a base station, which finds the closest free node and redirects incoming vehicles.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1 we compared seven topologies from Week 5 on diameter, link count, fault tolerance and scalability. Line and tree fail immediately on fault tolerance: cut any link and the network splits. A ring survives one cut but its path length grows linearly, so it doesn't scale. Fully connected has perfect fault tolerance but needs n squared links, which no wireless deployment can provide. A star matches the base-station traffic but makes the hub a single point of failure for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chose a hybrid: a 2-D mesh between charging nodes, because the spec places nodes in a Cartesian grid talking only to adjacent neighbours, which is also what real radio range gives you, plus a star overlay to the base station for logging and redirection. The mesh gives redundant paths if a node dies, and its degree is capped at four, so it scales incrementally.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2, each charging node is one MPI process. The node ranks form a Cartesian communicator built with MPI_Cart_create, so every process finds its four neighbours with MPI_Cart_shift instead of us hard-coding a mapping. The base station is a dedicated rank holding the global availability table and doing a Manhattan-distance search for the closest free node. Inside each node process, every charging port is a POSIX thread updating shared port state under a mutex, so we combine shared-memory parallelism inside each multi-core machine with message passing between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3 by 3 grid needs ten processes; two 8-core machines cover that with cores to spare for the port threads. An alert struct is under 512 bytes, so worst-case base-station traffic is tens of kilobits per second, and 1 Gbps Ethernet is ample. Taabish will now take you through the messages themselves and how the delays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Erwyna. Our design uses four message types, plus an optional heartbeat. When a node passes its threshold it sends neighbour queries with non-blocking MPI_Isend. That's deliberate: two adjacent nodes can cross their thresholds at the same time and query each other, and with blocking sends both could wait forever. Non-blocking calls let each node service incoming queries while waiting for its own replies. If every neighbour is also saturated, the node packs an alert struct with MPI_Type_create_struct and sends it to the base station, which logs it, runs a Manhattan-distance search for the closest free node, and replies with a redirect. You can see the full cycle in this communication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3 we model each link as L over B plus other delays, on the 1 gigabit links from the spec. The question is how each message type scales.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Neighbour messages are constant time in the number of nodes, because a mesh caps every node at four neighbours; that's the flat line. Alerts all converge on the base station's single link, so their worst-case delay grows linearly with node count; that's the climbing line. The star hub is the scalability limit of this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Adding base stations divides that load: with b stations each handles about n over b nodes, so the worst case drops like this curve. But returns diminish, because the stations now have to synchronise a shared availability table to still find the true closest free node, and that synchronisation grows with the number of stations. It behaves like the serial fraction of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a 2-D mesh with a star overlay matches the physical WSN, our MPI architecture combines message passing between machines with threads inside each node, and the analysis shows the base station link is the bottleneck, relieved but not removed by adding stations. Limitations: MPI's reliable delivery is optimistic for real wireless, and the base station is a single point of failure. Future work: fault injection and replicated base stations.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and A period: about one minute each, answered individually, no AI tools. Erwyna covers topology and structure questions, Taabish covers message passing and delay analysis questions. Appendix slides after this one are labelled APPENDIX so markers do not confuse them with assessed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duplicate this divider's style for any extra slides (full delay arithmetic, extra graphs, code snippets) so markers can tell them apart from the assessed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685800"/>
            <a:ext cx="1005840" cy="0"/>
          </a:xfrm>
          <a:prstGeom prst="line">
            <a:avLst/>
          </a:prstGeom>
          <a:noFill/>
          <a:ln w="12700">
            <a:solidFill>
              <a:srgbClr val="D9CBEF"/>
            </a:solidFill>
            <a:prstDash val="solid"/>
          </a:ln>
        </p:spPr>
      </p:sp>
      <p:sp>
        <p:nvSpPr>
          <p:cNvPr id="3" name="Shape 1"/>
          <p:cNvSpPr/>
          <p:nvPr/>
        </p:nvSpPr>
        <p:spPr>
          <a:xfrm>
            <a:off x="685800" y="685800"/>
            <a:ext cx="0" cy="1005840"/>
          </a:xfrm>
          <a:prstGeom prst="line">
            <a:avLst/>
          </a:prstGeom>
          <a:noFill/>
          <a:ln w="12700">
            <a:solidFill>
              <a:srgbClr val="D9CBEF"/>
            </a:solidFill>
            <a:prstDash val="solid"/>
          </a:ln>
        </p:spPr>
      </p:sp>
      <p:sp>
        <p:nvSpPr>
          <p:cNvPr id="4" name="Shape 2"/>
          <p:cNvSpPr/>
          <p:nvPr/>
        </p:nvSpPr>
        <p:spPr>
          <a:xfrm>
            <a:off x="685800" y="1188720"/>
            <a:ext cx="1005840" cy="0"/>
          </a:xfrm>
          <a:prstGeom prst="line">
            <a:avLst/>
          </a:prstGeom>
          <a:noFill/>
          <a:ln w="12700">
            <a:solidFill>
              <a:srgbClr val="D9CBEF"/>
            </a:solidFill>
            <a:prstDash val="solid"/>
          </a:ln>
        </p:spPr>
      </p:sp>
      <p:sp>
        <p:nvSpPr>
          <p:cNvPr id="5" name="Shape 3"/>
          <p:cNvSpPr/>
          <p:nvPr/>
        </p:nvSpPr>
        <p:spPr>
          <a:xfrm>
            <a:off x="1188720" y="685800"/>
            <a:ext cx="0" cy="1005840"/>
          </a:xfrm>
          <a:prstGeom prst="line">
            <a:avLst/>
          </a:prstGeom>
          <a:noFill/>
          <a:ln w="12700">
            <a:solidFill>
              <a:srgbClr val="D9CBEF"/>
            </a:solidFill>
            <a:prstDash val="solid"/>
          </a:ln>
        </p:spPr>
      </p:sp>
      <p:sp>
        <p:nvSpPr>
          <p:cNvPr id="6" name="Shape 4"/>
          <p:cNvSpPr/>
          <p:nvPr/>
        </p:nvSpPr>
        <p:spPr>
          <a:xfrm>
            <a:off x="685800" y="1691640"/>
            <a:ext cx="1005840" cy="0"/>
          </a:xfrm>
          <a:prstGeom prst="line">
            <a:avLst/>
          </a:prstGeom>
          <a:noFill/>
          <a:ln w="12700">
            <a:solidFill>
              <a:srgbClr val="D9CBEF"/>
            </a:solidFill>
            <a:prstDash val="solid"/>
          </a:ln>
        </p:spPr>
      </p:sp>
      <p:sp>
        <p:nvSpPr>
          <p:cNvPr id="7" name="Shape 5"/>
          <p:cNvSpPr/>
          <p:nvPr/>
        </p:nvSpPr>
        <p:spPr>
          <a:xfrm>
            <a:off x="1691640" y="685800"/>
            <a:ext cx="0" cy="1005840"/>
          </a:xfrm>
          <a:prstGeom prst="line">
            <a:avLst/>
          </a:prstGeom>
          <a:noFill/>
          <a:ln w="12700">
            <a:solidFill>
              <a:srgbClr val="D9CBEF"/>
            </a:solidFill>
            <a:prstDash val="solid"/>
          </a:ln>
        </p:spPr>
      </p:sp>
      <p:sp>
        <p:nvSpPr>
          <p:cNvPr id="8" name="Shape 6"/>
          <p:cNvSpPr/>
          <p:nvPr/>
        </p:nvSpPr>
        <p:spPr>
          <a:xfrm>
            <a:off x="644652" y="644652"/>
            <a:ext cx="82296" cy="82296"/>
          </a:xfrm>
          <a:prstGeom prst="ellipse">
            <a:avLst/>
          </a:prstGeom>
          <a:solidFill>
            <a:srgbClr val="7C4DBE"/>
          </a:solidFill>
          <a:ln/>
        </p:spPr>
      </p:sp>
      <p:sp>
        <p:nvSpPr>
          <p:cNvPr id="9" name="Shape 7"/>
          <p:cNvSpPr/>
          <p:nvPr/>
        </p:nvSpPr>
        <p:spPr>
          <a:xfrm>
            <a:off x="644652" y="1147572"/>
            <a:ext cx="82296" cy="82296"/>
          </a:xfrm>
          <a:prstGeom prst="ellipse">
            <a:avLst/>
          </a:prstGeom>
          <a:solidFill>
            <a:srgbClr val="7C4DBE"/>
          </a:solidFill>
          <a:ln/>
        </p:spPr>
      </p:sp>
      <p:sp>
        <p:nvSpPr>
          <p:cNvPr id="10" name="Shape 8"/>
          <p:cNvSpPr/>
          <p:nvPr/>
        </p:nvSpPr>
        <p:spPr>
          <a:xfrm>
            <a:off x="644652" y="1650492"/>
            <a:ext cx="82296" cy="82296"/>
          </a:xfrm>
          <a:prstGeom prst="ellipse">
            <a:avLst/>
          </a:prstGeom>
          <a:solidFill>
            <a:srgbClr val="7C4DBE"/>
          </a:solidFill>
          <a:ln/>
        </p:spPr>
      </p:sp>
      <p:sp>
        <p:nvSpPr>
          <p:cNvPr id="11" name="Shape 9"/>
          <p:cNvSpPr/>
          <p:nvPr/>
        </p:nvSpPr>
        <p:spPr>
          <a:xfrm>
            <a:off x="1147572" y="644652"/>
            <a:ext cx="82296" cy="82296"/>
          </a:xfrm>
          <a:prstGeom prst="ellipse">
            <a:avLst/>
          </a:prstGeom>
          <a:solidFill>
            <a:srgbClr val="7C4DBE"/>
          </a:solidFill>
          <a:ln/>
        </p:spPr>
      </p:sp>
      <p:sp>
        <p:nvSpPr>
          <p:cNvPr id="12" name="Shape 10"/>
          <p:cNvSpPr/>
          <p:nvPr/>
        </p:nvSpPr>
        <p:spPr>
          <a:xfrm>
            <a:off x="1147572" y="1147572"/>
            <a:ext cx="82296" cy="82296"/>
          </a:xfrm>
          <a:prstGeom prst="ellipse">
            <a:avLst/>
          </a:prstGeom>
          <a:solidFill>
            <a:srgbClr val="5B2D8E"/>
          </a:solidFill>
          <a:ln/>
        </p:spPr>
      </p:sp>
      <p:sp>
        <p:nvSpPr>
          <p:cNvPr id="13" name="Shape 11"/>
          <p:cNvSpPr/>
          <p:nvPr/>
        </p:nvSpPr>
        <p:spPr>
          <a:xfrm>
            <a:off x="1147572" y="1650492"/>
            <a:ext cx="82296" cy="82296"/>
          </a:xfrm>
          <a:prstGeom prst="ellipse">
            <a:avLst/>
          </a:prstGeom>
          <a:solidFill>
            <a:srgbClr val="7C4DBE"/>
          </a:solidFill>
          <a:ln/>
        </p:spPr>
      </p:sp>
      <p:sp>
        <p:nvSpPr>
          <p:cNvPr id="14" name="Shape 12"/>
          <p:cNvSpPr/>
          <p:nvPr/>
        </p:nvSpPr>
        <p:spPr>
          <a:xfrm>
            <a:off x="1650492" y="644652"/>
            <a:ext cx="82296" cy="82296"/>
          </a:xfrm>
          <a:prstGeom prst="ellipse">
            <a:avLst/>
          </a:prstGeom>
          <a:solidFill>
            <a:srgbClr val="7C4DBE"/>
          </a:solidFill>
          <a:ln/>
        </p:spPr>
      </p:sp>
      <p:sp>
        <p:nvSpPr>
          <p:cNvPr id="15" name="Shape 13"/>
          <p:cNvSpPr/>
          <p:nvPr/>
        </p:nvSpPr>
        <p:spPr>
          <a:xfrm>
            <a:off x="1650492" y="1147572"/>
            <a:ext cx="82296" cy="82296"/>
          </a:xfrm>
          <a:prstGeom prst="ellipse">
            <a:avLst/>
          </a:prstGeom>
          <a:solidFill>
            <a:srgbClr val="7C4DBE"/>
          </a:solidFill>
          <a:ln/>
        </p:spPr>
      </p:sp>
      <p:sp>
        <p:nvSpPr>
          <p:cNvPr id="16" name="Shape 14"/>
          <p:cNvSpPr/>
          <p:nvPr/>
        </p:nvSpPr>
        <p:spPr>
          <a:xfrm>
            <a:off x="1650492" y="1650492"/>
            <a:ext cx="82296" cy="82296"/>
          </a:xfrm>
          <a:prstGeom prst="ellipse">
            <a:avLst/>
          </a:prstGeom>
          <a:solidFill>
            <a:srgbClr val="7C4DBE"/>
          </a:solidFill>
          <a:ln/>
        </p:spPr>
      </p:sp>
      <p:sp>
        <p:nvSpPr>
          <p:cNvPr id="17" name="Text 15"/>
          <p:cNvSpPr/>
          <p:nvPr/>
        </p:nvSpPr>
        <p:spPr>
          <a:xfrm>
            <a:off x="548640" y="1965960"/>
            <a:ext cx="8046720" cy="1188720"/>
          </a:xfrm>
          <a:prstGeom prst="rect">
            <a:avLst/>
          </a:prstGeom>
          <a:noFill/>
          <a:ln/>
        </p:spPr>
        <p:txBody>
          <a:bodyPr wrap="square" lIns="0" tIns="0" rIns="0" bIns="0" rtlCol="0" anchor="ctr"/>
          <a:lstStyle/>
          <a:p>
            <a:pPr indent="0" marL="0">
              <a:buNone/>
            </a:pPr>
            <a:r>
              <a:rPr lang="en-US" sz="4400" b="1" dirty="0">
                <a:solidFill>
                  <a:srgbClr val="5B2D8E"/>
                </a:solidFill>
                <a:latin typeface="Calibri" pitchFamily="34" charset="0"/>
                <a:ea typeface="Calibri" pitchFamily="34" charset="-122"/>
                <a:cs typeface="Calibri" pitchFamily="34" charset="-120"/>
              </a:rPr>
              <a:t>Distributed Wireless Sensor Network</a:t>
            </a:r>
            <a:endParaRPr lang="en-US" sz="4400" dirty="0"/>
          </a:p>
        </p:txBody>
      </p:sp>
      <p:sp>
        <p:nvSpPr>
          <p:cNvPr id="18" name="Text 16"/>
          <p:cNvSpPr/>
          <p:nvPr/>
        </p:nvSpPr>
        <p:spPr>
          <a:xfrm>
            <a:off x="548640" y="3063240"/>
            <a:ext cx="8046720" cy="365760"/>
          </a:xfrm>
          <a:prstGeom prst="rect">
            <a:avLst/>
          </a:prstGeom>
          <a:noFill/>
          <a:ln/>
        </p:spPr>
        <p:txBody>
          <a:bodyPr wrap="square" lIns="0" tIns="0" rIns="0" bIns="0" rtlCol="0" anchor="ctr"/>
          <a:lstStyle/>
          <a:p>
            <a:pPr indent="0" marL="0">
              <a:buNone/>
            </a:pPr>
            <a:r>
              <a:rPr lang="en-US" sz="1800" dirty="0">
                <a:solidFill>
                  <a:srgbClr val="7C4DBE"/>
                </a:solidFill>
                <a:latin typeface="Calibri" pitchFamily="34" charset="0"/>
                <a:ea typeface="Calibri" pitchFamily="34" charset="-122"/>
                <a:cs typeface="Calibri" pitchFamily="34" charset="-120"/>
              </a:rPr>
              <a:t>FIT3143 Applied #1  |  EV Charging Navigation Simulator</a:t>
            </a:r>
            <a:endParaRPr lang="en-US" sz="1800" dirty="0"/>
          </a:p>
        </p:txBody>
      </p:sp>
      <p:sp>
        <p:nvSpPr>
          <p:cNvPr id="19" name="Text 17"/>
          <p:cNvSpPr/>
          <p:nvPr/>
        </p:nvSpPr>
        <p:spPr>
          <a:xfrm>
            <a:off x="548640" y="3977640"/>
            <a:ext cx="8046720" cy="640080"/>
          </a:xfrm>
          <a:prstGeom prst="rect">
            <a:avLst/>
          </a:prstGeom>
          <a:noFill/>
          <a:ln/>
        </p:spPr>
        <p:txBody>
          <a:bodyPr wrap="square" lIns="0" tIns="0" rIns="0" bIns="0" rtlCol="0" anchor="ctr"/>
          <a:lstStyle/>
          <a:p>
            <a:pPr indent="0" marL="0">
              <a:buNone/>
            </a:pPr>
            <a:r>
              <a:rPr lang="en-US" sz="1400" dirty="0">
                <a:solidFill>
                  <a:srgbClr val="6B6478"/>
                </a:solidFill>
                <a:latin typeface="Calibri" pitchFamily="34" charset="0"/>
                <a:ea typeface="Calibri" pitchFamily="34" charset="-122"/>
                <a:cs typeface="Calibri" pitchFamily="34" charset="-120"/>
              </a:rPr>
              <a:t>Erwyna Soo  |  [student ID]  |  [Monash email]</a:t>
            </a:r>
            <a:endParaRPr lang="en-US" sz="1400" dirty="0"/>
          </a:p>
          <a:p>
            <a:pPr indent="0" marL="0">
              <a:buNone/>
            </a:pPr>
            <a:r>
              <a:rPr lang="en-US" sz="1400" dirty="0">
                <a:solidFill>
                  <a:srgbClr val="6B6478"/>
                </a:solidFill>
                <a:latin typeface="Calibri" pitchFamily="34" charset="0"/>
                <a:ea typeface="Calibri" pitchFamily="34" charset="-122"/>
                <a:cs typeface="Calibri" pitchFamily="34" charset="-120"/>
              </a:rPr>
              <a:t>Taabish [surname]  |  [student ID]  |  [Monash email]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5943600" cy="274320"/>
          </a:xfrm>
          <a:prstGeom prst="rect">
            <a:avLst/>
          </a:prstGeom>
          <a:noFill/>
          <a:ln/>
        </p:spPr>
        <p:txBody>
          <a:bodyPr wrap="square" lIns="0" tIns="0" rIns="0" bIns="0" rtlCol="0" anchor="ctr"/>
          <a:lstStyle/>
          <a:p>
            <a:pPr indent="0" marL="0">
              <a:buNone/>
            </a:pPr>
            <a:r>
              <a:rPr lang="en-US" sz="1200" b="1" spc="200" kern="0" dirty="0">
                <a:solidFill>
                  <a:srgbClr val="7C4DBE"/>
                </a:solidFill>
                <a:latin typeface="Calibri" pitchFamily="34" charset="0"/>
                <a:ea typeface="Calibri" pitchFamily="34" charset="-122"/>
                <a:cs typeface="Calibri" pitchFamily="34" charset="-120"/>
              </a:rPr>
              <a:t>CONTEXT</a:t>
            </a:r>
            <a:endParaRPr lang="en-US" sz="1200" dirty="0"/>
          </a:p>
        </p:txBody>
      </p:sp>
      <p:sp>
        <p:nvSpPr>
          <p:cNvPr id="3" name="Text 1"/>
          <p:cNvSpPr/>
          <p:nvPr/>
        </p:nvSpPr>
        <p:spPr>
          <a:xfrm>
            <a:off x="548640" y="548640"/>
            <a:ext cx="8046720" cy="685800"/>
          </a:xfrm>
          <a:prstGeom prst="rect">
            <a:avLst/>
          </a:prstGeom>
          <a:noFill/>
          <a:ln/>
        </p:spPr>
        <p:txBody>
          <a:bodyPr wrap="square" lIns="0" tIns="0" rIns="0" bIns="0" rtlCol="0" anchor="ctr"/>
          <a:lstStyle/>
          <a:p>
            <a:pPr indent="0" marL="0">
              <a:buNone/>
            </a:pPr>
            <a:r>
              <a:rPr lang="en-US" sz="3000" b="1" dirty="0">
                <a:solidFill>
                  <a:srgbClr val="5B2D8E"/>
                </a:solidFill>
                <a:latin typeface="Calibri" pitchFamily="34" charset="0"/>
                <a:ea typeface="Calibri" pitchFamily="34" charset="-122"/>
                <a:cs typeface="Calibri" pitchFamily="34" charset="-120"/>
              </a:rPr>
              <a:t>The system we simulate</a:t>
            </a:r>
            <a:endParaRPr lang="en-US" sz="3000" dirty="0"/>
          </a:p>
        </p:txBody>
      </p:sp>
      <p:sp>
        <p:nvSpPr>
          <p:cNvPr id="4" name="Shape 2"/>
          <p:cNvSpPr/>
          <p:nvPr/>
        </p:nvSpPr>
        <p:spPr>
          <a:xfrm>
            <a:off x="8275320" y="384048"/>
            <a:ext cx="384048" cy="0"/>
          </a:xfrm>
          <a:prstGeom prst="line">
            <a:avLst/>
          </a:prstGeom>
          <a:noFill/>
          <a:ln w="12700">
            <a:solidFill>
              <a:srgbClr val="D9CBEF"/>
            </a:solidFill>
            <a:prstDash val="solid"/>
          </a:ln>
        </p:spPr>
      </p:sp>
      <p:sp>
        <p:nvSpPr>
          <p:cNvPr id="5" name="Shape 3"/>
          <p:cNvSpPr/>
          <p:nvPr/>
        </p:nvSpPr>
        <p:spPr>
          <a:xfrm>
            <a:off x="8275320" y="384048"/>
            <a:ext cx="0" cy="384048"/>
          </a:xfrm>
          <a:prstGeom prst="line">
            <a:avLst/>
          </a:prstGeom>
          <a:noFill/>
          <a:ln w="12700">
            <a:solidFill>
              <a:srgbClr val="D9CBEF"/>
            </a:solidFill>
            <a:prstDash val="solid"/>
          </a:ln>
        </p:spPr>
      </p:sp>
      <p:sp>
        <p:nvSpPr>
          <p:cNvPr id="6" name="Shape 4"/>
          <p:cNvSpPr/>
          <p:nvPr/>
        </p:nvSpPr>
        <p:spPr>
          <a:xfrm>
            <a:off x="8275320" y="576072"/>
            <a:ext cx="384048" cy="0"/>
          </a:xfrm>
          <a:prstGeom prst="line">
            <a:avLst/>
          </a:prstGeom>
          <a:noFill/>
          <a:ln w="12700">
            <a:solidFill>
              <a:srgbClr val="D9CBEF"/>
            </a:solidFill>
            <a:prstDash val="solid"/>
          </a:ln>
        </p:spPr>
      </p:sp>
      <p:sp>
        <p:nvSpPr>
          <p:cNvPr id="7" name="Shape 5"/>
          <p:cNvSpPr/>
          <p:nvPr/>
        </p:nvSpPr>
        <p:spPr>
          <a:xfrm>
            <a:off x="8467344" y="384048"/>
            <a:ext cx="0" cy="384048"/>
          </a:xfrm>
          <a:prstGeom prst="line">
            <a:avLst/>
          </a:prstGeom>
          <a:noFill/>
          <a:ln w="12700">
            <a:solidFill>
              <a:srgbClr val="D9CBEF"/>
            </a:solidFill>
            <a:prstDash val="solid"/>
          </a:ln>
        </p:spPr>
      </p:sp>
      <p:sp>
        <p:nvSpPr>
          <p:cNvPr id="8" name="Shape 6"/>
          <p:cNvSpPr/>
          <p:nvPr/>
        </p:nvSpPr>
        <p:spPr>
          <a:xfrm>
            <a:off x="8275320" y="768096"/>
            <a:ext cx="384048" cy="0"/>
          </a:xfrm>
          <a:prstGeom prst="line">
            <a:avLst/>
          </a:prstGeom>
          <a:noFill/>
          <a:ln w="12700">
            <a:solidFill>
              <a:srgbClr val="D9CBEF"/>
            </a:solidFill>
            <a:prstDash val="solid"/>
          </a:ln>
        </p:spPr>
      </p:sp>
      <p:sp>
        <p:nvSpPr>
          <p:cNvPr id="9" name="Shape 7"/>
          <p:cNvSpPr/>
          <p:nvPr/>
        </p:nvSpPr>
        <p:spPr>
          <a:xfrm>
            <a:off x="8659368" y="384048"/>
            <a:ext cx="0" cy="384048"/>
          </a:xfrm>
          <a:prstGeom prst="line">
            <a:avLst/>
          </a:prstGeom>
          <a:noFill/>
          <a:ln w="12700">
            <a:solidFill>
              <a:srgbClr val="D9CBEF"/>
            </a:solidFill>
            <a:prstDash val="solid"/>
          </a:ln>
        </p:spPr>
      </p:sp>
      <p:sp>
        <p:nvSpPr>
          <p:cNvPr id="10" name="Shape 8"/>
          <p:cNvSpPr/>
          <p:nvPr/>
        </p:nvSpPr>
        <p:spPr>
          <a:xfrm>
            <a:off x="8234172" y="342900"/>
            <a:ext cx="82296" cy="82296"/>
          </a:xfrm>
          <a:prstGeom prst="ellipse">
            <a:avLst/>
          </a:prstGeom>
          <a:solidFill>
            <a:srgbClr val="7C4DBE"/>
          </a:solidFill>
          <a:ln/>
        </p:spPr>
      </p:sp>
      <p:sp>
        <p:nvSpPr>
          <p:cNvPr id="11" name="Shape 9"/>
          <p:cNvSpPr/>
          <p:nvPr/>
        </p:nvSpPr>
        <p:spPr>
          <a:xfrm>
            <a:off x="8234172" y="534924"/>
            <a:ext cx="82296" cy="82296"/>
          </a:xfrm>
          <a:prstGeom prst="ellipse">
            <a:avLst/>
          </a:prstGeom>
          <a:solidFill>
            <a:srgbClr val="7C4DBE"/>
          </a:solidFill>
          <a:ln/>
        </p:spPr>
      </p:sp>
      <p:sp>
        <p:nvSpPr>
          <p:cNvPr id="12" name="Shape 10"/>
          <p:cNvSpPr/>
          <p:nvPr/>
        </p:nvSpPr>
        <p:spPr>
          <a:xfrm>
            <a:off x="8234172" y="726948"/>
            <a:ext cx="82296" cy="82296"/>
          </a:xfrm>
          <a:prstGeom prst="ellipse">
            <a:avLst/>
          </a:prstGeom>
          <a:solidFill>
            <a:srgbClr val="7C4DBE"/>
          </a:solidFill>
          <a:ln/>
        </p:spPr>
      </p:sp>
      <p:sp>
        <p:nvSpPr>
          <p:cNvPr id="13" name="Shape 11"/>
          <p:cNvSpPr/>
          <p:nvPr/>
        </p:nvSpPr>
        <p:spPr>
          <a:xfrm>
            <a:off x="8426196" y="342900"/>
            <a:ext cx="82296" cy="82296"/>
          </a:xfrm>
          <a:prstGeom prst="ellipse">
            <a:avLst/>
          </a:prstGeom>
          <a:solidFill>
            <a:srgbClr val="7C4DBE"/>
          </a:solidFill>
          <a:ln/>
        </p:spPr>
      </p:sp>
      <p:sp>
        <p:nvSpPr>
          <p:cNvPr id="14" name="Shape 12"/>
          <p:cNvSpPr/>
          <p:nvPr/>
        </p:nvSpPr>
        <p:spPr>
          <a:xfrm>
            <a:off x="8426196" y="534924"/>
            <a:ext cx="82296" cy="82296"/>
          </a:xfrm>
          <a:prstGeom prst="ellipse">
            <a:avLst/>
          </a:prstGeom>
          <a:solidFill>
            <a:srgbClr val="5B2D8E"/>
          </a:solidFill>
          <a:ln/>
        </p:spPr>
      </p:sp>
      <p:sp>
        <p:nvSpPr>
          <p:cNvPr id="15" name="Shape 13"/>
          <p:cNvSpPr/>
          <p:nvPr/>
        </p:nvSpPr>
        <p:spPr>
          <a:xfrm>
            <a:off x="8426196" y="726948"/>
            <a:ext cx="82296" cy="82296"/>
          </a:xfrm>
          <a:prstGeom prst="ellipse">
            <a:avLst/>
          </a:prstGeom>
          <a:solidFill>
            <a:srgbClr val="7C4DBE"/>
          </a:solidFill>
          <a:ln/>
        </p:spPr>
      </p:sp>
      <p:sp>
        <p:nvSpPr>
          <p:cNvPr id="16" name="Shape 14"/>
          <p:cNvSpPr/>
          <p:nvPr/>
        </p:nvSpPr>
        <p:spPr>
          <a:xfrm>
            <a:off x="8618220" y="342900"/>
            <a:ext cx="82296" cy="82296"/>
          </a:xfrm>
          <a:prstGeom prst="ellipse">
            <a:avLst/>
          </a:prstGeom>
          <a:solidFill>
            <a:srgbClr val="7C4DBE"/>
          </a:solidFill>
          <a:ln/>
        </p:spPr>
      </p:sp>
      <p:sp>
        <p:nvSpPr>
          <p:cNvPr id="17" name="Shape 15"/>
          <p:cNvSpPr/>
          <p:nvPr/>
        </p:nvSpPr>
        <p:spPr>
          <a:xfrm>
            <a:off x="8618220" y="534924"/>
            <a:ext cx="82296" cy="82296"/>
          </a:xfrm>
          <a:prstGeom prst="ellipse">
            <a:avLst/>
          </a:prstGeom>
          <a:solidFill>
            <a:srgbClr val="7C4DBE"/>
          </a:solidFill>
          <a:ln/>
        </p:spPr>
      </p:sp>
      <p:sp>
        <p:nvSpPr>
          <p:cNvPr id="18" name="Shape 16"/>
          <p:cNvSpPr/>
          <p:nvPr/>
        </p:nvSpPr>
        <p:spPr>
          <a:xfrm>
            <a:off x="8618220" y="726948"/>
            <a:ext cx="82296" cy="82296"/>
          </a:xfrm>
          <a:prstGeom prst="ellipse">
            <a:avLst/>
          </a:prstGeom>
          <a:solidFill>
            <a:srgbClr val="7C4DBE"/>
          </a:solidFill>
          <a:ln/>
        </p:spPr>
      </p:sp>
      <p:sp>
        <p:nvSpPr>
          <p:cNvPr id="19" name="Text 17"/>
          <p:cNvSpPr/>
          <p:nvPr/>
        </p:nvSpPr>
        <p:spPr>
          <a:xfrm>
            <a:off x="548640" y="1645920"/>
            <a:ext cx="7955280" cy="3108960"/>
          </a:xfrm>
          <a:prstGeom prst="rect">
            <a:avLst/>
          </a:prstGeom>
          <a:noFill/>
          <a:ln/>
        </p:spPr>
        <p:txBody>
          <a:bodyPr wrap="square" lIns="0" tIns="0" rIns="0" bIns="0" rtlCol="0" anchor="t"/>
          <a:lstStyle/>
          <a:p>
            <a:pPr marL="152400" indent="-152400">
              <a:spcAft>
                <a:spcPts val="1400"/>
              </a:spcAft>
              <a:buSzPct val="100000"/>
              <a:buChar char="•"/>
            </a:pPr>
            <a:r>
              <a:rPr lang="en-US" sz="1800" dirty="0">
                <a:solidFill>
                  <a:srgbClr val="2B2140"/>
                </a:solidFill>
                <a:latin typeface="Calibri" pitchFamily="34" charset="0"/>
                <a:ea typeface="Calibri" pitchFamily="34" charset="-122"/>
                <a:cs typeface="Calibri" pitchFamily="34" charset="-120"/>
              </a:rPr>
              <a:t>Grid of EV charging nodes, each with charging ports</a:t>
            </a:r>
            <a:endParaRPr lang="en-US" sz="1800" dirty="0"/>
          </a:p>
          <a:p>
            <a:pPr marL="152400" indent="-152400">
              <a:spcAft>
                <a:spcPts val="1400"/>
              </a:spcAft>
              <a:buSzPct val="100000"/>
              <a:buChar char="•"/>
            </a:pPr>
            <a:r>
              <a:rPr lang="en-US" sz="1800" dirty="0">
                <a:solidFill>
                  <a:srgbClr val="2B2140"/>
                </a:solidFill>
                <a:latin typeface="Calibri" pitchFamily="34" charset="0"/>
                <a:ea typeface="Calibri" pitchFamily="34" charset="-122"/>
                <a:cs typeface="Calibri" pitchFamily="34" charset="-120"/>
              </a:rPr>
              <a:t>Over threshold → query adjacent neighbours</a:t>
            </a:r>
            <a:endParaRPr lang="en-US" sz="1800" dirty="0"/>
          </a:p>
          <a:p>
            <a:pPr marL="152400" indent="-152400">
              <a:spcAft>
                <a:spcPts val="1400"/>
              </a:spcAft>
              <a:buSzPct val="100000"/>
              <a:buChar char="•"/>
            </a:pPr>
            <a:r>
              <a:rPr lang="en-US" sz="1800" dirty="0">
                <a:solidFill>
                  <a:srgbClr val="2B2140"/>
                </a:solidFill>
                <a:latin typeface="Calibri" pitchFamily="34" charset="0"/>
                <a:ea typeface="Calibri" pitchFamily="34" charset="-122"/>
                <a:cs typeface="Calibri" pitchFamily="34" charset="-120"/>
              </a:rPr>
              <a:t>Neighbourhood saturated → alert base station</a:t>
            </a:r>
            <a:endParaRPr lang="en-US" sz="1800" dirty="0"/>
          </a:p>
          <a:p>
            <a:pPr marL="152400" indent="-152400">
              <a:spcAft>
                <a:spcPts val="1400"/>
              </a:spcAft>
              <a:buSzPct val="100000"/>
              <a:buChar char="•"/>
            </a:pPr>
            <a:r>
              <a:rPr lang="en-US" sz="1800" dirty="0">
                <a:solidFill>
                  <a:srgbClr val="2B2140"/>
                </a:solidFill>
                <a:latin typeface="Calibri" pitchFamily="34" charset="0"/>
                <a:ea typeface="Calibri" pitchFamily="34" charset="-122"/>
                <a:cs typeface="Calibri" pitchFamily="34" charset="-120"/>
              </a:rPr>
              <a:t>Base station: log, find closest free node, redirect</a:t>
            </a:r>
            <a:endParaRPr lang="en-US" sz="1800" dirty="0"/>
          </a:p>
        </p:txBody>
      </p:sp>
      <p:sp>
        <p:nvSpPr>
          <p:cNvPr id="20" name="Shape 18"/>
          <p:cNvSpPr/>
          <p:nvPr/>
        </p:nvSpPr>
        <p:spPr>
          <a:xfrm>
            <a:off x="6492240" y="2011680"/>
            <a:ext cx="1463040" cy="0"/>
          </a:xfrm>
          <a:prstGeom prst="line">
            <a:avLst/>
          </a:prstGeom>
          <a:noFill/>
          <a:ln w="12700">
            <a:solidFill>
              <a:srgbClr val="D9CBEF"/>
            </a:solidFill>
            <a:prstDash val="solid"/>
          </a:ln>
        </p:spPr>
      </p:sp>
      <p:sp>
        <p:nvSpPr>
          <p:cNvPr id="21" name="Shape 19"/>
          <p:cNvSpPr/>
          <p:nvPr/>
        </p:nvSpPr>
        <p:spPr>
          <a:xfrm>
            <a:off x="6492240" y="2011680"/>
            <a:ext cx="0" cy="1463040"/>
          </a:xfrm>
          <a:prstGeom prst="line">
            <a:avLst/>
          </a:prstGeom>
          <a:noFill/>
          <a:ln w="12700">
            <a:solidFill>
              <a:srgbClr val="D9CBEF"/>
            </a:solidFill>
            <a:prstDash val="solid"/>
          </a:ln>
        </p:spPr>
      </p:sp>
      <p:sp>
        <p:nvSpPr>
          <p:cNvPr id="22" name="Shape 20"/>
          <p:cNvSpPr/>
          <p:nvPr/>
        </p:nvSpPr>
        <p:spPr>
          <a:xfrm>
            <a:off x="6492240" y="2743200"/>
            <a:ext cx="1463040" cy="0"/>
          </a:xfrm>
          <a:prstGeom prst="line">
            <a:avLst/>
          </a:prstGeom>
          <a:noFill/>
          <a:ln w="12700">
            <a:solidFill>
              <a:srgbClr val="D9CBEF"/>
            </a:solidFill>
            <a:prstDash val="solid"/>
          </a:ln>
        </p:spPr>
      </p:sp>
      <p:sp>
        <p:nvSpPr>
          <p:cNvPr id="23" name="Shape 21"/>
          <p:cNvSpPr/>
          <p:nvPr/>
        </p:nvSpPr>
        <p:spPr>
          <a:xfrm>
            <a:off x="7223760" y="2011680"/>
            <a:ext cx="0" cy="1463040"/>
          </a:xfrm>
          <a:prstGeom prst="line">
            <a:avLst/>
          </a:prstGeom>
          <a:noFill/>
          <a:ln w="12700">
            <a:solidFill>
              <a:srgbClr val="D9CBEF"/>
            </a:solidFill>
            <a:prstDash val="solid"/>
          </a:ln>
        </p:spPr>
      </p:sp>
      <p:sp>
        <p:nvSpPr>
          <p:cNvPr id="24" name="Shape 22"/>
          <p:cNvSpPr/>
          <p:nvPr/>
        </p:nvSpPr>
        <p:spPr>
          <a:xfrm>
            <a:off x="6492240" y="3474720"/>
            <a:ext cx="1463040" cy="0"/>
          </a:xfrm>
          <a:prstGeom prst="line">
            <a:avLst/>
          </a:prstGeom>
          <a:noFill/>
          <a:ln w="12700">
            <a:solidFill>
              <a:srgbClr val="D9CBEF"/>
            </a:solidFill>
            <a:prstDash val="solid"/>
          </a:ln>
        </p:spPr>
      </p:sp>
      <p:sp>
        <p:nvSpPr>
          <p:cNvPr id="25" name="Shape 23"/>
          <p:cNvSpPr/>
          <p:nvPr/>
        </p:nvSpPr>
        <p:spPr>
          <a:xfrm>
            <a:off x="7955280" y="2011680"/>
            <a:ext cx="0" cy="1463040"/>
          </a:xfrm>
          <a:prstGeom prst="line">
            <a:avLst/>
          </a:prstGeom>
          <a:noFill/>
          <a:ln w="12700">
            <a:solidFill>
              <a:srgbClr val="D9CBEF"/>
            </a:solidFill>
            <a:prstDash val="solid"/>
          </a:ln>
        </p:spPr>
      </p:sp>
      <p:sp>
        <p:nvSpPr>
          <p:cNvPr id="26" name="Shape 24"/>
          <p:cNvSpPr/>
          <p:nvPr/>
        </p:nvSpPr>
        <p:spPr>
          <a:xfrm>
            <a:off x="6451092" y="1970532"/>
            <a:ext cx="82296" cy="82296"/>
          </a:xfrm>
          <a:prstGeom prst="ellipse">
            <a:avLst/>
          </a:prstGeom>
          <a:solidFill>
            <a:srgbClr val="7C4DBE"/>
          </a:solidFill>
          <a:ln/>
        </p:spPr>
      </p:sp>
      <p:sp>
        <p:nvSpPr>
          <p:cNvPr id="27" name="Shape 25"/>
          <p:cNvSpPr/>
          <p:nvPr/>
        </p:nvSpPr>
        <p:spPr>
          <a:xfrm>
            <a:off x="6451092" y="2702052"/>
            <a:ext cx="82296" cy="82296"/>
          </a:xfrm>
          <a:prstGeom prst="ellipse">
            <a:avLst/>
          </a:prstGeom>
          <a:solidFill>
            <a:srgbClr val="7C4DBE"/>
          </a:solidFill>
          <a:ln/>
        </p:spPr>
      </p:sp>
      <p:sp>
        <p:nvSpPr>
          <p:cNvPr id="28" name="Shape 26"/>
          <p:cNvSpPr/>
          <p:nvPr/>
        </p:nvSpPr>
        <p:spPr>
          <a:xfrm>
            <a:off x="6451092" y="3433572"/>
            <a:ext cx="82296" cy="82296"/>
          </a:xfrm>
          <a:prstGeom prst="ellipse">
            <a:avLst/>
          </a:prstGeom>
          <a:solidFill>
            <a:srgbClr val="7C4DBE"/>
          </a:solidFill>
          <a:ln/>
        </p:spPr>
      </p:sp>
      <p:sp>
        <p:nvSpPr>
          <p:cNvPr id="29" name="Shape 27"/>
          <p:cNvSpPr/>
          <p:nvPr/>
        </p:nvSpPr>
        <p:spPr>
          <a:xfrm>
            <a:off x="7182612" y="1970532"/>
            <a:ext cx="82296" cy="82296"/>
          </a:xfrm>
          <a:prstGeom prst="ellipse">
            <a:avLst/>
          </a:prstGeom>
          <a:solidFill>
            <a:srgbClr val="7C4DBE"/>
          </a:solidFill>
          <a:ln/>
        </p:spPr>
      </p:sp>
      <p:sp>
        <p:nvSpPr>
          <p:cNvPr id="30" name="Shape 28"/>
          <p:cNvSpPr/>
          <p:nvPr/>
        </p:nvSpPr>
        <p:spPr>
          <a:xfrm>
            <a:off x="7182612" y="2702052"/>
            <a:ext cx="82296" cy="82296"/>
          </a:xfrm>
          <a:prstGeom prst="ellipse">
            <a:avLst/>
          </a:prstGeom>
          <a:solidFill>
            <a:srgbClr val="5B2D8E"/>
          </a:solidFill>
          <a:ln/>
        </p:spPr>
      </p:sp>
      <p:sp>
        <p:nvSpPr>
          <p:cNvPr id="31" name="Shape 29"/>
          <p:cNvSpPr/>
          <p:nvPr/>
        </p:nvSpPr>
        <p:spPr>
          <a:xfrm>
            <a:off x="7182612" y="3433572"/>
            <a:ext cx="82296" cy="82296"/>
          </a:xfrm>
          <a:prstGeom prst="ellipse">
            <a:avLst/>
          </a:prstGeom>
          <a:solidFill>
            <a:srgbClr val="7C4DBE"/>
          </a:solidFill>
          <a:ln/>
        </p:spPr>
      </p:sp>
      <p:sp>
        <p:nvSpPr>
          <p:cNvPr id="32" name="Shape 30"/>
          <p:cNvSpPr/>
          <p:nvPr/>
        </p:nvSpPr>
        <p:spPr>
          <a:xfrm>
            <a:off x="7914132" y="1970532"/>
            <a:ext cx="82296" cy="82296"/>
          </a:xfrm>
          <a:prstGeom prst="ellipse">
            <a:avLst/>
          </a:prstGeom>
          <a:solidFill>
            <a:srgbClr val="7C4DBE"/>
          </a:solidFill>
          <a:ln/>
        </p:spPr>
      </p:sp>
      <p:sp>
        <p:nvSpPr>
          <p:cNvPr id="33" name="Shape 31"/>
          <p:cNvSpPr/>
          <p:nvPr/>
        </p:nvSpPr>
        <p:spPr>
          <a:xfrm>
            <a:off x="7914132" y="2702052"/>
            <a:ext cx="82296" cy="82296"/>
          </a:xfrm>
          <a:prstGeom prst="ellipse">
            <a:avLst/>
          </a:prstGeom>
          <a:solidFill>
            <a:srgbClr val="7C4DBE"/>
          </a:solidFill>
          <a:ln/>
        </p:spPr>
      </p:sp>
      <p:sp>
        <p:nvSpPr>
          <p:cNvPr id="34" name="Shape 32"/>
          <p:cNvSpPr/>
          <p:nvPr/>
        </p:nvSpPr>
        <p:spPr>
          <a:xfrm>
            <a:off x="7914132" y="3433572"/>
            <a:ext cx="82296" cy="82296"/>
          </a:xfrm>
          <a:prstGeom prst="ellipse">
            <a:avLst/>
          </a:prstGeom>
          <a:solidFill>
            <a:srgbClr val="7C4DBE"/>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5943600" cy="274320"/>
          </a:xfrm>
          <a:prstGeom prst="rect">
            <a:avLst/>
          </a:prstGeom>
          <a:noFill/>
          <a:ln/>
        </p:spPr>
        <p:txBody>
          <a:bodyPr wrap="square" lIns="0" tIns="0" rIns="0" bIns="0" rtlCol="0" anchor="ctr"/>
          <a:lstStyle/>
          <a:p>
            <a:pPr indent="0" marL="0">
              <a:buNone/>
            </a:pPr>
            <a:r>
              <a:rPr lang="en-US" sz="1200" b="1" spc="200" kern="0" dirty="0">
                <a:solidFill>
                  <a:srgbClr val="7C4DBE"/>
                </a:solidFill>
                <a:latin typeface="Calibri" pitchFamily="34" charset="0"/>
                <a:ea typeface="Calibri" pitchFamily="34" charset="-122"/>
                <a:cs typeface="Calibri" pitchFamily="34" charset="-120"/>
              </a:rPr>
              <a:t>TASK 1</a:t>
            </a:r>
            <a:endParaRPr lang="en-US" sz="1200" dirty="0"/>
          </a:p>
        </p:txBody>
      </p:sp>
      <p:sp>
        <p:nvSpPr>
          <p:cNvPr id="3" name="Text 1"/>
          <p:cNvSpPr/>
          <p:nvPr/>
        </p:nvSpPr>
        <p:spPr>
          <a:xfrm>
            <a:off x="548640" y="548640"/>
            <a:ext cx="8046720" cy="685800"/>
          </a:xfrm>
          <a:prstGeom prst="rect">
            <a:avLst/>
          </a:prstGeom>
          <a:noFill/>
          <a:ln/>
        </p:spPr>
        <p:txBody>
          <a:bodyPr wrap="square" lIns="0" tIns="0" rIns="0" bIns="0" rtlCol="0" anchor="ctr"/>
          <a:lstStyle/>
          <a:p>
            <a:pPr indent="0" marL="0">
              <a:buNone/>
            </a:pPr>
            <a:r>
              <a:rPr lang="en-US" sz="3000" b="1" dirty="0">
                <a:solidFill>
                  <a:srgbClr val="5B2D8E"/>
                </a:solidFill>
                <a:latin typeface="Calibri" pitchFamily="34" charset="0"/>
                <a:ea typeface="Calibri" pitchFamily="34" charset="-122"/>
                <a:cs typeface="Calibri" pitchFamily="34" charset="-120"/>
              </a:rPr>
              <a:t>Comparing Week 5 topologies</a:t>
            </a:r>
            <a:endParaRPr lang="en-US" sz="3000" dirty="0"/>
          </a:p>
        </p:txBody>
      </p:sp>
      <p:sp>
        <p:nvSpPr>
          <p:cNvPr id="4" name="Shape 2"/>
          <p:cNvSpPr/>
          <p:nvPr/>
        </p:nvSpPr>
        <p:spPr>
          <a:xfrm>
            <a:off x="8275320" y="384048"/>
            <a:ext cx="384048" cy="0"/>
          </a:xfrm>
          <a:prstGeom prst="line">
            <a:avLst/>
          </a:prstGeom>
          <a:noFill/>
          <a:ln w="12700">
            <a:solidFill>
              <a:srgbClr val="D9CBEF"/>
            </a:solidFill>
            <a:prstDash val="solid"/>
          </a:ln>
        </p:spPr>
      </p:sp>
      <p:sp>
        <p:nvSpPr>
          <p:cNvPr id="5" name="Shape 3"/>
          <p:cNvSpPr/>
          <p:nvPr/>
        </p:nvSpPr>
        <p:spPr>
          <a:xfrm>
            <a:off x="8275320" y="384048"/>
            <a:ext cx="0" cy="384048"/>
          </a:xfrm>
          <a:prstGeom prst="line">
            <a:avLst/>
          </a:prstGeom>
          <a:noFill/>
          <a:ln w="12700">
            <a:solidFill>
              <a:srgbClr val="D9CBEF"/>
            </a:solidFill>
            <a:prstDash val="solid"/>
          </a:ln>
        </p:spPr>
      </p:sp>
      <p:sp>
        <p:nvSpPr>
          <p:cNvPr id="6" name="Shape 4"/>
          <p:cNvSpPr/>
          <p:nvPr/>
        </p:nvSpPr>
        <p:spPr>
          <a:xfrm>
            <a:off x="8275320" y="576072"/>
            <a:ext cx="384048" cy="0"/>
          </a:xfrm>
          <a:prstGeom prst="line">
            <a:avLst/>
          </a:prstGeom>
          <a:noFill/>
          <a:ln w="12700">
            <a:solidFill>
              <a:srgbClr val="D9CBEF"/>
            </a:solidFill>
            <a:prstDash val="solid"/>
          </a:ln>
        </p:spPr>
      </p:sp>
      <p:sp>
        <p:nvSpPr>
          <p:cNvPr id="7" name="Shape 5"/>
          <p:cNvSpPr/>
          <p:nvPr/>
        </p:nvSpPr>
        <p:spPr>
          <a:xfrm>
            <a:off x="8467344" y="384048"/>
            <a:ext cx="0" cy="384048"/>
          </a:xfrm>
          <a:prstGeom prst="line">
            <a:avLst/>
          </a:prstGeom>
          <a:noFill/>
          <a:ln w="12700">
            <a:solidFill>
              <a:srgbClr val="D9CBEF"/>
            </a:solidFill>
            <a:prstDash val="solid"/>
          </a:ln>
        </p:spPr>
      </p:sp>
      <p:sp>
        <p:nvSpPr>
          <p:cNvPr id="8" name="Shape 6"/>
          <p:cNvSpPr/>
          <p:nvPr/>
        </p:nvSpPr>
        <p:spPr>
          <a:xfrm>
            <a:off x="8275320" y="768096"/>
            <a:ext cx="384048" cy="0"/>
          </a:xfrm>
          <a:prstGeom prst="line">
            <a:avLst/>
          </a:prstGeom>
          <a:noFill/>
          <a:ln w="12700">
            <a:solidFill>
              <a:srgbClr val="D9CBEF"/>
            </a:solidFill>
            <a:prstDash val="solid"/>
          </a:ln>
        </p:spPr>
      </p:sp>
      <p:sp>
        <p:nvSpPr>
          <p:cNvPr id="9" name="Shape 7"/>
          <p:cNvSpPr/>
          <p:nvPr/>
        </p:nvSpPr>
        <p:spPr>
          <a:xfrm>
            <a:off x="8659368" y="384048"/>
            <a:ext cx="0" cy="384048"/>
          </a:xfrm>
          <a:prstGeom prst="line">
            <a:avLst/>
          </a:prstGeom>
          <a:noFill/>
          <a:ln w="12700">
            <a:solidFill>
              <a:srgbClr val="D9CBEF"/>
            </a:solidFill>
            <a:prstDash val="solid"/>
          </a:ln>
        </p:spPr>
      </p:sp>
      <p:sp>
        <p:nvSpPr>
          <p:cNvPr id="10" name="Shape 8"/>
          <p:cNvSpPr/>
          <p:nvPr/>
        </p:nvSpPr>
        <p:spPr>
          <a:xfrm>
            <a:off x="8234172" y="342900"/>
            <a:ext cx="82296" cy="82296"/>
          </a:xfrm>
          <a:prstGeom prst="ellipse">
            <a:avLst/>
          </a:prstGeom>
          <a:solidFill>
            <a:srgbClr val="7C4DBE"/>
          </a:solidFill>
          <a:ln/>
        </p:spPr>
      </p:sp>
      <p:sp>
        <p:nvSpPr>
          <p:cNvPr id="11" name="Shape 9"/>
          <p:cNvSpPr/>
          <p:nvPr/>
        </p:nvSpPr>
        <p:spPr>
          <a:xfrm>
            <a:off x="8234172" y="534924"/>
            <a:ext cx="82296" cy="82296"/>
          </a:xfrm>
          <a:prstGeom prst="ellipse">
            <a:avLst/>
          </a:prstGeom>
          <a:solidFill>
            <a:srgbClr val="7C4DBE"/>
          </a:solidFill>
          <a:ln/>
        </p:spPr>
      </p:sp>
      <p:sp>
        <p:nvSpPr>
          <p:cNvPr id="12" name="Shape 10"/>
          <p:cNvSpPr/>
          <p:nvPr/>
        </p:nvSpPr>
        <p:spPr>
          <a:xfrm>
            <a:off x="8234172" y="726948"/>
            <a:ext cx="82296" cy="82296"/>
          </a:xfrm>
          <a:prstGeom prst="ellipse">
            <a:avLst/>
          </a:prstGeom>
          <a:solidFill>
            <a:srgbClr val="7C4DBE"/>
          </a:solidFill>
          <a:ln/>
        </p:spPr>
      </p:sp>
      <p:sp>
        <p:nvSpPr>
          <p:cNvPr id="13" name="Shape 11"/>
          <p:cNvSpPr/>
          <p:nvPr/>
        </p:nvSpPr>
        <p:spPr>
          <a:xfrm>
            <a:off x="8426196" y="342900"/>
            <a:ext cx="82296" cy="82296"/>
          </a:xfrm>
          <a:prstGeom prst="ellipse">
            <a:avLst/>
          </a:prstGeom>
          <a:solidFill>
            <a:srgbClr val="7C4DBE"/>
          </a:solidFill>
          <a:ln/>
        </p:spPr>
      </p:sp>
      <p:sp>
        <p:nvSpPr>
          <p:cNvPr id="14" name="Shape 12"/>
          <p:cNvSpPr/>
          <p:nvPr/>
        </p:nvSpPr>
        <p:spPr>
          <a:xfrm>
            <a:off x="8426196" y="534924"/>
            <a:ext cx="82296" cy="82296"/>
          </a:xfrm>
          <a:prstGeom prst="ellipse">
            <a:avLst/>
          </a:prstGeom>
          <a:solidFill>
            <a:srgbClr val="5B2D8E"/>
          </a:solidFill>
          <a:ln/>
        </p:spPr>
      </p:sp>
      <p:sp>
        <p:nvSpPr>
          <p:cNvPr id="15" name="Shape 13"/>
          <p:cNvSpPr/>
          <p:nvPr/>
        </p:nvSpPr>
        <p:spPr>
          <a:xfrm>
            <a:off x="8426196" y="726948"/>
            <a:ext cx="82296" cy="82296"/>
          </a:xfrm>
          <a:prstGeom prst="ellipse">
            <a:avLst/>
          </a:prstGeom>
          <a:solidFill>
            <a:srgbClr val="7C4DBE"/>
          </a:solidFill>
          <a:ln/>
        </p:spPr>
      </p:sp>
      <p:sp>
        <p:nvSpPr>
          <p:cNvPr id="16" name="Shape 14"/>
          <p:cNvSpPr/>
          <p:nvPr/>
        </p:nvSpPr>
        <p:spPr>
          <a:xfrm>
            <a:off x="8618220" y="342900"/>
            <a:ext cx="82296" cy="82296"/>
          </a:xfrm>
          <a:prstGeom prst="ellipse">
            <a:avLst/>
          </a:prstGeom>
          <a:solidFill>
            <a:srgbClr val="7C4DBE"/>
          </a:solidFill>
          <a:ln/>
        </p:spPr>
      </p:sp>
      <p:sp>
        <p:nvSpPr>
          <p:cNvPr id="17" name="Shape 15"/>
          <p:cNvSpPr/>
          <p:nvPr/>
        </p:nvSpPr>
        <p:spPr>
          <a:xfrm>
            <a:off x="8618220" y="534924"/>
            <a:ext cx="82296" cy="82296"/>
          </a:xfrm>
          <a:prstGeom prst="ellipse">
            <a:avLst/>
          </a:prstGeom>
          <a:solidFill>
            <a:srgbClr val="7C4DBE"/>
          </a:solidFill>
          <a:ln/>
        </p:spPr>
      </p:sp>
      <p:sp>
        <p:nvSpPr>
          <p:cNvPr id="18" name="Shape 16"/>
          <p:cNvSpPr/>
          <p:nvPr/>
        </p:nvSpPr>
        <p:spPr>
          <a:xfrm>
            <a:off x="8618220" y="726948"/>
            <a:ext cx="82296" cy="82296"/>
          </a:xfrm>
          <a:prstGeom prst="ellipse">
            <a:avLst/>
          </a:prstGeom>
          <a:solidFill>
            <a:srgbClr val="7C4DBE"/>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8046720" cy="914400"/>
        </p:xfrm>
        <a:graphic>
          <a:graphicData uri="http://schemas.openxmlformats.org/drawingml/2006/table">
            <a:tbl>
              <a:tblPr/>
              <a:tblGrid>
                <a:gridCol w="1554480"/>
                <a:gridCol w="1371600"/>
                <a:gridCol w="2743200"/>
                <a:gridCol w="2377440"/>
              </a:tblGrid>
              <a:tr h="29260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Topology</a:t>
                      </a:r>
                      <a:endParaRPr lang="en-US" sz="120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5B2D8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Diameter</a:t>
                      </a:r>
                      <a:endParaRPr lang="en-US" sz="120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5B2D8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Fault tolerance</a:t>
                      </a:r>
                      <a:endParaRPr lang="en-US" sz="120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5B2D8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Scales?</a:t>
                      </a:r>
                      <a:endParaRPr lang="en-US" sz="120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5B2D8E"/>
                    </a:solidFill>
                  </a:tcPr>
                </a:tc>
              </a:tr>
              <a:tr h="292608">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Line</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n − 1</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None: one cut splits it</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r>
              <a:tr h="292608">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Ring</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FFFFFF"/>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⌊n/2⌋</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FFFFFF"/>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Survives 1 cut</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FFFFFF"/>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Poorly</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FFFFFF"/>
                    </a:solidFill>
                  </a:tcPr>
                </a:tc>
              </a:tr>
              <a:tr h="292608">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Star</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Hub = single point of failure</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Hub bottleneck</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r>
              <a:tr h="292608">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Binary tree</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FFFFFF"/>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 2 log₂ n</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FFFFFF"/>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None: any cut splits it</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FFFFFF"/>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No redundancy</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FFFFFF"/>
                    </a:solidFill>
                  </a:tcPr>
                </a:tc>
              </a:tr>
              <a:tr h="292608">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Fully connected</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Excellent</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n(n−1)/2 links: unrealistic</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r>
              <a:tr h="292608">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2-D mesh</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FFFFFF"/>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 2(√n − 1)</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FFFFFF"/>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Redundant paths</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FFFFFF"/>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Yes: degree capped at 4</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FFFFFF"/>
                    </a:solidFill>
                  </a:tcPr>
                </a:tc>
              </a:tr>
              <a:tr h="292608">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Hypercube</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log₂ n</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Good</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c>
                  <a:txBody>
                    <a:bodyPr/>
                    <a:lstStyle/>
                    <a:p>
                      <a:pPr indent="0" marL="0">
                        <a:buNone/>
                      </a:pPr>
                      <a:r>
                        <a:rPr lang="en-US" sz="1150" dirty="0">
                          <a:solidFill>
                            <a:srgbClr val="2B2140"/>
                          </a:solidFill>
                          <a:latin typeface="Calibri" pitchFamily="34" charset="0"/>
                          <a:ea typeface="Calibri" pitchFamily="34" charset="-122"/>
                          <a:cs typeface="Calibri" pitchFamily="34" charset="-120"/>
                        </a:rPr>
                        <a:t>Needs n = 2^k</a:t>
                      </a:r>
                      <a:endParaRPr lang="en-US" sz="11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5943600" cy="274320"/>
          </a:xfrm>
          <a:prstGeom prst="rect">
            <a:avLst/>
          </a:prstGeom>
          <a:noFill/>
          <a:ln/>
        </p:spPr>
        <p:txBody>
          <a:bodyPr wrap="square" lIns="0" tIns="0" rIns="0" bIns="0" rtlCol="0" anchor="ctr"/>
          <a:lstStyle/>
          <a:p>
            <a:pPr indent="0" marL="0">
              <a:buNone/>
            </a:pPr>
            <a:r>
              <a:rPr lang="en-US" sz="1200" b="1" spc="200" kern="0" dirty="0">
                <a:solidFill>
                  <a:srgbClr val="7C4DBE"/>
                </a:solidFill>
                <a:latin typeface="Calibri" pitchFamily="34" charset="0"/>
                <a:ea typeface="Calibri" pitchFamily="34" charset="-122"/>
                <a:cs typeface="Calibri" pitchFamily="34" charset="-120"/>
              </a:rPr>
              <a:t>TASK 1</a:t>
            </a:r>
            <a:endParaRPr lang="en-US" sz="1200" dirty="0"/>
          </a:p>
        </p:txBody>
      </p:sp>
      <p:sp>
        <p:nvSpPr>
          <p:cNvPr id="3" name="Text 1"/>
          <p:cNvSpPr/>
          <p:nvPr/>
        </p:nvSpPr>
        <p:spPr>
          <a:xfrm>
            <a:off x="548640" y="548640"/>
            <a:ext cx="8046720" cy="685800"/>
          </a:xfrm>
          <a:prstGeom prst="rect">
            <a:avLst/>
          </a:prstGeom>
          <a:noFill/>
          <a:ln/>
        </p:spPr>
        <p:txBody>
          <a:bodyPr wrap="square" lIns="0" tIns="0" rIns="0" bIns="0" rtlCol="0" anchor="ctr"/>
          <a:lstStyle/>
          <a:p>
            <a:pPr indent="0" marL="0">
              <a:buNone/>
            </a:pPr>
            <a:r>
              <a:rPr lang="en-US" sz="3000" b="1" dirty="0">
                <a:solidFill>
                  <a:srgbClr val="5B2D8E"/>
                </a:solidFill>
                <a:latin typeface="Calibri" pitchFamily="34" charset="0"/>
                <a:ea typeface="Calibri" pitchFamily="34" charset="-122"/>
                <a:cs typeface="Calibri" pitchFamily="34" charset="-120"/>
              </a:rPr>
              <a:t>Our choice: 2-D mesh + star overlay</a:t>
            </a:r>
            <a:endParaRPr lang="en-US" sz="3000" dirty="0"/>
          </a:p>
        </p:txBody>
      </p:sp>
      <p:sp>
        <p:nvSpPr>
          <p:cNvPr id="4" name="Shape 2"/>
          <p:cNvSpPr/>
          <p:nvPr/>
        </p:nvSpPr>
        <p:spPr>
          <a:xfrm>
            <a:off x="8275320" y="384048"/>
            <a:ext cx="384048" cy="0"/>
          </a:xfrm>
          <a:prstGeom prst="line">
            <a:avLst/>
          </a:prstGeom>
          <a:noFill/>
          <a:ln w="12700">
            <a:solidFill>
              <a:srgbClr val="D9CBEF"/>
            </a:solidFill>
            <a:prstDash val="solid"/>
          </a:ln>
        </p:spPr>
      </p:sp>
      <p:sp>
        <p:nvSpPr>
          <p:cNvPr id="5" name="Shape 3"/>
          <p:cNvSpPr/>
          <p:nvPr/>
        </p:nvSpPr>
        <p:spPr>
          <a:xfrm>
            <a:off x="8275320" y="384048"/>
            <a:ext cx="0" cy="384048"/>
          </a:xfrm>
          <a:prstGeom prst="line">
            <a:avLst/>
          </a:prstGeom>
          <a:noFill/>
          <a:ln w="12700">
            <a:solidFill>
              <a:srgbClr val="D9CBEF"/>
            </a:solidFill>
            <a:prstDash val="solid"/>
          </a:ln>
        </p:spPr>
      </p:sp>
      <p:sp>
        <p:nvSpPr>
          <p:cNvPr id="6" name="Shape 4"/>
          <p:cNvSpPr/>
          <p:nvPr/>
        </p:nvSpPr>
        <p:spPr>
          <a:xfrm>
            <a:off x="8275320" y="576072"/>
            <a:ext cx="384048" cy="0"/>
          </a:xfrm>
          <a:prstGeom prst="line">
            <a:avLst/>
          </a:prstGeom>
          <a:noFill/>
          <a:ln w="12700">
            <a:solidFill>
              <a:srgbClr val="D9CBEF"/>
            </a:solidFill>
            <a:prstDash val="solid"/>
          </a:ln>
        </p:spPr>
      </p:sp>
      <p:sp>
        <p:nvSpPr>
          <p:cNvPr id="7" name="Shape 5"/>
          <p:cNvSpPr/>
          <p:nvPr/>
        </p:nvSpPr>
        <p:spPr>
          <a:xfrm>
            <a:off x="8467344" y="384048"/>
            <a:ext cx="0" cy="384048"/>
          </a:xfrm>
          <a:prstGeom prst="line">
            <a:avLst/>
          </a:prstGeom>
          <a:noFill/>
          <a:ln w="12700">
            <a:solidFill>
              <a:srgbClr val="D9CBEF"/>
            </a:solidFill>
            <a:prstDash val="solid"/>
          </a:ln>
        </p:spPr>
      </p:sp>
      <p:sp>
        <p:nvSpPr>
          <p:cNvPr id="8" name="Shape 6"/>
          <p:cNvSpPr/>
          <p:nvPr/>
        </p:nvSpPr>
        <p:spPr>
          <a:xfrm>
            <a:off x="8275320" y="768096"/>
            <a:ext cx="384048" cy="0"/>
          </a:xfrm>
          <a:prstGeom prst="line">
            <a:avLst/>
          </a:prstGeom>
          <a:noFill/>
          <a:ln w="12700">
            <a:solidFill>
              <a:srgbClr val="D9CBEF"/>
            </a:solidFill>
            <a:prstDash val="solid"/>
          </a:ln>
        </p:spPr>
      </p:sp>
      <p:sp>
        <p:nvSpPr>
          <p:cNvPr id="9" name="Shape 7"/>
          <p:cNvSpPr/>
          <p:nvPr/>
        </p:nvSpPr>
        <p:spPr>
          <a:xfrm>
            <a:off x="8659368" y="384048"/>
            <a:ext cx="0" cy="384048"/>
          </a:xfrm>
          <a:prstGeom prst="line">
            <a:avLst/>
          </a:prstGeom>
          <a:noFill/>
          <a:ln w="12700">
            <a:solidFill>
              <a:srgbClr val="D9CBEF"/>
            </a:solidFill>
            <a:prstDash val="solid"/>
          </a:ln>
        </p:spPr>
      </p:sp>
      <p:sp>
        <p:nvSpPr>
          <p:cNvPr id="10" name="Shape 8"/>
          <p:cNvSpPr/>
          <p:nvPr/>
        </p:nvSpPr>
        <p:spPr>
          <a:xfrm>
            <a:off x="8234172" y="342900"/>
            <a:ext cx="82296" cy="82296"/>
          </a:xfrm>
          <a:prstGeom prst="ellipse">
            <a:avLst/>
          </a:prstGeom>
          <a:solidFill>
            <a:srgbClr val="7C4DBE"/>
          </a:solidFill>
          <a:ln/>
        </p:spPr>
      </p:sp>
      <p:sp>
        <p:nvSpPr>
          <p:cNvPr id="11" name="Shape 9"/>
          <p:cNvSpPr/>
          <p:nvPr/>
        </p:nvSpPr>
        <p:spPr>
          <a:xfrm>
            <a:off x="8234172" y="534924"/>
            <a:ext cx="82296" cy="82296"/>
          </a:xfrm>
          <a:prstGeom prst="ellipse">
            <a:avLst/>
          </a:prstGeom>
          <a:solidFill>
            <a:srgbClr val="7C4DBE"/>
          </a:solidFill>
          <a:ln/>
        </p:spPr>
      </p:sp>
      <p:sp>
        <p:nvSpPr>
          <p:cNvPr id="12" name="Shape 10"/>
          <p:cNvSpPr/>
          <p:nvPr/>
        </p:nvSpPr>
        <p:spPr>
          <a:xfrm>
            <a:off x="8234172" y="726948"/>
            <a:ext cx="82296" cy="82296"/>
          </a:xfrm>
          <a:prstGeom prst="ellipse">
            <a:avLst/>
          </a:prstGeom>
          <a:solidFill>
            <a:srgbClr val="7C4DBE"/>
          </a:solidFill>
          <a:ln/>
        </p:spPr>
      </p:sp>
      <p:sp>
        <p:nvSpPr>
          <p:cNvPr id="13" name="Shape 11"/>
          <p:cNvSpPr/>
          <p:nvPr/>
        </p:nvSpPr>
        <p:spPr>
          <a:xfrm>
            <a:off x="8426196" y="342900"/>
            <a:ext cx="82296" cy="82296"/>
          </a:xfrm>
          <a:prstGeom prst="ellipse">
            <a:avLst/>
          </a:prstGeom>
          <a:solidFill>
            <a:srgbClr val="7C4DBE"/>
          </a:solidFill>
          <a:ln/>
        </p:spPr>
      </p:sp>
      <p:sp>
        <p:nvSpPr>
          <p:cNvPr id="14" name="Shape 12"/>
          <p:cNvSpPr/>
          <p:nvPr/>
        </p:nvSpPr>
        <p:spPr>
          <a:xfrm>
            <a:off x="8426196" y="534924"/>
            <a:ext cx="82296" cy="82296"/>
          </a:xfrm>
          <a:prstGeom prst="ellipse">
            <a:avLst/>
          </a:prstGeom>
          <a:solidFill>
            <a:srgbClr val="5B2D8E"/>
          </a:solidFill>
          <a:ln/>
        </p:spPr>
      </p:sp>
      <p:sp>
        <p:nvSpPr>
          <p:cNvPr id="15" name="Shape 13"/>
          <p:cNvSpPr/>
          <p:nvPr/>
        </p:nvSpPr>
        <p:spPr>
          <a:xfrm>
            <a:off x="8426196" y="726948"/>
            <a:ext cx="82296" cy="82296"/>
          </a:xfrm>
          <a:prstGeom prst="ellipse">
            <a:avLst/>
          </a:prstGeom>
          <a:solidFill>
            <a:srgbClr val="7C4DBE"/>
          </a:solidFill>
          <a:ln/>
        </p:spPr>
      </p:sp>
      <p:sp>
        <p:nvSpPr>
          <p:cNvPr id="16" name="Shape 14"/>
          <p:cNvSpPr/>
          <p:nvPr/>
        </p:nvSpPr>
        <p:spPr>
          <a:xfrm>
            <a:off x="8618220" y="342900"/>
            <a:ext cx="82296" cy="82296"/>
          </a:xfrm>
          <a:prstGeom prst="ellipse">
            <a:avLst/>
          </a:prstGeom>
          <a:solidFill>
            <a:srgbClr val="7C4DBE"/>
          </a:solidFill>
          <a:ln/>
        </p:spPr>
      </p:sp>
      <p:sp>
        <p:nvSpPr>
          <p:cNvPr id="17" name="Shape 15"/>
          <p:cNvSpPr/>
          <p:nvPr/>
        </p:nvSpPr>
        <p:spPr>
          <a:xfrm>
            <a:off x="8618220" y="534924"/>
            <a:ext cx="82296" cy="82296"/>
          </a:xfrm>
          <a:prstGeom prst="ellipse">
            <a:avLst/>
          </a:prstGeom>
          <a:solidFill>
            <a:srgbClr val="7C4DBE"/>
          </a:solidFill>
          <a:ln/>
        </p:spPr>
      </p:sp>
      <p:sp>
        <p:nvSpPr>
          <p:cNvPr id="18" name="Shape 16"/>
          <p:cNvSpPr/>
          <p:nvPr/>
        </p:nvSpPr>
        <p:spPr>
          <a:xfrm>
            <a:off x="8618220" y="726948"/>
            <a:ext cx="82296" cy="82296"/>
          </a:xfrm>
          <a:prstGeom prst="ellipse">
            <a:avLst/>
          </a:prstGeom>
          <a:solidFill>
            <a:srgbClr val="7C4DBE"/>
          </a:solidFill>
          <a:ln/>
        </p:spPr>
      </p:sp>
      <p:sp>
        <p:nvSpPr>
          <p:cNvPr id="19" name="Text 17"/>
          <p:cNvSpPr/>
          <p:nvPr/>
        </p:nvSpPr>
        <p:spPr>
          <a:xfrm>
            <a:off x="548640" y="1645920"/>
            <a:ext cx="5120640" cy="3108960"/>
          </a:xfrm>
          <a:prstGeom prst="rect">
            <a:avLst/>
          </a:prstGeom>
          <a:noFill/>
          <a:ln/>
        </p:spPr>
        <p:txBody>
          <a:bodyPr wrap="square" lIns="0" tIns="0" rIns="0" bIns="0" rtlCol="0" anchor="t"/>
          <a:lstStyle/>
          <a:p>
            <a:pPr marL="152400" indent="-152400">
              <a:spcAft>
                <a:spcPts val="1400"/>
              </a:spcAft>
              <a:buSzPct val="100000"/>
              <a:buChar char="•"/>
            </a:pPr>
            <a:r>
              <a:rPr lang="en-US" sz="1800" dirty="0">
                <a:solidFill>
                  <a:srgbClr val="2B2140"/>
                </a:solidFill>
                <a:latin typeface="Calibri" pitchFamily="34" charset="0"/>
                <a:ea typeface="Calibri" pitchFamily="34" charset="-122"/>
                <a:cs typeface="Calibri" pitchFamily="34" charset="-120"/>
              </a:rPr>
              <a:t>Spec = Cartesian grid, neighbours-only radio range</a:t>
            </a:r>
            <a:endParaRPr lang="en-US" sz="1800" dirty="0"/>
          </a:p>
          <a:p>
            <a:pPr marL="152400" indent="-152400">
              <a:spcAft>
                <a:spcPts val="1400"/>
              </a:spcAft>
              <a:buSzPct val="100000"/>
              <a:buChar char="•"/>
            </a:pPr>
            <a:r>
              <a:rPr lang="en-US" sz="1800" dirty="0">
                <a:solidFill>
                  <a:srgbClr val="2B2140"/>
                </a:solidFill>
                <a:latin typeface="Calibri" pitchFamily="34" charset="0"/>
                <a:ea typeface="Calibri" pitchFamily="34" charset="-122"/>
                <a:cs typeface="Calibri" pitchFamily="34" charset="-120"/>
              </a:rPr>
              <a:t>Mesh: redundant paths, degree capped at 4</a:t>
            </a:r>
            <a:endParaRPr lang="en-US" sz="1800" dirty="0"/>
          </a:p>
          <a:p>
            <a:pPr marL="152400" indent="-152400">
              <a:spcAft>
                <a:spcPts val="1400"/>
              </a:spcAft>
              <a:buSzPct val="100000"/>
              <a:buChar char="•"/>
            </a:pPr>
            <a:r>
              <a:rPr lang="en-US" sz="1800" dirty="0">
                <a:solidFill>
                  <a:srgbClr val="2B2140"/>
                </a:solidFill>
                <a:latin typeface="Calibri" pitchFamily="34" charset="0"/>
                <a:ea typeface="Calibri" pitchFamily="34" charset="-122"/>
                <a:cs typeface="Calibri" pitchFamily="34" charset="-120"/>
              </a:rPr>
              <a:t>Star overlay: every node reaches the base station</a:t>
            </a:r>
            <a:endParaRPr lang="en-US" sz="1800" dirty="0"/>
          </a:p>
          <a:p>
            <a:pPr marL="152400" indent="-152400">
              <a:spcAft>
                <a:spcPts val="1400"/>
              </a:spcAft>
              <a:buSzPct val="100000"/>
              <a:buChar char="•"/>
            </a:pPr>
            <a:r>
              <a:rPr lang="en-US" sz="1800" dirty="0">
                <a:solidFill>
                  <a:srgbClr val="2B2140"/>
                </a:solidFill>
                <a:latin typeface="Calibri" pitchFamily="34" charset="0"/>
                <a:ea typeface="Calibri" pitchFamily="34" charset="-122"/>
                <a:cs typeface="Calibri" pitchFamily="34" charset="-120"/>
              </a:rPr>
              <a:t>Realistic for a wireless sensor network</a:t>
            </a:r>
            <a:endParaRPr lang="en-US" sz="1800" dirty="0"/>
          </a:p>
        </p:txBody>
      </p:sp>
      <p:sp>
        <p:nvSpPr>
          <p:cNvPr id="20" name="Shape 18"/>
          <p:cNvSpPr/>
          <p:nvPr/>
        </p:nvSpPr>
        <p:spPr>
          <a:xfrm>
            <a:off x="6400800" y="1828800"/>
            <a:ext cx="1645920" cy="0"/>
          </a:xfrm>
          <a:prstGeom prst="line">
            <a:avLst/>
          </a:prstGeom>
          <a:noFill/>
          <a:ln w="12700">
            <a:solidFill>
              <a:srgbClr val="D9CBEF"/>
            </a:solidFill>
            <a:prstDash val="solid"/>
          </a:ln>
        </p:spPr>
      </p:sp>
      <p:sp>
        <p:nvSpPr>
          <p:cNvPr id="21" name="Shape 19"/>
          <p:cNvSpPr/>
          <p:nvPr/>
        </p:nvSpPr>
        <p:spPr>
          <a:xfrm>
            <a:off x="6400800" y="1828800"/>
            <a:ext cx="0" cy="1645920"/>
          </a:xfrm>
          <a:prstGeom prst="line">
            <a:avLst/>
          </a:prstGeom>
          <a:noFill/>
          <a:ln w="12700">
            <a:solidFill>
              <a:srgbClr val="D9CBEF"/>
            </a:solidFill>
            <a:prstDash val="solid"/>
          </a:ln>
        </p:spPr>
      </p:sp>
      <p:sp>
        <p:nvSpPr>
          <p:cNvPr id="22" name="Shape 20"/>
          <p:cNvSpPr/>
          <p:nvPr/>
        </p:nvSpPr>
        <p:spPr>
          <a:xfrm>
            <a:off x="6400800" y="2651760"/>
            <a:ext cx="1645920" cy="0"/>
          </a:xfrm>
          <a:prstGeom prst="line">
            <a:avLst/>
          </a:prstGeom>
          <a:noFill/>
          <a:ln w="12700">
            <a:solidFill>
              <a:srgbClr val="D9CBEF"/>
            </a:solidFill>
            <a:prstDash val="solid"/>
          </a:ln>
        </p:spPr>
      </p:sp>
      <p:sp>
        <p:nvSpPr>
          <p:cNvPr id="23" name="Shape 21"/>
          <p:cNvSpPr/>
          <p:nvPr/>
        </p:nvSpPr>
        <p:spPr>
          <a:xfrm>
            <a:off x="7223760" y="1828800"/>
            <a:ext cx="0" cy="1645920"/>
          </a:xfrm>
          <a:prstGeom prst="line">
            <a:avLst/>
          </a:prstGeom>
          <a:noFill/>
          <a:ln w="12700">
            <a:solidFill>
              <a:srgbClr val="D9CBEF"/>
            </a:solidFill>
            <a:prstDash val="solid"/>
          </a:ln>
        </p:spPr>
      </p:sp>
      <p:sp>
        <p:nvSpPr>
          <p:cNvPr id="24" name="Shape 22"/>
          <p:cNvSpPr/>
          <p:nvPr/>
        </p:nvSpPr>
        <p:spPr>
          <a:xfrm>
            <a:off x="6400800" y="3474720"/>
            <a:ext cx="1645920" cy="0"/>
          </a:xfrm>
          <a:prstGeom prst="line">
            <a:avLst/>
          </a:prstGeom>
          <a:noFill/>
          <a:ln w="12700">
            <a:solidFill>
              <a:srgbClr val="D9CBEF"/>
            </a:solidFill>
            <a:prstDash val="solid"/>
          </a:ln>
        </p:spPr>
      </p:sp>
      <p:sp>
        <p:nvSpPr>
          <p:cNvPr id="25" name="Shape 23"/>
          <p:cNvSpPr/>
          <p:nvPr/>
        </p:nvSpPr>
        <p:spPr>
          <a:xfrm>
            <a:off x="8046720" y="1828800"/>
            <a:ext cx="0" cy="1645920"/>
          </a:xfrm>
          <a:prstGeom prst="line">
            <a:avLst/>
          </a:prstGeom>
          <a:noFill/>
          <a:ln w="12700">
            <a:solidFill>
              <a:srgbClr val="D9CBEF"/>
            </a:solidFill>
            <a:prstDash val="solid"/>
          </a:ln>
        </p:spPr>
      </p:sp>
      <p:sp>
        <p:nvSpPr>
          <p:cNvPr id="26" name="Shape 24"/>
          <p:cNvSpPr/>
          <p:nvPr/>
        </p:nvSpPr>
        <p:spPr>
          <a:xfrm>
            <a:off x="6359652" y="1787652"/>
            <a:ext cx="82296" cy="82296"/>
          </a:xfrm>
          <a:prstGeom prst="ellipse">
            <a:avLst/>
          </a:prstGeom>
          <a:solidFill>
            <a:srgbClr val="7C4DBE"/>
          </a:solidFill>
          <a:ln/>
        </p:spPr>
      </p:sp>
      <p:sp>
        <p:nvSpPr>
          <p:cNvPr id="27" name="Shape 25"/>
          <p:cNvSpPr/>
          <p:nvPr/>
        </p:nvSpPr>
        <p:spPr>
          <a:xfrm>
            <a:off x="6359652" y="2610612"/>
            <a:ext cx="82296" cy="82296"/>
          </a:xfrm>
          <a:prstGeom prst="ellipse">
            <a:avLst/>
          </a:prstGeom>
          <a:solidFill>
            <a:srgbClr val="7C4DBE"/>
          </a:solidFill>
          <a:ln/>
        </p:spPr>
      </p:sp>
      <p:sp>
        <p:nvSpPr>
          <p:cNvPr id="28" name="Shape 26"/>
          <p:cNvSpPr/>
          <p:nvPr/>
        </p:nvSpPr>
        <p:spPr>
          <a:xfrm>
            <a:off x="6359652" y="3433572"/>
            <a:ext cx="82296" cy="82296"/>
          </a:xfrm>
          <a:prstGeom prst="ellipse">
            <a:avLst/>
          </a:prstGeom>
          <a:solidFill>
            <a:srgbClr val="7C4DBE"/>
          </a:solidFill>
          <a:ln/>
        </p:spPr>
      </p:sp>
      <p:sp>
        <p:nvSpPr>
          <p:cNvPr id="29" name="Shape 27"/>
          <p:cNvSpPr/>
          <p:nvPr/>
        </p:nvSpPr>
        <p:spPr>
          <a:xfrm>
            <a:off x="7182612" y="1787652"/>
            <a:ext cx="82296" cy="82296"/>
          </a:xfrm>
          <a:prstGeom prst="ellipse">
            <a:avLst/>
          </a:prstGeom>
          <a:solidFill>
            <a:srgbClr val="7C4DBE"/>
          </a:solidFill>
          <a:ln/>
        </p:spPr>
      </p:sp>
      <p:sp>
        <p:nvSpPr>
          <p:cNvPr id="30" name="Shape 28"/>
          <p:cNvSpPr/>
          <p:nvPr/>
        </p:nvSpPr>
        <p:spPr>
          <a:xfrm>
            <a:off x="7182612" y="2610612"/>
            <a:ext cx="82296" cy="82296"/>
          </a:xfrm>
          <a:prstGeom prst="ellipse">
            <a:avLst/>
          </a:prstGeom>
          <a:solidFill>
            <a:srgbClr val="5B2D8E"/>
          </a:solidFill>
          <a:ln/>
        </p:spPr>
      </p:sp>
      <p:sp>
        <p:nvSpPr>
          <p:cNvPr id="31" name="Shape 29"/>
          <p:cNvSpPr/>
          <p:nvPr/>
        </p:nvSpPr>
        <p:spPr>
          <a:xfrm>
            <a:off x="7182612" y="3433572"/>
            <a:ext cx="82296" cy="82296"/>
          </a:xfrm>
          <a:prstGeom prst="ellipse">
            <a:avLst/>
          </a:prstGeom>
          <a:solidFill>
            <a:srgbClr val="7C4DBE"/>
          </a:solidFill>
          <a:ln/>
        </p:spPr>
      </p:sp>
      <p:sp>
        <p:nvSpPr>
          <p:cNvPr id="32" name="Shape 30"/>
          <p:cNvSpPr/>
          <p:nvPr/>
        </p:nvSpPr>
        <p:spPr>
          <a:xfrm>
            <a:off x="8005572" y="1787652"/>
            <a:ext cx="82296" cy="82296"/>
          </a:xfrm>
          <a:prstGeom prst="ellipse">
            <a:avLst/>
          </a:prstGeom>
          <a:solidFill>
            <a:srgbClr val="7C4DBE"/>
          </a:solidFill>
          <a:ln/>
        </p:spPr>
      </p:sp>
      <p:sp>
        <p:nvSpPr>
          <p:cNvPr id="33" name="Shape 31"/>
          <p:cNvSpPr/>
          <p:nvPr/>
        </p:nvSpPr>
        <p:spPr>
          <a:xfrm>
            <a:off x="8005572" y="2610612"/>
            <a:ext cx="82296" cy="82296"/>
          </a:xfrm>
          <a:prstGeom prst="ellipse">
            <a:avLst/>
          </a:prstGeom>
          <a:solidFill>
            <a:srgbClr val="7C4DBE"/>
          </a:solidFill>
          <a:ln/>
        </p:spPr>
      </p:sp>
      <p:sp>
        <p:nvSpPr>
          <p:cNvPr id="34" name="Shape 32"/>
          <p:cNvSpPr/>
          <p:nvPr/>
        </p:nvSpPr>
        <p:spPr>
          <a:xfrm>
            <a:off x="8005572" y="3433572"/>
            <a:ext cx="82296" cy="82296"/>
          </a:xfrm>
          <a:prstGeom prst="ellipse">
            <a:avLst/>
          </a:prstGeom>
          <a:solidFill>
            <a:srgbClr val="7C4DBE"/>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5943600" cy="274320"/>
          </a:xfrm>
          <a:prstGeom prst="rect">
            <a:avLst/>
          </a:prstGeom>
          <a:noFill/>
          <a:ln/>
        </p:spPr>
        <p:txBody>
          <a:bodyPr wrap="square" lIns="0" tIns="0" rIns="0" bIns="0" rtlCol="0" anchor="ctr"/>
          <a:lstStyle/>
          <a:p>
            <a:pPr indent="0" marL="0">
              <a:buNone/>
            </a:pPr>
            <a:r>
              <a:rPr lang="en-US" sz="1200" b="1" spc="200" kern="0" dirty="0">
                <a:solidFill>
                  <a:srgbClr val="7C4DBE"/>
                </a:solidFill>
                <a:latin typeface="Calibri" pitchFamily="34" charset="0"/>
                <a:ea typeface="Calibri" pitchFamily="34" charset="-122"/>
                <a:cs typeface="Calibri" pitchFamily="34" charset="-120"/>
              </a:rPr>
              <a:t>TASK 2</a:t>
            </a:r>
            <a:endParaRPr lang="en-US" sz="1200" dirty="0"/>
          </a:p>
        </p:txBody>
      </p:sp>
      <p:sp>
        <p:nvSpPr>
          <p:cNvPr id="3" name="Text 1"/>
          <p:cNvSpPr/>
          <p:nvPr/>
        </p:nvSpPr>
        <p:spPr>
          <a:xfrm>
            <a:off x="548640" y="548640"/>
            <a:ext cx="8046720" cy="685800"/>
          </a:xfrm>
          <a:prstGeom prst="rect">
            <a:avLst/>
          </a:prstGeom>
          <a:noFill/>
          <a:ln/>
        </p:spPr>
        <p:txBody>
          <a:bodyPr wrap="square" lIns="0" tIns="0" rIns="0" bIns="0" rtlCol="0" anchor="ctr"/>
          <a:lstStyle/>
          <a:p>
            <a:pPr indent="0" marL="0">
              <a:buNone/>
            </a:pPr>
            <a:r>
              <a:rPr lang="en-US" sz="3000" b="1" dirty="0">
                <a:solidFill>
                  <a:srgbClr val="5B2D8E"/>
                </a:solidFill>
                <a:latin typeface="Calibri" pitchFamily="34" charset="0"/>
                <a:ea typeface="Calibri" pitchFamily="34" charset="-122"/>
                <a:cs typeface="Calibri" pitchFamily="34" charset="-120"/>
              </a:rPr>
              <a:t>MPI architecture</a:t>
            </a:r>
            <a:endParaRPr lang="en-US" sz="3000" dirty="0"/>
          </a:p>
        </p:txBody>
      </p:sp>
      <p:sp>
        <p:nvSpPr>
          <p:cNvPr id="4" name="Shape 2"/>
          <p:cNvSpPr/>
          <p:nvPr/>
        </p:nvSpPr>
        <p:spPr>
          <a:xfrm>
            <a:off x="8275320" y="384048"/>
            <a:ext cx="384048" cy="0"/>
          </a:xfrm>
          <a:prstGeom prst="line">
            <a:avLst/>
          </a:prstGeom>
          <a:noFill/>
          <a:ln w="12700">
            <a:solidFill>
              <a:srgbClr val="D9CBEF"/>
            </a:solidFill>
            <a:prstDash val="solid"/>
          </a:ln>
        </p:spPr>
      </p:sp>
      <p:sp>
        <p:nvSpPr>
          <p:cNvPr id="5" name="Shape 3"/>
          <p:cNvSpPr/>
          <p:nvPr/>
        </p:nvSpPr>
        <p:spPr>
          <a:xfrm>
            <a:off x="8275320" y="384048"/>
            <a:ext cx="0" cy="384048"/>
          </a:xfrm>
          <a:prstGeom prst="line">
            <a:avLst/>
          </a:prstGeom>
          <a:noFill/>
          <a:ln w="12700">
            <a:solidFill>
              <a:srgbClr val="D9CBEF"/>
            </a:solidFill>
            <a:prstDash val="solid"/>
          </a:ln>
        </p:spPr>
      </p:sp>
      <p:sp>
        <p:nvSpPr>
          <p:cNvPr id="6" name="Shape 4"/>
          <p:cNvSpPr/>
          <p:nvPr/>
        </p:nvSpPr>
        <p:spPr>
          <a:xfrm>
            <a:off x="8275320" y="576072"/>
            <a:ext cx="384048" cy="0"/>
          </a:xfrm>
          <a:prstGeom prst="line">
            <a:avLst/>
          </a:prstGeom>
          <a:noFill/>
          <a:ln w="12700">
            <a:solidFill>
              <a:srgbClr val="D9CBEF"/>
            </a:solidFill>
            <a:prstDash val="solid"/>
          </a:ln>
        </p:spPr>
      </p:sp>
      <p:sp>
        <p:nvSpPr>
          <p:cNvPr id="7" name="Shape 5"/>
          <p:cNvSpPr/>
          <p:nvPr/>
        </p:nvSpPr>
        <p:spPr>
          <a:xfrm>
            <a:off x="8467344" y="384048"/>
            <a:ext cx="0" cy="384048"/>
          </a:xfrm>
          <a:prstGeom prst="line">
            <a:avLst/>
          </a:prstGeom>
          <a:noFill/>
          <a:ln w="12700">
            <a:solidFill>
              <a:srgbClr val="D9CBEF"/>
            </a:solidFill>
            <a:prstDash val="solid"/>
          </a:ln>
        </p:spPr>
      </p:sp>
      <p:sp>
        <p:nvSpPr>
          <p:cNvPr id="8" name="Shape 6"/>
          <p:cNvSpPr/>
          <p:nvPr/>
        </p:nvSpPr>
        <p:spPr>
          <a:xfrm>
            <a:off x="8275320" y="768096"/>
            <a:ext cx="384048" cy="0"/>
          </a:xfrm>
          <a:prstGeom prst="line">
            <a:avLst/>
          </a:prstGeom>
          <a:noFill/>
          <a:ln w="12700">
            <a:solidFill>
              <a:srgbClr val="D9CBEF"/>
            </a:solidFill>
            <a:prstDash val="solid"/>
          </a:ln>
        </p:spPr>
      </p:sp>
      <p:sp>
        <p:nvSpPr>
          <p:cNvPr id="9" name="Shape 7"/>
          <p:cNvSpPr/>
          <p:nvPr/>
        </p:nvSpPr>
        <p:spPr>
          <a:xfrm>
            <a:off x="8659368" y="384048"/>
            <a:ext cx="0" cy="384048"/>
          </a:xfrm>
          <a:prstGeom prst="line">
            <a:avLst/>
          </a:prstGeom>
          <a:noFill/>
          <a:ln w="12700">
            <a:solidFill>
              <a:srgbClr val="D9CBEF"/>
            </a:solidFill>
            <a:prstDash val="solid"/>
          </a:ln>
        </p:spPr>
      </p:sp>
      <p:sp>
        <p:nvSpPr>
          <p:cNvPr id="10" name="Shape 8"/>
          <p:cNvSpPr/>
          <p:nvPr/>
        </p:nvSpPr>
        <p:spPr>
          <a:xfrm>
            <a:off x="8234172" y="342900"/>
            <a:ext cx="82296" cy="82296"/>
          </a:xfrm>
          <a:prstGeom prst="ellipse">
            <a:avLst/>
          </a:prstGeom>
          <a:solidFill>
            <a:srgbClr val="7C4DBE"/>
          </a:solidFill>
          <a:ln/>
        </p:spPr>
      </p:sp>
      <p:sp>
        <p:nvSpPr>
          <p:cNvPr id="11" name="Shape 9"/>
          <p:cNvSpPr/>
          <p:nvPr/>
        </p:nvSpPr>
        <p:spPr>
          <a:xfrm>
            <a:off x="8234172" y="534924"/>
            <a:ext cx="82296" cy="82296"/>
          </a:xfrm>
          <a:prstGeom prst="ellipse">
            <a:avLst/>
          </a:prstGeom>
          <a:solidFill>
            <a:srgbClr val="7C4DBE"/>
          </a:solidFill>
          <a:ln/>
        </p:spPr>
      </p:sp>
      <p:sp>
        <p:nvSpPr>
          <p:cNvPr id="12" name="Shape 10"/>
          <p:cNvSpPr/>
          <p:nvPr/>
        </p:nvSpPr>
        <p:spPr>
          <a:xfrm>
            <a:off x="8234172" y="726948"/>
            <a:ext cx="82296" cy="82296"/>
          </a:xfrm>
          <a:prstGeom prst="ellipse">
            <a:avLst/>
          </a:prstGeom>
          <a:solidFill>
            <a:srgbClr val="7C4DBE"/>
          </a:solidFill>
          <a:ln/>
        </p:spPr>
      </p:sp>
      <p:sp>
        <p:nvSpPr>
          <p:cNvPr id="13" name="Shape 11"/>
          <p:cNvSpPr/>
          <p:nvPr/>
        </p:nvSpPr>
        <p:spPr>
          <a:xfrm>
            <a:off x="8426196" y="342900"/>
            <a:ext cx="82296" cy="82296"/>
          </a:xfrm>
          <a:prstGeom prst="ellipse">
            <a:avLst/>
          </a:prstGeom>
          <a:solidFill>
            <a:srgbClr val="7C4DBE"/>
          </a:solidFill>
          <a:ln/>
        </p:spPr>
      </p:sp>
      <p:sp>
        <p:nvSpPr>
          <p:cNvPr id="14" name="Shape 12"/>
          <p:cNvSpPr/>
          <p:nvPr/>
        </p:nvSpPr>
        <p:spPr>
          <a:xfrm>
            <a:off x="8426196" y="534924"/>
            <a:ext cx="82296" cy="82296"/>
          </a:xfrm>
          <a:prstGeom prst="ellipse">
            <a:avLst/>
          </a:prstGeom>
          <a:solidFill>
            <a:srgbClr val="5B2D8E"/>
          </a:solidFill>
          <a:ln/>
        </p:spPr>
      </p:sp>
      <p:sp>
        <p:nvSpPr>
          <p:cNvPr id="15" name="Shape 13"/>
          <p:cNvSpPr/>
          <p:nvPr/>
        </p:nvSpPr>
        <p:spPr>
          <a:xfrm>
            <a:off x="8426196" y="726948"/>
            <a:ext cx="82296" cy="82296"/>
          </a:xfrm>
          <a:prstGeom prst="ellipse">
            <a:avLst/>
          </a:prstGeom>
          <a:solidFill>
            <a:srgbClr val="7C4DBE"/>
          </a:solidFill>
          <a:ln/>
        </p:spPr>
      </p:sp>
      <p:sp>
        <p:nvSpPr>
          <p:cNvPr id="16" name="Shape 14"/>
          <p:cNvSpPr/>
          <p:nvPr/>
        </p:nvSpPr>
        <p:spPr>
          <a:xfrm>
            <a:off x="8618220" y="342900"/>
            <a:ext cx="82296" cy="82296"/>
          </a:xfrm>
          <a:prstGeom prst="ellipse">
            <a:avLst/>
          </a:prstGeom>
          <a:solidFill>
            <a:srgbClr val="7C4DBE"/>
          </a:solidFill>
          <a:ln/>
        </p:spPr>
      </p:sp>
      <p:sp>
        <p:nvSpPr>
          <p:cNvPr id="17" name="Shape 15"/>
          <p:cNvSpPr/>
          <p:nvPr/>
        </p:nvSpPr>
        <p:spPr>
          <a:xfrm>
            <a:off x="8618220" y="534924"/>
            <a:ext cx="82296" cy="82296"/>
          </a:xfrm>
          <a:prstGeom prst="ellipse">
            <a:avLst/>
          </a:prstGeom>
          <a:solidFill>
            <a:srgbClr val="7C4DBE"/>
          </a:solidFill>
          <a:ln/>
        </p:spPr>
      </p:sp>
      <p:sp>
        <p:nvSpPr>
          <p:cNvPr id="18" name="Shape 16"/>
          <p:cNvSpPr/>
          <p:nvPr/>
        </p:nvSpPr>
        <p:spPr>
          <a:xfrm>
            <a:off x="8618220" y="726948"/>
            <a:ext cx="82296" cy="82296"/>
          </a:xfrm>
          <a:prstGeom prst="ellipse">
            <a:avLst/>
          </a:prstGeom>
          <a:solidFill>
            <a:srgbClr val="7C4DBE"/>
          </a:solidFill>
          <a:ln/>
        </p:spPr>
      </p:sp>
      <p:sp>
        <p:nvSpPr>
          <p:cNvPr id="19" name="Text 17"/>
          <p:cNvSpPr/>
          <p:nvPr/>
        </p:nvSpPr>
        <p:spPr>
          <a:xfrm>
            <a:off x="548640" y="1508760"/>
            <a:ext cx="4206240" cy="3108960"/>
          </a:xfrm>
          <a:prstGeom prst="rect">
            <a:avLst/>
          </a:prstGeom>
          <a:noFill/>
          <a:ln/>
        </p:spPr>
        <p:txBody>
          <a:bodyPr wrap="square" lIns="0" tIns="0" rIns="0" bIns="0" rtlCol="0" anchor="t"/>
          <a:lstStyle/>
          <a:p>
            <a:pPr marL="152400" indent="-152400">
              <a:spcAft>
                <a:spcPts val="1000"/>
              </a:spcAft>
              <a:buSzPct val="100000"/>
              <a:buChar char="•"/>
            </a:pPr>
            <a:r>
              <a:rPr lang="en-US" sz="1500" dirty="0">
                <a:solidFill>
                  <a:srgbClr val="2B2140"/>
                </a:solidFill>
                <a:latin typeface="Calibri" pitchFamily="34" charset="0"/>
                <a:ea typeface="Calibri" pitchFamily="34" charset="-122"/>
                <a:cs typeface="Calibri" pitchFamily="34" charset="-120"/>
              </a:rPr>
              <a:t>1 charging node = 1 MPI process (MPI_Cart_create grid)</a:t>
            </a:r>
            <a:endParaRPr lang="en-US" sz="1500" dirty="0"/>
          </a:p>
          <a:p>
            <a:pPr marL="152400" indent="-152400">
              <a:spcAft>
                <a:spcPts val="1000"/>
              </a:spcAft>
              <a:buSzPct val="100000"/>
              <a:buChar char="•"/>
            </a:pPr>
            <a:r>
              <a:rPr lang="en-US" sz="1500" dirty="0">
                <a:solidFill>
                  <a:srgbClr val="2B2140"/>
                </a:solidFill>
                <a:latin typeface="Calibri" pitchFamily="34" charset="0"/>
                <a:ea typeface="Calibri" pitchFamily="34" charset="-122"/>
                <a:cs typeface="Calibri" pitchFamily="34" charset="-120"/>
              </a:rPr>
              <a:t>Neighbours via MPI_Cart_shift</a:t>
            </a:r>
            <a:endParaRPr lang="en-US" sz="1500" dirty="0"/>
          </a:p>
          <a:p>
            <a:pPr marL="152400" indent="-152400">
              <a:spcAft>
                <a:spcPts val="1000"/>
              </a:spcAft>
              <a:buSzPct val="100000"/>
              <a:buChar char="•"/>
            </a:pPr>
            <a:r>
              <a:rPr lang="en-US" sz="1500" dirty="0">
                <a:solidFill>
                  <a:srgbClr val="2B2140"/>
                </a:solidFill>
                <a:latin typeface="Calibri" pitchFamily="34" charset="0"/>
                <a:ea typeface="Calibri" pitchFamily="34" charset="-122"/>
                <a:cs typeface="Calibri" pitchFamily="34" charset="-120"/>
              </a:rPr>
              <a:t>Base station = dedicated rank, global table, Manhattan search</a:t>
            </a:r>
            <a:endParaRPr lang="en-US" sz="1500" dirty="0"/>
          </a:p>
          <a:p>
            <a:pPr marL="152400" indent="-152400">
              <a:spcAft>
                <a:spcPts val="1000"/>
              </a:spcAft>
              <a:buSzPct val="100000"/>
              <a:buChar char="•"/>
            </a:pPr>
            <a:r>
              <a:rPr lang="en-US" sz="1500" dirty="0">
                <a:solidFill>
                  <a:srgbClr val="2B2140"/>
                </a:solidFill>
                <a:latin typeface="Calibri" pitchFamily="34" charset="0"/>
                <a:ea typeface="Calibri" pitchFamily="34" charset="-122"/>
                <a:cs typeface="Calibri" pitchFamily="34" charset="-120"/>
              </a:rPr>
              <a:t>Ports = POSIX threads per node, mutex on shared state</a:t>
            </a:r>
            <a:endParaRPr lang="en-US" sz="1500" dirty="0"/>
          </a:p>
          <a:p>
            <a:pPr marL="152400" indent="-152400">
              <a:spcAft>
                <a:spcPts val="1000"/>
              </a:spcAft>
              <a:buSzPct val="100000"/>
              <a:buChar char="•"/>
            </a:pPr>
            <a:r>
              <a:rPr lang="en-US" sz="1500" dirty="0">
                <a:solidFill>
                  <a:srgbClr val="2B2140"/>
                </a:solidFill>
                <a:latin typeface="Calibri" pitchFamily="34" charset="0"/>
                <a:ea typeface="Calibri" pitchFamily="34" charset="-122"/>
                <a:cs typeface="Calibri" pitchFamily="34" charset="-120"/>
              </a:rPr>
              <a:t>Shared memory within machines + message passing between</a:t>
            </a:r>
            <a:endParaRPr lang="en-US" sz="1500" dirty="0"/>
          </a:p>
        </p:txBody>
      </p:sp>
      <p:sp>
        <p:nvSpPr>
          <p:cNvPr id="20" name="Shape 18"/>
          <p:cNvSpPr/>
          <p:nvPr/>
        </p:nvSpPr>
        <p:spPr>
          <a:xfrm>
            <a:off x="5029200" y="1508760"/>
            <a:ext cx="3566160" cy="3017520"/>
          </a:xfrm>
          <a:prstGeom prst="roundRect">
            <a:avLst>
              <a:gd name="adj" fmla="val 2424"/>
            </a:avLst>
          </a:prstGeom>
          <a:solidFill>
            <a:srgbClr val="EFE9F8"/>
          </a:solidFill>
          <a:ln w="12700">
            <a:solidFill>
              <a:srgbClr val="D9CBEF"/>
            </a:solidFill>
            <a:prstDash val="solid"/>
          </a:ln>
        </p:spPr>
      </p:sp>
      <p:sp>
        <p:nvSpPr>
          <p:cNvPr id="21" name="Text 19"/>
          <p:cNvSpPr/>
          <p:nvPr/>
        </p:nvSpPr>
        <p:spPr>
          <a:xfrm>
            <a:off x="5029200" y="1508760"/>
            <a:ext cx="3566160" cy="3017520"/>
          </a:xfrm>
          <a:prstGeom prst="rect">
            <a:avLst/>
          </a:prstGeom>
          <a:noFill/>
          <a:ln/>
        </p:spPr>
        <p:txBody>
          <a:bodyPr wrap="square" rtlCol="0" anchor="ctr"/>
          <a:lstStyle/>
          <a:p>
            <a:pPr algn="ctr" indent="0" marL="0">
              <a:buNone/>
            </a:pPr>
            <a:r>
              <a:rPr lang="en-US" sz="1300" i="1" dirty="0">
                <a:solidFill>
                  <a:srgbClr val="7C4DBE"/>
                </a:solidFill>
                <a:latin typeface="Calibri" pitchFamily="34" charset="0"/>
                <a:ea typeface="Calibri" pitchFamily="34" charset="-122"/>
                <a:cs typeface="Calibri" pitchFamily="34" charset="-120"/>
              </a:rPr>
              <a:t>Class diagram</a:t>
            </a:r>
            <a:endParaRPr lang="en-US" sz="1300" dirty="0"/>
          </a:p>
          <a:p>
            <a:pPr algn="ctr" indent="0" marL="0">
              <a:buNone/>
            </a:pPr>
            <a:r>
              <a:rPr lang="en-US" sz="1300" i="1" dirty="0">
                <a:solidFill>
                  <a:srgbClr val="7C4DBE"/>
                </a:solidFill>
                <a:latin typeface="Calibri" pitchFamily="34" charset="0"/>
                <a:ea typeface="Calibri" pitchFamily="34" charset="-122"/>
                <a:cs typeface="Calibri" pitchFamily="34" charset="-120"/>
              </a:rPr>
              <a:t>(insert from draw.io)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5943600" cy="274320"/>
          </a:xfrm>
          <a:prstGeom prst="rect">
            <a:avLst/>
          </a:prstGeom>
          <a:noFill/>
          <a:ln/>
        </p:spPr>
        <p:txBody>
          <a:bodyPr wrap="square" lIns="0" tIns="0" rIns="0" bIns="0" rtlCol="0" anchor="ctr"/>
          <a:lstStyle/>
          <a:p>
            <a:pPr indent="0" marL="0">
              <a:buNone/>
            </a:pPr>
            <a:r>
              <a:rPr lang="en-US" sz="1200" b="1" spc="200" kern="0" dirty="0">
                <a:solidFill>
                  <a:srgbClr val="7C4DBE"/>
                </a:solidFill>
                <a:latin typeface="Calibri" pitchFamily="34" charset="0"/>
                <a:ea typeface="Calibri" pitchFamily="34" charset="-122"/>
                <a:cs typeface="Calibri" pitchFamily="34" charset="-120"/>
              </a:rPr>
              <a:t>TASK 2</a:t>
            </a:r>
            <a:endParaRPr lang="en-US" sz="1200" dirty="0"/>
          </a:p>
        </p:txBody>
      </p:sp>
      <p:sp>
        <p:nvSpPr>
          <p:cNvPr id="3" name="Text 1"/>
          <p:cNvSpPr/>
          <p:nvPr/>
        </p:nvSpPr>
        <p:spPr>
          <a:xfrm>
            <a:off x="548640" y="548640"/>
            <a:ext cx="8046720" cy="685800"/>
          </a:xfrm>
          <a:prstGeom prst="rect">
            <a:avLst/>
          </a:prstGeom>
          <a:noFill/>
          <a:ln/>
        </p:spPr>
        <p:txBody>
          <a:bodyPr wrap="square" lIns="0" tIns="0" rIns="0" bIns="0" rtlCol="0" anchor="ctr"/>
          <a:lstStyle/>
          <a:p>
            <a:pPr indent="0" marL="0">
              <a:buNone/>
            </a:pPr>
            <a:r>
              <a:rPr lang="en-US" sz="3000" b="1" dirty="0">
                <a:solidFill>
                  <a:srgbClr val="5B2D8E"/>
                </a:solidFill>
                <a:latin typeface="Calibri" pitchFamily="34" charset="0"/>
                <a:ea typeface="Calibri" pitchFamily="34" charset="-122"/>
                <a:cs typeface="Calibri" pitchFamily="34" charset="-120"/>
              </a:rPr>
              <a:t>Deployment: machines, cores, bandwidth</a:t>
            </a:r>
            <a:endParaRPr lang="en-US" sz="3000" dirty="0"/>
          </a:p>
        </p:txBody>
      </p:sp>
      <p:sp>
        <p:nvSpPr>
          <p:cNvPr id="4" name="Shape 2"/>
          <p:cNvSpPr/>
          <p:nvPr/>
        </p:nvSpPr>
        <p:spPr>
          <a:xfrm>
            <a:off x="8275320" y="384048"/>
            <a:ext cx="384048" cy="0"/>
          </a:xfrm>
          <a:prstGeom prst="line">
            <a:avLst/>
          </a:prstGeom>
          <a:noFill/>
          <a:ln w="12700">
            <a:solidFill>
              <a:srgbClr val="D9CBEF"/>
            </a:solidFill>
            <a:prstDash val="solid"/>
          </a:ln>
        </p:spPr>
      </p:sp>
      <p:sp>
        <p:nvSpPr>
          <p:cNvPr id="5" name="Shape 3"/>
          <p:cNvSpPr/>
          <p:nvPr/>
        </p:nvSpPr>
        <p:spPr>
          <a:xfrm>
            <a:off x="8275320" y="384048"/>
            <a:ext cx="0" cy="384048"/>
          </a:xfrm>
          <a:prstGeom prst="line">
            <a:avLst/>
          </a:prstGeom>
          <a:noFill/>
          <a:ln w="12700">
            <a:solidFill>
              <a:srgbClr val="D9CBEF"/>
            </a:solidFill>
            <a:prstDash val="solid"/>
          </a:ln>
        </p:spPr>
      </p:sp>
      <p:sp>
        <p:nvSpPr>
          <p:cNvPr id="6" name="Shape 4"/>
          <p:cNvSpPr/>
          <p:nvPr/>
        </p:nvSpPr>
        <p:spPr>
          <a:xfrm>
            <a:off x="8275320" y="576072"/>
            <a:ext cx="384048" cy="0"/>
          </a:xfrm>
          <a:prstGeom prst="line">
            <a:avLst/>
          </a:prstGeom>
          <a:noFill/>
          <a:ln w="12700">
            <a:solidFill>
              <a:srgbClr val="D9CBEF"/>
            </a:solidFill>
            <a:prstDash val="solid"/>
          </a:ln>
        </p:spPr>
      </p:sp>
      <p:sp>
        <p:nvSpPr>
          <p:cNvPr id="7" name="Shape 5"/>
          <p:cNvSpPr/>
          <p:nvPr/>
        </p:nvSpPr>
        <p:spPr>
          <a:xfrm>
            <a:off x="8467344" y="384048"/>
            <a:ext cx="0" cy="384048"/>
          </a:xfrm>
          <a:prstGeom prst="line">
            <a:avLst/>
          </a:prstGeom>
          <a:noFill/>
          <a:ln w="12700">
            <a:solidFill>
              <a:srgbClr val="D9CBEF"/>
            </a:solidFill>
            <a:prstDash val="solid"/>
          </a:ln>
        </p:spPr>
      </p:sp>
      <p:sp>
        <p:nvSpPr>
          <p:cNvPr id="8" name="Shape 6"/>
          <p:cNvSpPr/>
          <p:nvPr/>
        </p:nvSpPr>
        <p:spPr>
          <a:xfrm>
            <a:off x="8275320" y="768096"/>
            <a:ext cx="384048" cy="0"/>
          </a:xfrm>
          <a:prstGeom prst="line">
            <a:avLst/>
          </a:prstGeom>
          <a:noFill/>
          <a:ln w="12700">
            <a:solidFill>
              <a:srgbClr val="D9CBEF"/>
            </a:solidFill>
            <a:prstDash val="solid"/>
          </a:ln>
        </p:spPr>
      </p:sp>
      <p:sp>
        <p:nvSpPr>
          <p:cNvPr id="9" name="Shape 7"/>
          <p:cNvSpPr/>
          <p:nvPr/>
        </p:nvSpPr>
        <p:spPr>
          <a:xfrm>
            <a:off x="8659368" y="384048"/>
            <a:ext cx="0" cy="384048"/>
          </a:xfrm>
          <a:prstGeom prst="line">
            <a:avLst/>
          </a:prstGeom>
          <a:noFill/>
          <a:ln w="12700">
            <a:solidFill>
              <a:srgbClr val="D9CBEF"/>
            </a:solidFill>
            <a:prstDash val="solid"/>
          </a:ln>
        </p:spPr>
      </p:sp>
      <p:sp>
        <p:nvSpPr>
          <p:cNvPr id="10" name="Shape 8"/>
          <p:cNvSpPr/>
          <p:nvPr/>
        </p:nvSpPr>
        <p:spPr>
          <a:xfrm>
            <a:off x="8234172" y="342900"/>
            <a:ext cx="82296" cy="82296"/>
          </a:xfrm>
          <a:prstGeom prst="ellipse">
            <a:avLst/>
          </a:prstGeom>
          <a:solidFill>
            <a:srgbClr val="7C4DBE"/>
          </a:solidFill>
          <a:ln/>
        </p:spPr>
      </p:sp>
      <p:sp>
        <p:nvSpPr>
          <p:cNvPr id="11" name="Shape 9"/>
          <p:cNvSpPr/>
          <p:nvPr/>
        </p:nvSpPr>
        <p:spPr>
          <a:xfrm>
            <a:off x="8234172" y="534924"/>
            <a:ext cx="82296" cy="82296"/>
          </a:xfrm>
          <a:prstGeom prst="ellipse">
            <a:avLst/>
          </a:prstGeom>
          <a:solidFill>
            <a:srgbClr val="7C4DBE"/>
          </a:solidFill>
          <a:ln/>
        </p:spPr>
      </p:sp>
      <p:sp>
        <p:nvSpPr>
          <p:cNvPr id="12" name="Shape 10"/>
          <p:cNvSpPr/>
          <p:nvPr/>
        </p:nvSpPr>
        <p:spPr>
          <a:xfrm>
            <a:off x="8234172" y="726948"/>
            <a:ext cx="82296" cy="82296"/>
          </a:xfrm>
          <a:prstGeom prst="ellipse">
            <a:avLst/>
          </a:prstGeom>
          <a:solidFill>
            <a:srgbClr val="7C4DBE"/>
          </a:solidFill>
          <a:ln/>
        </p:spPr>
      </p:sp>
      <p:sp>
        <p:nvSpPr>
          <p:cNvPr id="13" name="Shape 11"/>
          <p:cNvSpPr/>
          <p:nvPr/>
        </p:nvSpPr>
        <p:spPr>
          <a:xfrm>
            <a:off x="8426196" y="342900"/>
            <a:ext cx="82296" cy="82296"/>
          </a:xfrm>
          <a:prstGeom prst="ellipse">
            <a:avLst/>
          </a:prstGeom>
          <a:solidFill>
            <a:srgbClr val="7C4DBE"/>
          </a:solidFill>
          <a:ln/>
        </p:spPr>
      </p:sp>
      <p:sp>
        <p:nvSpPr>
          <p:cNvPr id="14" name="Shape 12"/>
          <p:cNvSpPr/>
          <p:nvPr/>
        </p:nvSpPr>
        <p:spPr>
          <a:xfrm>
            <a:off x="8426196" y="534924"/>
            <a:ext cx="82296" cy="82296"/>
          </a:xfrm>
          <a:prstGeom prst="ellipse">
            <a:avLst/>
          </a:prstGeom>
          <a:solidFill>
            <a:srgbClr val="5B2D8E"/>
          </a:solidFill>
          <a:ln/>
        </p:spPr>
      </p:sp>
      <p:sp>
        <p:nvSpPr>
          <p:cNvPr id="15" name="Shape 13"/>
          <p:cNvSpPr/>
          <p:nvPr/>
        </p:nvSpPr>
        <p:spPr>
          <a:xfrm>
            <a:off x="8426196" y="726948"/>
            <a:ext cx="82296" cy="82296"/>
          </a:xfrm>
          <a:prstGeom prst="ellipse">
            <a:avLst/>
          </a:prstGeom>
          <a:solidFill>
            <a:srgbClr val="7C4DBE"/>
          </a:solidFill>
          <a:ln/>
        </p:spPr>
      </p:sp>
      <p:sp>
        <p:nvSpPr>
          <p:cNvPr id="16" name="Shape 14"/>
          <p:cNvSpPr/>
          <p:nvPr/>
        </p:nvSpPr>
        <p:spPr>
          <a:xfrm>
            <a:off x="8618220" y="342900"/>
            <a:ext cx="82296" cy="82296"/>
          </a:xfrm>
          <a:prstGeom prst="ellipse">
            <a:avLst/>
          </a:prstGeom>
          <a:solidFill>
            <a:srgbClr val="7C4DBE"/>
          </a:solidFill>
          <a:ln/>
        </p:spPr>
      </p:sp>
      <p:sp>
        <p:nvSpPr>
          <p:cNvPr id="17" name="Shape 15"/>
          <p:cNvSpPr/>
          <p:nvPr/>
        </p:nvSpPr>
        <p:spPr>
          <a:xfrm>
            <a:off x="8618220" y="534924"/>
            <a:ext cx="82296" cy="82296"/>
          </a:xfrm>
          <a:prstGeom prst="ellipse">
            <a:avLst/>
          </a:prstGeom>
          <a:solidFill>
            <a:srgbClr val="7C4DBE"/>
          </a:solidFill>
          <a:ln/>
        </p:spPr>
      </p:sp>
      <p:sp>
        <p:nvSpPr>
          <p:cNvPr id="18" name="Shape 16"/>
          <p:cNvSpPr/>
          <p:nvPr/>
        </p:nvSpPr>
        <p:spPr>
          <a:xfrm>
            <a:off x="8618220" y="726948"/>
            <a:ext cx="82296" cy="82296"/>
          </a:xfrm>
          <a:prstGeom prst="ellipse">
            <a:avLst/>
          </a:prstGeom>
          <a:solidFill>
            <a:srgbClr val="7C4DBE"/>
          </a:solidFill>
          <a:ln/>
        </p:spPr>
      </p:sp>
      <p:sp>
        <p:nvSpPr>
          <p:cNvPr id="19" name="Text 17"/>
          <p:cNvSpPr/>
          <p:nvPr/>
        </p:nvSpPr>
        <p:spPr>
          <a:xfrm>
            <a:off x="548640" y="1645920"/>
            <a:ext cx="7955280" cy="3108960"/>
          </a:xfrm>
          <a:prstGeom prst="rect">
            <a:avLst/>
          </a:prstGeom>
          <a:noFill/>
          <a:ln/>
        </p:spPr>
        <p:txBody>
          <a:bodyPr wrap="square" lIns="0" tIns="0" rIns="0" bIns="0" rtlCol="0" anchor="t"/>
          <a:lstStyle/>
          <a:p>
            <a:pPr marL="152400" indent="-152400">
              <a:spcAft>
                <a:spcPts val="1400"/>
              </a:spcAft>
              <a:buSzPct val="100000"/>
              <a:buChar char="•"/>
            </a:pPr>
            <a:r>
              <a:rPr lang="en-US" sz="1800" dirty="0">
                <a:solidFill>
                  <a:srgbClr val="2B2140"/>
                </a:solidFill>
                <a:latin typeface="Calibri" pitchFamily="34" charset="0"/>
                <a:ea typeface="Calibri" pitchFamily="34" charset="-122"/>
                <a:cs typeface="Calibri" pitchFamily="34" charset="-120"/>
              </a:rPr>
              <a:t>3×3 grid + base station = 10 MPI processes</a:t>
            </a:r>
            <a:endParaRPr lang="en-US" sz="1800" dirty="0"/>
          </a:p>
          <a:p>
            <a:pPr marL="152400" indent="-152400">
              <a:spcAft>
                <a:spcPts val="1400"/>
              </a:spcAft>
              <a:buSzPct val="100000"/>
              <a:buChar char="•"/>
            </a:pPr>
            <a:r>
              <a:rPr lang="en-US" sz="1800" dirty="0">
                <a:solidFill>
                  <a:srgbClr val="2B2140"/>
                </a:solidFill>
                <a:latin typeface="Calibri" pitchFamily="34" charset="0"/>
                <a:ea typeface="Calibri" pitchFamily="34" charset="-122"/>
                <a:cs typeface="Calibri" pitchFamily="34" charset="-120"/>
              </a:rPr>
              <a:t>2 × 8-core machines, spare cores for port threads</a:t>
            </a:r>
            <a:endParaRPr lang="en-US" sz="1800" dirty="0"/>
          </a:p>
          <a:p>
            <a:pPr marL="152400" indent="-152400">
              <a:spcAft>
                <a:spcPts val="1400"/>
              </a:spcAft>
              <a:buSzPct val="100000"/>
              <a:buChar char="•"/>
            </a:pPr>
            <a:r>
              <a:rPr lang="en-US" sz="1800" dirty="0">
                <a:solidFill>
                  <a:srgbClr val="2B2140"/>
                </a:solidFill>
                <a:latin typeface="Calibri" pitchFamily="34" charset="0"/>
                <a:ea typeface="Calibri" pitchFamily="34" charset="-122"/>
                <a:cs typeface="Calibri" pitchFamily="34" charset="-120"/>
              </a:rPr>
              <a:t>Alert struct &lt; 512 B → ~37 kbit/s worst case</a:t>
            </a:r>
            <a:endParaRPr lang="en-US" sz="1800" dirty="0"/>
          </a:p>
          <a:p>
            <a:pPr marL="152400" indent="-152400">
              <a:spcAft>
                <a:spcPts val="1400"/>
              </a:spcAft>
              <a:buSzPct val="100000"/>
              <a:buChar char="•"/>
            </a:pPr>
            <a:r>
              <a:rPr lang="en-US" sz="1800" dirty="0">
                <a:solidFill>
                  <a:srgbClr val="2B2140"/>
                </a:solidFill>
                <a:latin typeface="Calibri" pitchFamily="34" charset="0"/>
                <a:ea typeface="Calibri" pitchFamily="34" charset="-122"/>
                <a:cs typeface="Calibri" pitchFamily="34" charset="-120"/>
              </a:rPr>
              <a:t>1 Gbps Ethernet is ample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5943600" cy="274320"/>
          </a:xfrm>
          <a:prstGeom prst="rect">
            <a:avLst/>
          </a:prstGeom>
          <a:noFill/>
          <a:ln/>
        </p:spPr>
        <p:txBody>
          <a:bodyPr wrap="square" lIns="0" tIns="0" rIns="0" bIns="0" rtlCol="0" anchor="ctr"/>
          <a:lstStyle/>
          <a:p>
            <a:pPr indent="0" marL="0">
              <a:buNone/>
            </a:pPr>
            <a:r>
              <a:rPr lang="en-US" sz="1200" b="1" spc="200" kern="0" dirty="0">
                <a:solidFill>
                  <a:srgbClr val="7C4DBE"/>
                </a:solidFill>
                <a:latin typeface="Calibri" pitchFamily="34" charset="0"/>
                <a:ea typeface="Calibri" pitchFamily="34" charset="-122"/>
                <a:cs typeface="Calibri" pitchFamily="34" charset="-120"/>
              </a:rPr>
              <a:t>TASK 2</a:t>
            </a:r>
            <a:endParaRPr lang="en-US" sz="1200" dirty="0"/>
          </a:p>
        </p:txBody>
      </p:sp>
      <p:sp>
        <p:nvSpPr>
          <p:cNvPr id="3" name="Text 1"/>
          <p:cNvSpPr/>
          <p:nvPr/>
        </p:nvSpPr>
        <p:spPr>
          <a:xfrm>
            <a:off x="548640" y="548640"/>
            <a:ext cx="8046720" cy="685800"/>
          </a:xfrm>
          <a:prstGeom prst="rect">
            <a:avLst/>
          </a:prstGeom>
          <a:noFill/>
          <a:ln/>
        </p:spPr>
        <p:txBody>
          <a:bodyPr wrap="square" lIns="0" tIns="0" rIns="0" bIns="0" rtlCol="0" anchor="ctr"/>
          <a:lstStyle/>
          <a:p>
            <a:pPr indent="0" marL="0">
              <a:buNone/>
            </a:pPr>
            <a:r>
              <a:rPr lang="en-US" sz="3000" b="1" dirty="0">
                <a:solidFill>
                  <a:srgbClr val="5B2D8E"/>
                </a:solidFill>
                <a:latin typeface="Calibri" pitchFamily="34" charset="0"/>
                <a:ea typeface="Calibri" pitchFamily="34" charset="-122"/>
                <a:cs typeface="Calibri" pitchFamily="34" charset="-120"/>
              </a:rPr>
              <a:t>Message passing design</a:t>
            </a:r>
            <a:endParaRPr lang="en-US" sz="3000" dirty="0"/>
          </a:p>
        </p:txBody>
      </p:sp>
      <p:sp>
        <p:nvSpPr>
          <p:cNvPr id="4" name="Shape 2"/>
          <p:cNvSpPr/>
          <p:nvPr/>
        </p:nvSpPr>
        <p:spPr>
          <a:xfrm>
            <a:off x="8275320" y="384048"/>
            <a:ext cx="384048" cy="0"/>
          </a:xfrm>
          <a:prstGeom prst="line">
            <a:avLst/>
          </a:prstGeom>
          <a:noFill/>
          <a:ln w="12700">
            <a:solidFill>
              <a:srgbClr val="D9CBEF"/>
            </a:solidFill>
            <a:prstDash val="solid"/>
          </a:ln>
        </p:spPr>
      </p:sp>
      <p:sp>
        <p:nvSpPr>
          <p:cNvPr id="5" name="Shape 3"/>
          <p:cNvSpPr/>
          <p:nvPr/>
        </p:nvSpPr>
        <p:spPr>
          <a:xfrm>
            <a:off x="8275320" y="384048"/>
            <a:ext cx="0" cy="384048"/>
          </a:xfrm>
          <a:prstGeom prst="line">
            <a:avLst/>
          </a:prstGeom>
          <a:noFill/>
          <a:ln w="12700">
            <a:solidFill>
              <a:srgbClr val="D9CBEF"/>
            </a:solidFill>
            <a:prstDash val="solid"/>
          </a:ln>
        </p:spPr>
      </p:sp>
      <p:sp>
        <p:nvSpPr>
          <p:cNvPr id="6" name="Shape 4"/>
          <p:cNvSpPr/>
          <p:nvPr/>
        </p:nvSpPr>
        <p:spPr>
          <a:xfrm>
            <a:off x="8275320" y="576072"/>
            <a:ext cx="384048" cy="0"/>
          </a:xfrm>
          <a:prstGeom prst="line">
            <a:avLst/>
          </a:prstGeom>
          <a:noFill/>
          <a:ln w="12700">
            <a:solidFill>
              <a:srgbClr val="D9CBEF"/>
            </a:solidFill>
            <a:prstDash val="solid"/>
          </a:ln>
        </p:spPr>
      </p:sp>
      <p:sp>
        <p:nvSpPr>
          <p:cNvPr id="7" name="Shape 5"/>
          <p:cNvSpPr/>
          <p:nvPr/>
        </p:nvSpPr>
        <p:spPr>
          <a:xfrm>
            <a:off x="8467344" y="384048"/>
            <a:ext cx="0" cy="384048"/>
          </a:xfrm>
          <a:prstGeom prst="line">
            <a:avLst/>
          </a:prstGeom>
          <a:noFill/>
          <a:ln w="12700">
            <a:solidFill>
              <a:srgbClr val="D9CBEF"/>
            </a:solidFill>
            <a:prstDash val="solid"/>
          </a:ln>
        </p:spPr>
      </p:sp>
      <p:sp>
        <p:nvSpPr>
          <p:cNvPr id="8" name="Shape 6"/>
          <p:cNvSpPr/>
          <p:nvPr/>
        </p:nvSpPr>
        <p:spPr>
          <a:xfrm>
            <a:off x="8275320" y="768096"/>
            <a:ext cx="384048" cy="0"/>
          </a:xfrm>
          <a:prstGeom prst="line">
            <a:avLst/>
          </a:prstGeom>
          <a:noFill/>
          <a:ln w="12700">
            <a:solidFill>
              <a:srgbClr val="D9CBEF"/>
            </a:solidFill>
            <a:prstDash val="solid"/>
          </a:ln>
        </p:spPr>
      </p:sp>
      <p:sp>
        <p:nvSpPr>
          <p:cNvPr id="9" name="Shape 7"/>
          <p:cNvSpPr/>
          <p:nvPr/>
        </p:nvSpPr>
        <p:spPr>
          <a:xfrm>
            <a:off x="8659368" y="384048"/>
            <a:ext cx="0" cy="384048"/>
          </a:xfrm>
          <a:prstGeom prst="line">
            <a:avLst/>
          </a:prstGeom>
          <a:noFill/>
          <a:ln w="12700">
            <a:solidFill>
              <a:srgbClr val="D9CBEF"/>
            </a:solidFill>
            <a:prstDash val="solid"/>
          </a:ln>
        </p:spPr>
      </p:sp>
      <p:sp>
        <p:nvSpPr>
          <p:cNvPr id="10" name="Shape 8"/>
          <p:cNvSpPr/>
          <p:nvPr/>
        </p:nvSpPr>
        <p:spPr>
          <a:xfrm>
            <a:off x="8234172" y="342900"/>
            <a:ext cx="82296" cy="82296"/>
          </a:xfrm>
          <a:prstGeom prst="ellipse">
            <a:avLst/>
          </a:prstGeom>
          <a:solidFill>
            <a:srgbClr val="7C4DBE"/>
          </a:solidFill>
          <a:ln/>
        </p:spPr>
      </p:sp>
      <p:sp>
        <p:nvSpPr>
          <p:cNvPr id="11" name="Shape 9"/>
          <p:cNvSpPr/>
          <p:nvPr/>
        </p:nvSpPr>
        <p:spPr>
          <a:xfrm>
            <a:off x="8234172" y="534924"/>
            <a:ext cx="82296" cy="82296"/>
          </a:xfrm>
          <a:prstGeom prst="ellipse">
            <a:avLst/>
          </a:prstGeom>
          <a:solidFill>
            <a:srgbClr val="7C4DBE"/>
          </a:solidFill>
          <a:ln/>
        </p:spPr>
      </p:sp>
      <p:sp>
        <p:nvSpPr>
          <p:cNvPr id="12" name="Shape 10"/>
          <p:cNvSpPr/>
          <p:nvPr/>
        </p:nvSpPr>
        <p:spPr>
          <a:xfrm>
            <a:off x="8234172" y="726948"/>
            <a:ext cx="82296" cy="82296"/>
          </a:xfrm>
          <a:prstGeom prst="ellipse">
            <a:avLst/>
          </a:prstGeom>
          <a:solidFill>
            <a:srgbClr val="7C4DBE"/>
          </a:solidFill>
          <a:ln/>
        </p:spPr>
      </p:sp>
      <p:sp>
        <p:nvSpPr>
          <p:cNvPr id="13" name="Shape 11"/>
          <p:cNvSpPr/>
          <p:nvPr/>
        </p:nvSpPr>
        <p:spPr>
          <a:xfrm>
            <a:off x="8426196" y="342900"/>
            <a:ext cx="82296" cy="82296"/>
          </a:xfrm>
          <a:prstGeom prst="ellipse">
            <a:avLst/>
          </a:prstGeom>
          <a:solidFill>
            <a:srgbClr val="7C4DBE"/>
          </a:solidFill>
          <a:ln/>
        </p:spPr>
      </p:sp>
      <p:sp>
        <p:nvSpPr>
          <p:cNvPr id="14" name="Shape 12"/>
          <p:cNvSpPr/>
          <p:nvPr/>
        </p:nvSpPr>
        <p:spPr>
          <a:xfrm>
            <a:off x="8426196" y="534924"/>
            <a:ext cx="82296" cy="82296"/>
          </a:xfrm>
          <a:prstGeom prst="ellipse">
            <a:avLst/>
          </a:prstGeom>
          <a:solidFill>
            <a:srgbClr val="5B2D8E"/>
          </a:solidFill>
          <a:ln/>
        </p:spPr>
      </p:sp>
      <p:sp>
        <p:nvSpPr>
          <p:cNvPr id="15" name="Shape 13"/>
          <p:cNvSpPr/>
          <p:nvPr/>
        </p:nvSpPr>
        <p:spPr>
          <a:xfrm>
            <a:off x="8426196" y="726948"/>
            <a:ext cx="82296" cy="82296"/>
          </a:xfrm>
          <a:prstGeom prst="ellipse">
            <a:avLst/>
          </a:prstGeom>
          <a:solidFill>
            <a:srgbClr val="7C4DBE"/>
          </a:solidFill>
          <a:ln/>
        </p:spPr>
      </p:sp>
      <p:sp>
        <p:nvSpPr>
          <p:cNvPr id="16" name="Shape 14"/>
          <p:cNvSpPr/>
          <p:nvPr/>
        </p:nvSpPr>
        <p:spPr>
          <a:xfrm>
            <a:off x="8618220" y="342900"/>
            <a:ext cx="82296" cy="82296"/>
          </a:xfrm>
          <a:prstGeom prst="ellipse">
            <a:avLst/>
          </a:prstGeom>
          <a:solidFill>
            <a:srgbClr val="7C4DBE"/>
          </a:solidFill>
          <a:ln/>
        </p:spPr>
      </p:sp>
      <p:sp>
        <p:nvSpPr>
          <p:cNvPr id="17" name="Shape 15"/>
          <p:cNvSpPr/>
          <p:nvPr/>
        </p:nvSpPr>
        <p:spPr>
          <a:xfrm>
            <a:off x="8618220" y="534924"/>
            <a:ext cx="82296" cy="82296"/>
          </a:xfrm>
          <a:prstGeom prst="ellipse">
            <a:avLst/>
          </a:prstGeom>
          <a:solidFill>
            <a:srgbClr val="7C4DBE"/>
          </a:solidFill>
          <a:ln/>
        </p:spPr>
      </p:sp>
      <p:sp>
        <p:nvSpPr>
          <p:cNvPr id="18" name="Shape 16"/>
          <p:cNvSpPr/>
          <p:nvPr/>
        </p:nvSpPr>
        <p:spPr>
          <a:xfrm>
            <a:off x="8618220" y="726948"/>
            <a:ext cx="82296" cy="82296"/>
          </a:xfrm>
          <a:prstGeom prst="ellipse">
            <a:avLst/>
          </a:prstGeom>
          <a:solidFill>
            <a:srgbClr val="7C4DBE"/>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4937760" cy="914400"/>
        </p:xfrm>
        <a:graphic>
          <a:graphicData uri="http://schemas.openxmlformats.org/drawingml/2006/table">
            <a:tbl>
              <a:tblPr/>
              <a:tblGrid>
                <a:gridCol w="1737360"/>
                <a:gridCol w="1645920"/>
                <a:gridCol w="155448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Message</a:t>
                      </a:r>
                      <a:endParaRPr lang="en-US" sz="110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5B2D8E"/>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Route</a:t>
                      </a:r>
                      <a:endParaRPr lang="en-US" sz="110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5B2D8E"/>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Mechanism</a:t>
                      </a:r>
                      <a:endParaRPr lang="en-US" sz="110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5B2D8E"/>
                    </a:solidFill>
                  </a:tcPr>
                </a:tc>
              </a:tr>
              <a:tr h="292608">
                <a:tc>
                  <a:txBody>
                    <a:bodyPr/>
                    <a:lstStyle/>
                    <a:p>
                      <a:pPr indent="0" marL="0">
                        <a:buNone/>
                      </a:pPr>
                      <a:r>
                        <a:rPr lang="en-US" sz="1050" dirty="0">
                          <a:solidFill>
                            <a:srgbClr val="2B2140"/>
                          </a:solidFill>
                          <a:latin typeface="Calibri" pitchFamily="34" charset="0"/>
                          <a:ea typeface="Calibri" pitchFamily="34" charset="-122"/>
                          <a:cs typeface="Calibri" pitchFamily="34" charset="-120"/>
                        </a:rPr>
                        <a:t>NEIGHBOUR_QUERY</a:t>
                      </a:r>
                      <a:endParaRPr lang="en-US" sz="10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c>
                  <a:txBody>
                    <a:bodyPr/>
                    <a:lstStyle/>
                    <a:p>
                      <a:pPr indent="0" marL="0">
                        <a:buNone/>
                      </a:pPr>
                      <a:r>
                        <a:rPr lang="en-US" sz="1050" dirty="0">
                          <a:solidFill>
                            <a:srgbClr val="2B2140"/>
                          </a:solidFill>
                          <a:latin typeface="Calibri" pitchFamily="34" charset="0"/>
                          <a:ea typeface="Calibri" pitchFamily="34" charset="-122"/>
                          <a:cs typeface="Calibri" pitchFamily="34" charset="-120"/>
                        </a:rPr>
                        <a:t>node → 4 neighbours</a:t>
                      </a:r>
                      <a:endParaRPr lang="en-US" sz="10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c>
                  <a:txBody>
                    <a:bodyPr/>
                    <a:lstStyle/>
                    <a:p>
                      <a:pPr indent="0" marL="0">
                        <a:buNone/>
                      </a:pPr>
                      <a:r>
                        <a:rPr lang="en-US" sz="1050" dirty="0">
                          <a:solidFill>
                            <a:srgbClr val="2B2140"/>
                          </a:solidFill>
                          <a:latin typeface="Calibri" pitchFamily="34" charset="0"/>
                          <a:ea typeface="Calibri" pitchFamily="34" charset="-122"/>
                          <a:cs typeface="Calibri" pitchFamily="34" charset="-120"/>
                        </a:rPr>
                        <a:t>MPI_Isend (non-blocking)</a:t>
                      </a:r>
                      <a:endParaRPr lang="en-US" sz="10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r>
              <a:tr h="292608">
                <a:tc>
                  <a:txBody>
                    <a:bodyPr/>
                    <a:lstStyle/>
                    <a:p>
                      <a:pPr indent="0" marL="0">
                        <a:buNone/>
                      </a:pPr>
                      <a:r>
                        <a:rPr lang="en-US" sz="1050" dirty="0">
                          <a:solidFill>
                            <a:srgbClr val="2B2140"/>
                          </a:solidFill>
                          <a:latin typeface="Calibri" pitchFamily="34" charset="0"/>
                          <a:ea typeface="Calibri" pitchFamily="34" charset="-122"/>
                          <a:cs typeface="Calibri" pitchFamily="34" charset="-120"/>
                        </a:rPr>
                        <a:t>NEIGHBOUR_REPLY</a:t>
                      </a:r>
                      <a:endParaRPr lang="en-US" sz="10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FFFFFF"/>
                    </a:solidFill>
                  </a:tcPr>
                </a:tc>
                <a:tc>
                  <a:txBody>
                    <a:bodyPr/>
                    <a:lstStyle/>
                    <a:p>
                      <a:pPr indent="0" marL="0">
                        <a:buNone/>
                      </a:pPr>
                      <a:r>
                        <a:rPr lang="en-US" sz="1050" dirty="0">
                          <a:solidFill>
                            <a:srgbClr val="2B2140"/>
                          </a:solidFill>
                          <a:latin typeface="Calibri" pitchFamily="34" charset="0"/>
                          <a:ea typeface="Calibri" pitchFamily="34" charset="-122"/>
                          <a:cs typeface="Calibri" pitchFamily="34" charset="-120"/>
                        </a:rPr>
                        <a:t>neighbour → node</a:t>
                      </a:r>
                      <a:endParaRPr lang="en-US" sz="10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FFFFFF"/>
                    </a:solidFill>
                  </a:tcPr>
                </a:tc>
                <a:tc>
                  <a:txBody>
                    <a:bodyPr/>
                    <a:lstStyle/>
                    <a:p>
                      <a:pPr indent="0" marL="0">
                        <a:buNone/>
                      </a:pPr>
                      <a:r>
                        <a:rPr lang="en-US" sz="1050" dirty="0">
                          <a:solidFill>
                            <a:srgbClr val="2B2140"/>
                          </a:solidFill>
                          <a:latin typeface="Calibri" pitchFamily="34" charset="0"/>
                          <a:ea typeface="Calibri" pitchFamily="34" charset="-122"/>
                          <a:cs typeface="Calibri" pitchFamily="34" charset="-120"/>
                        </a:rPr>
                        <a:t>MPI_Isend</a:t>
                      </a:r>
                      <a:endParaRPr lang="en-US" sz="10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FFFFFF"/>
                    </a:solidFill>
                  </a:tcPr>
                </a:tc>
              </a:tr>
              <a:tr h="292608">
                <a:tc>
                  <a:txBody>
                    <a:bodyPr/>
                    <a:lstStyle/>
                    <a:p>
                      <a:pPr indent="0" marL="0">
                        <a:buNone/>
                      </a:pPr>
                      <a:r>
                        <a:rPr lang="en-US" sz="1050" dirty="0">
                          <a:solidFill>
                            <a:srgbClr val="2B2140"/>
                          </a:solidFill>
                          <a:latin typeface="Calibri" pitchFamily="34" charset="0"/>
                          <a:ea typeface="Calibri" pitchFamily="34" charset="-122"/>
                          <a:cs typeface="Calibri" pitchFamily="34" charset="-120"/>
                        </a:rPr>
                        <a:t>BS_ALERT</a:t>
                      </a:r>
                      <a:endParaRPr lang="en-US" sz="10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c>
                  <a:txBody>
                    <a:bodyPr/>
                    <a:lstStyle/>
                    <a:p>
                      <a:pPr indent="0" marL="0">
                        <a:buNone/>
                      </a:pPr>
                      <a:r>
                        <a:rPr lang="en-US" sz="1050" dirty="0">
                          <a:solidFill>
                            <a:srgbClr val="2B2140"/>
                          </a:solidFill>
                          <a:latin typeface="Calibri" pitchFamily="34" charset="0"/>
                          <a:ea typeface="Calibri" pitchFamily="34" charset="-122"/>
                          <a:cs typeface="Calibri" pitchFamily="34" charset="-120"/>
                        </a:rPr>
                        <a:t>node → base station</a:t>
                      </a:r>
                      <a:endParaRPr lang="en-US" sz="10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c>
                  <a:txBody>
                    <a:bodyPr/>
                    <a:lstStyle/>
                    <a:p>
                      <a:pPr indent="0" marL="0">
                        <a:buNone/>
                      </a:pPr>
                      <a:r>
                        <a:rPr lang="en-US" sz="1050" dirty="0">
                          <a:solidFill>
                            <a:srgbClr val="2B2140"/>
                          </a:solidFill>
                          <a:latin typeface="Calibri" pitchFamily="34" charset="0"/>
                          <a:ea typeface="Calibri" pitchFamily="34" charset="-122"/>
                          <a:cs typeface="Calibri" pitchFamily="34" charset="-120"/>
                        </a:rPr>
                        <a:t>MPI_Type_create_struct</a:t>
                      </a:r>
                      <a:endParaRPr lang="en-US" sz="10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r>
              <a:tr h="292608">
                <a:tc>
                  <a:txBody>
                    <a:bodyPr/>
                    <a:lstStyle/>
                    <a:p>
                      <a:pPr indent="0" marL="0">
                        <a:buNone/>
                      </a:pPr>
                      <a:r>
                        <a:rPr lang="en-US" sz="1050" dirty="0">
                          <a:solidFill>
                            <a:srgbClr val="2B2140"/>
                          </a:solidFill>
                          <a:latin typeface="Calibri" pitchFamily="34" charset="0"/>
                          <a:ea typeface="Calibri" pitchFamily="34" charset="-122"/>
                          <a:cs typeface="Calibri" pitchFamily="34" charset="-120"/>
                        </a:rPr>
                        <a:t>BS_REDIRECT</a:t>
                      </a:r>
                      <a:endParaRPr lang="en-US" sz="10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FFFFFF"/>
                    </a:solidFill>
                  </a:tcPr>
                </a:tc>
                <a:tc>
                  <a:txBody>
                    <a:bodyPr/>
                    <a:lstStyle/>
                    <a:p>
                      <a:pPr indent="0" marL="0">
                        <a:buNone/>
                      </a:pPr>
                      <a:r>
                        <a:rPr lang="en-US" sz="1050" dirty="0">
                          <a:solidFill>
                            <a:srgbClr val="2B2140"/>
                          </a:solidFill>
                          <a:latin typeface="Calibri" pitchFamily="34" charset="0"/>
                          <a:ea typeface="Calibri" pitchFamily="34" charset="-122"/>
                          <a:cs typeface="Calibri" pitchFamily="34" charset="-120"/>
                        </a:rPr>
                        <a:t>base station → node</a:t>
                      </a:r>
                      <a:endParaRPr lang="en-US" sz="10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FFFFFF"/>
                    </a:solidFill>
                  </a:tcPr>
                </a:tc>
                <a:tc>
                  <a:txBody>
                    <a:bodyPr/>
                    <a:lstStyle/>
                    <a:p>
                      <a:pPr indent="0" marL="0">
                        <a:buNone/>
                      </a:pPr>
                      <a:r>
                        <a:rPr lang="en-US" sz="1050" dirty="0">
                          <a:solidFill>
                            <a:srgbClr val="2B2140"/>
                          </a:solidFill>
                          <a:latin typeface="Calibri" pitchFamily="34" charset="0"/>
                          <a:ea typeface="Calibri" pitchFamily="34" charset="-122"/>
                          <a:cs typeface="Calibri" pitchFamily="34" charset="-120"/>
                        </a:rPr>
                        <a:t>MPI_Send</a:t>
                      </a:r>
                      <a:endParaRPr lang="en-US" sz="10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FFFFFF"/>
                    </a:solidFill>
                  </a:tcPr>
                </a:tc>
              </a:tr>
              <a:tr h="292608">
                <a:tc>
                  <a:txBody>
                    <a:bodyPr/>
                    <a:lstStyle/>
                    <a:p>
                      <a:pPr indent="0" marL="0">
                        <a:buNone/>
                      </a:pPr>
                      <a:r>
                        <a:rPr lang="en-US" sz="1050" dirty="0">
                          <a:solidFill>
                            <a:srgbClr val="2B2140"/>
                          </a:solidFill>
                          <a:latin typeface="Calibri" pitchFamily="34" charset="0"/>
                          <a:ea typeface="Calibri" pitchFamily="34" charset="-122"/>
                          <a:cs typeface="Calibri" pitchFamily="34" charset="-120"/>
                        </a:rPr>
                        <a:t>HEARTBEAT (optional)</a:t>
                      </a:r>
                      <a:endParaRPr lang="en-US" sz="10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c>
                  <a:txBody>
                    <a:bodyPr/>
                    <a:lstStyle/>
                    <a:p>
                      <a:pPr indent="0" marL="0">
                        <a:buNone/>
                      </a:pPr>
                      <a:r>
                        <a:rPr lang="en-US" sz="1050" dirty="0">
                          <a:solidFill>
                            <a:srgbClr val="2B2140"/>
                          </a:solidFill>
                          <a:latin typeface="Calibri" pitchFamily="34" charset="0"/>
                          <a:ea typeface="Calibri" pitchFamily="34" charset="-122"/>
                          <a:cs typeface="Calibri" pitchFamily="34" charset="-120"/>
                        </a:rPr>
                        <a:t>node → base station</a:t>
                      </a:r>
                      <a:endParaRPr lang="en-US" sz="10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c>
                  <a:txBody>
                    <a:bodyPr/>
                    <a:lstStyle/>
                    <a:p>
                      <a:pPr indent="0" marL="0">
                        <a:buNone/>
                      </a:pPr>
                      <a:r>
                        <a:rPr lang="en-US" sz="1050" dirty="0">
                          <a:solidFill>
                            <a:srgbClr val="2B2140"/>
                          </a:solidFill>
                          <a:latin typeface="Calibri" pitchFamily="34" charset="0"/>
                          <a:ea typeface="Calibri" pitchFamily="34" charset="-122"/>
                          <a:cs typeface="Calibri" pitchFamily="34" charset="-120"/>
                        </a:rPr>
                        <a:t>Periodic MPI_Isend</a:t>
                      </a:r>
                      <a:endParaRPr lang="en-US" sz="1050" dirty="0">
                        <a:latin typeface="Calibri" charset="0"/>
                        <a:ea typeface="Calibri" charset="0"/>
                        <a:cs typeface="Calibri" charset="0"/>
                      </a:endParaRPr>
                    </a:p>
                  </a:txBody>
                  <a:tcPr marL="36576" marR="36576" marT="36576" marB="36576" anchor="ctr">
                    <a:lnL w="6350" cap="flat" cmpd="sng" algn="ctr">
                      <a:solidFill>
                        <a:srgbClr val="D9CBEF"/>
                      </a:solidFill>
                      <a:prstDash val="solid"/>
                      <a:round/>
                      <a:headEnd type="none" w="med" len="med"/>
                      <a:tailEnd type="none" w="med" len="med"/>
                    </a:lnL>
                    <a:lnR w="6350" cap="flat" cmpd="sng" algn="ctr">
                      <a:solidFill>
                        <a:srgbClr val="D9CBEF"/>
                      </a:solidFill>
                      <a:prstDash val="solid"/>
                      <a:round/>
                      <a:headEnd type="none" w="med" len="med"/>
                      <a:tailEnd type="none" w="med" len="med"/>
                    </a:lnR>
                    <a:lnT w="6350" cap="flat" cmpd="sng" algn="ctr">
                      <a:solidFill>
                        <a:srgbClr val="D9CBEF"/>
                      </a:solidFill>
                      <a:prstDash val="solid"/>
                      <a:round/>
                      <a:headEnd type="none" w="med" len="med"/>
                      <a:tailEnd type="none" w="med" len="med"/>
                    </a:lnT>
                    <a:lnB w="6350" cap="flat" cmpd="sng" algn="ctr">
                      <a:solidFill>
                        <a:srgbClr val="D9CBEF"/>
                      </a:solidFill>
                      <a:prstDash val="solid"/>
                      <a:round/>
                      <a:headEnd type="none" w="med" len="med"/>
                      <a:tailEnd type="none" w="med" len="med"/>
                    </a:lnB>
                    <a:solidFill>
                      <a:srgbClr val="EFE9F8"/>
                    </a:solidFill>
                  </a:tcPr>
                </a:tc>
              </a:tr>
            </a:tbl>
          </a:graphicData>
        </a:graphic>
      </p:graphicFrame>
      <p:sp>
        <p:nvSpPr>
          <p:cNvPr id="20" name="Text 17"/>
          <p:cNvSpPr/>
          <p:nvPr/>
        </p:nvSpPr>
        <p:spPr>
          <a:xfrm>
            <a:off x="548640" y="3977640"/>
            <a:ext cx="4937760" cy="640080"/>
          </a:xfrm>
          <a:prstGeom prst="rect">
            <a:avLst/>
          </a:prstGeom>
          <a:noFill/>
          <a:ln/>
        </p:spPr>
        <p:txBody>
          <a:bodyPr wrap="square" lIns="0" tIns="0" rIns="0" bIns="0" rtlCol="0" anchor="t"/>
          <a:lstStyle/>
          <a:p>
            <a:pPr marL="152400" indent="-152400">
              <a:buSzPct val="100000"/>
              <a:buChar char="•"/>
            </a:pPr>
            <a:r>
              <a:rPr lang="en-US" sz="1300" dirty="0">
                <a:solidFill>
                  <a:srgbClr val="2B2140"/>
                </a:solidFill>
                <a:latin typeface="Calibri" pitchFamily="34" charset="0"/>
                <a:ea typeface="Calibri" pitchFamily="34" charset="-122"/>
                <a:cs typeface="Calibri" pitchFamily="34" charset="-120"/>
              </a:rPr>
              <a:t>Non-blocking sends: mutual queries cannot deadlock</a:t>
            </a:r>
            <a:endParaRPr lang="en-US" sz="1300" dirty="0"/>
          </a:p>
        </p:txBody>
      </p:sp>
      <p:sp>
        <p:nvSpPr>
          <p:cNvPr id="21" name="Shape 18"/>
          <p:cNvSpPr/>
          <p:nvPr/>
        </p:nvSpPr>
        <p:spPr>
          <a:xfrm>
            <a:off x="5715000" y="1371600"/>
            <a:ext cx="2880360" cy="3200400"/>
          </a:xfrm>
          <a:prstGeom prst="roundRect">
            <a:avLst>
              <a:gd name="adj" fmla="val 2540"/>
            </a:avLst>
          </a:prstGeom>
          <a:solidFill>
            <a:srgbClr val="EFE9F8"/>
          </a:solidFill>
          <a:ln w="12700">
            <a:solidFill>
              <a:srgbClr val="D9CBEF"/>
            </a:solidFill>
            <a:prstDash val="solid"/>
          </a:ln>
        </p:spPr>
      </p:sp>
      <p:sp>
        <p:nvSpPr>
          <p:cNvPr id="22" name="Text 19"/>
          <p:cNvSpPr/>
          <p:nvPr/>
        </p:nvSpPr>
        <p:spPr>
          <a:xfrm>
            <a:off x="5715000" y="1371600"/>
            <a:ext cx="2880360" cy="3200400"/>
          </a:xfrm>
          <a:prstGeom prst="rect">
            <a:avLst/>
          </a:prstGeom>
          <a:noFill/>
          <a:ln/>
        </p:spPr>
        <p:txBody>
          <a:bodyPr wrap="square" rtlCol="0" anchor="ctr"/>
          <a:lstStyle/>
          <a:p>
            <a:pPr algn="ctr" indent="0" marL="0">
              <a:buNone/>
            </a:pPr>
            <a:r>
              <a:rPr lang="en-US" sz="1300" i="1" dirty="0">
                <a:solidFill>
                  <a:srgbClr val="7C4DBE"/>
                </a:solidFill>
                <a:latin typeface="Calibri" pitchFamily="34" charset="0"/>
                <a:ea typeface="Calibri" pitchFamily="34" charset="-122"/>
                <a:cs typeface="Calibri" pitchFamily="34" charset="-120"/>
              </a:rPr>
              <a:t>Communication diagram</a:t>
            </a:r>
            <a:endParaRPr lang="en-US" sz="1300" dirty="0"/>
          </a:p>
          <a:p>
            <a:pPr algn="ctr" indent="0" marL="0">
              <a:buNone/>
            </a:pPr>
            <a:r>
              <a:rPr lang="en-US" sz="1300" i="1" dirty="0">
                <a:solidFill>
                  <a:srgbClr val="7C4DBE"/>
                </a:solidFill>
                <a:latin typeface="Calibri" pitchFamily="34" charset="0"/>
                <a:ea typeface="Calibri" pitchFamily="34" charset="-122"/>
                <a:cs typeface="Calibri" pitchFamily="34" charset="-120"/>
              </a:rPr>
              <a:t>(query → reply → alert → redirect)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5943600" cy="274320"/>
          </a:xfrm>
          <a:prstGeom prst="rect">
            <a:avLst/>
          </a:prstGeom>
          <a:noFill/>
          <a:ln/>
        </p:spPr>
        <p:txBody>
          <a:bodyPr wrap="square" lIns="0" tIns="0" rIns="0" bIns="0" rtlCol="0" anchor="ctr"/>
          <a:lstStyle/>
          <a:p>
            <a:pPr indent="0" marL="0">
              <a:buNone/>
            </a:pPr>
            <a:r>
              <a:rPr lang="en-US" sz="1200" b="1" spc="200" kern="0" dirty="0">
                <a:solidFill>
                  <a:srgbClr val="7C4DBE"/>
                </a:solidFill>
                <a:latin typeface="Calibri" pitchFamily="34" charset="0"/>
                <a:ea typeface="Calibri" pitchFamily="34" charset="-122"/>
                <a:cs typeface="Calibri" pitchFamily="34" charset="-120"/>
              </a:rPr>
              <a:t>TASK 3</a:t>
            </a:r>
            <a:endParaRPr lang="en-US" sz="1200" dirty="0"/>
          </a:p>
        </p:txBody>
      </p:sp>
      <p:sp>
        <p:nvSpPr>
          <p:cNvPr id="3" name="Text 1"/>
          <p:cNvSpPr/>
          <p:nvPr/>
        </p:nvSpPr>
        <p:spPr>
          <a:xfrm>
            <a:off x="548640" y="548640"/>
            <a:ext cx="8046720" cy="685800"/>
          </a:xfrm>
          <a:prstGeom prst="rect">
            <a:avLst/>
          </a:prstGeom>
          <a:noFill/>
          <a:ln/>
        </p:spPr>
        <p:txBody>
          <a:bodyPr wrap="square" lIns="0" tIns="0" rIns="0" bIns="0" rtlCol="0" anchor="ctr"/>
          <a:lstStyle/>
          <a:p>
            <a:pPr indent="0" marL="0">
              <a:buNone/>
            </a:pPr>
            <a:r>
              <a:rPr lang="en-US" sz="3000" b="1" dirty="0">
                <a:solidFill>
                  <a:srgbClr val="5B2D8E"/>
                </a:solidFill>
                <a:latin typeface="Calibri" pitchFamily="34" charset="0"/>
                <a:ea typeface="Calibri" pitchFamily="34" charset="-122"/>
                <a:cs typeface="Calibri" pitchFamily="34" charset="-120"/>
              </a:rPr>
              <a:t>Delay model</a:t>
            </a:r>
            <a:endParaRPr lang="en-US" sz="3000" dirty="0"/>
          </a:p>
        </p:txBody>
      </p:sp>
      <p:sp>
        <p:nvSpPr>
          <p:cNvPr id="4" name="Shape 2"/>
          <p:cNvSpPr/>
          <p:nvPr/>
        </p:nvSpPr>
        <p:spPr>
          <a:xfrm>
            <a:off x="8275320" y="384048"/>
            <a:ext cx="384048" cy="0"/>
          </a:xfrm>
          <a:prstGeom prst="line">
            <a:avLst/>
          </a:prstGeom>
          <a:noFill/>
          <a:ln w="12700">
            <a:solidFill>
              <a:srgbClr val="D9CBEF"/>
            </a:solidFill>
            <a:prstDash val="solid"/>
          </a:ln>
        </p:spPr>
      </p:sp>
      <p:sp>
        <p:nvSpPr>
          <p:cNvPr id="5" name="Shape 3"/>
          <p:cNvSpPr/>
          <p:nvPr/>
        </p:nvSpPr>
        <p:spPr>
          <a:xfrm>
            <a:off x="8275320" y="384048"/>
            <a:ext cx="0" cy="384048"/>
          </a:xfrm>
          <a:prstGeom prst="line">
            <a:avLst/>
          </a:prstGeom>
          <a:noFill/>
          <a:ln w="12700">
            <a:solidFill>
              <a:srgbClr val="D9CBEF"/>
            </a:solidFill>
            <a:prstDash val="solid"/>
          </a:ln>
        </p:spPr>
      </p:sp>
      <p:sp>
        <p:nvSpPr>
          <p:cNvPr id="6" name="Shape 4"/>
          <p:cNvSpPr/>
          <p:nvPr/>
        </p:nvSpPr>
        <p:spPr>
          <a:xfrm>
            <a:off x="8275320" y="576072"/>
            <a:ext cx="384048" cy="0"/>
          </a:xfrm>
          <a:prstGeom prst="line">
            <a:avLst/>
          </a:prstGeom>
          <a:noFill/>
          <a:ln w="12700">
            <a:solidFill>
              <a:srgbClr val="D9CBEF"/>
            </a:solidFill>
            <a:prstDash val="solid"/>
          </a:ln>
        </p:spPr>
      </p:sp>
      <p:sp>
        <p:nvSpPr>
          <p:cNvPr id="7" name="Shape 5"/>
          <p:cNvSpPr/>
          <p:nvPr/>
        </p:nvSpPr>
        <p:spPr>
          <a:xfrm>
            <a:off x="8467344" y="384048"/>
            <a:ext cx="0" cy="384048"/>
          </a:xfrm>
          <a:prstGeom prst="line">
            <a:avLst/>
          </a:prstGeom>
          <a:noFill/>
          <a:ln w="12700">
            <a:solidFill>
              <a:srgbClr val="D9CBEF"/>
            </a:solidFill>
            <a:prstDash val="solid"/>
          </a:ln>
        </p:spPr>
      </p:sp>
      <p:sp>
        <p:nvSpPr>
          <p:cNvPr id="8" name="Shape 6"/>
          <p:cNvSpPr/>
          <p:nvPr/>
        </p:nvSpPr>
        <p:spPr>
          <a:xfrm>
            <a:off x="8275320" y="768096"/>
            <a:ext cx="384048" cy="0"/>
          </a:xfrm>
          <a:prstGeom prst="line">
            <a:avLst/>
          </a:prstGeom>
          <a:noFill/>
          <a:ln w="12700">
            <a:solidFill>
              <a:srgbClr val="D9CBEF"/>
            </a:solidFill>
            <a:prstDash val="solid"/>
          </a:ln>
        </p:spPr>
      </p:sp>
      <p:sp>
        <p:nvSpPr>
          <p:cNvPr id="9" name="Shape 7"/>
          <p:cNvSpPr/>
          <p:nvPr/>
        </p:nvSpPr>
        <p:spPr>
          <a:xfrm>
            <a:off x="8659368" y="384048"/>
            <a:ext cx="0" cy="384048"/>
          </a:xfrm>
          <a:prstGeom prst="line">
            <a:avLst/>
          </a:prstGeom>
          <a:noFill/>
          <a:ln w="12700">
            <a:solidFill>
              <a:srgbClr val="D9CBEF"/>
            </a:solidFill>
            <a:prstDash val="solid"/>
          </a:ln>
        </p:spPr>
      </p:sp>
      <p:sp>
        <p:nvSpPr>
          <p:cNvPr id="10" name="Shape 8"/>
          <p:cNvSpPr/>
          <p:nvPr/>
        </p:nvSpPr>
        <p:spPr>
          <a:xfrm>
            <a:off x="8234172" y="342900"/>
            <a:ext cx="82296" cy="82296"/>
          </a:xfrm>
          <a:prstGeom prst="ellipse">
            <a:avLst/>
          </a:prstGeom>
          <a:solidFill>
            <a:srgbClr val="7C4DBE"/>
          </a:solidFill>
          <a:ln/>
        </p:spPr>
      </p:sp>
      <p:sp>
        <p:nvSpPr>
          <p:cNvPr id="11" name="Shape 9"/>
          <p:cNvSpPr/>
          <p:nvPr/>
        </p:nvSpPr>
        <p:spPr>
          <a:xfrm>
            <a:off x="8234172" y="534924"/>
            <a:ext cx="82296" cy="82296"/>
          </a:xfrm>
          <a:prstGeom prst="ellipse">
            <a:avLst/>
          </a:prstGeom>
          <a:solidFill>
            <a:srgbClr val="7C4DBE"/>
          </a:solidFill>
          <a:ln/>
        </p:spPr>
      </p:sp>
      <p:sp>
        <p:nvSpPr>
          <p:cNvPr id="12" name="Shape 10"/>
          <p:cNvSpPr/>
          <p:nvPr/>
        </p:nvSpPr>
        <p:spPr>
          <a:xfrm>
            <a:off x="8234172" y="726948"/>
            <a:ext cx="82296" cy="82296"/>
          </a:xfrm>
          <a:prstGeom prst="ellipse">
            <a:avLst/>
          </a:prstGeom>
          <a:solidFill>
            <a:srgbClr val="7C4DBE"/>
          </a:solidFill>
          <a:ln/>
        </p:spPr>
      </p:sp>
      <p:sp>
        <p:nvSpPr>
          <p:cNvPr id="13" name="Shape 11"/>
          <p:cNvSpPr/>
          <p:nvPr/>
        </p:nvSpPr>
        <p:spPr>
          <a:xfrm>
            <a:off x="8426196" y="342900"/>
            <a:ext cx="82296" cy="82296"/>
          </a:xfrm>
          <a:prstGeom prst="ellipse">
            <a:avLst/>
          </a:prstGeom>
          <a:solidFill>
            <a:srgbClr val="7C4DBE"/>
          </a:solidFill>
          <a:ln/>
        </p:spPr>
      </p:sp>
      <p:sp>
        <p:nvSpPr>
          <p:cNvPr id="14" name="Shape 12"/>
          <p:cNvSpPr/>
          <p:nvPr/>
        </p:nvSpPr>
        <p:spPr>
          <a:xfrm>
            <a:off x="8426196" y="534924"/>
            <a:ext cx="82296" cy="82296"/>
          </a:xfrm>
          <a:prstGeom prst="ellipse">
            <a:avLst/>
          </a:prstGeom>
          <a:solidFill>
            <a:srgbClr val="5B2D8E"/>
          </a:solidFill>
          <a:ln/>
        </p:spPr>
      </p:sp>
      <p:sp>
        <p:nvSpPr>
          <p:cNvPr id="15" name="Shape 13"/>
          <p:cNvSpPr/>
          <p:nvPr/>
        </p:nvSpPr>
        <p:spPr>
          <a:xfrm>
            <a:off x="8426196" y="726948"/>
            <a:ext cx="82296" cy="82296"/>
          </a:xfrm>
          <a:prstGeom prst="ellipse">
            <a:avLst/>
          </a:prstGeom>
          <a:solidFill>
            <a:srgbClr val="7C4DBE"/>
          </a:solidFill>
          <a:ln/>
        </p:spPr>
      </p:sp>
      <p:sp>
        <p:nvSpPr>
          <p:cNvPr id="16" name="Shape 14"/>
          <p:cNvSpPr/>
          <p:nvPr/>
        </p:nvSpPr>
        <p:spPr>
          <a:xfrm>
            <a:off x="8618220" y="342900"/>
            <a:ext cx="82296" cy="82296"/>
          </a:xfrm>
          <a:prstGeom prst="ellipse">
            <a:avLst/>
          </a:prstGeom>
          <a:solidFill>
            <a:srgbClr val="7C4DBE"/>
          </a:solidFill>
          <a:ln/>
        </p:spPr>
      </p:sp>
      <p:sp>
        <p:nvSpPr>
          <p:cNvPr id="17" name="Shape 15"/>
          <p:cNvSpPr/>
          <p:nvPr/>
        </p:nvSpPr>
        <p:spPr>
          <a:xfrm>
            <a:off x="8618220" y="534924"/>
            <a:ext cx="82296" cy="82296"/>
          </a:xfrm>
          <a:prstGeom prst="ellipse">
            <a:avLst/>
          </a:prstGeom>
          <a:solidFill>
            <a:srgbClr val="7C4DBE"/>
          </a:solidFill>
          <a:ln/>
        </p:spPr>
      </p:sp>
      <p:sp>
        <p:nvSpPr>
          <p:cNvPr id="18" name="Shape 16"/>
          <p:cNvSpPr/>
          <p:nvPr/>
        </p:nvSpPr>
        <p:spPr>
          <a:xfrm>
            <a:off x="8618220" y="726948"/>
            <a:ext cx="82296" cy="82296"/>
          </a:xfrm>
          <a:prstGeom prst="ellipse">
            <a:avLst/>
          </a:prstGeom>
          <a:solidFill>
            <a:srgbClr val="7C4DBE"/>
          </a:solidFill>
          <a:ln/>
        </p:spPr>
      </p:sp>
      <p:sp>
        <p:nvSpPr>
          <p:cNvPr id="19" name="Text 17"/>
          <p:cNvSpPr/>
          <p:nvPr/>
        </p:nvSpPr>
        <p:spPr>
          <a:xfrm>
            <a:off x="548640" y="1554480"/>
            <a:ext cx="8046720" cy="822960"/>
          </a:xfrm>
          <a:prstGeom prst="rect">
            <a:avLst/>
          </a:prstGeom>
          <a:noFill/>
          <a:ln/>
        </p:spPr>
        <p:txBody>
          <a:bodyPr wrap="square" lIns="0" tIns="0" rIns="0" bIns="0" rtlCol="0" anchor="ctr"/>
          <a:lstStyle/>
          <a:p>
            <a:pPr algn="ctr" indent="0" marL="0">
              <a:buNone/>
            </a:pPr>
            <a:r>
              <a:rPr lang="en-US" sz="3400" b="1" dirty="0">
                <a:solidFill>
                  <a:srgbClr val="5B2D8E"/>
                </a:solidFill>
                <a:latin typeface="Calibri" pitchFamily="34" charset="0"/>
                <a:ea typeface="Calibri" pitchFamily="34" charset="-122"/>
                <a:cs typeface="Calibri" pitchFamily="34" charset="-120"/>
              </a:rPr>
              <a:t>t  =  L / B  +  t_other</a:t>
            </a:r>
            <a:endParaRPr lang="en-US" sz="3400" dirty="0"/>
          </a:p>
        </p:txBody>
      </p:sp>
      <p:sp>
        <p:nvSpPr>
          <p:cNvPr id="20" name="Text 18"/>
          <p:cNvSpPr/>
          <p:nvPr/>
        </p:nvSpPr>
        <p:spPr>
          <a:xfrm>
            <a:off x="1828800" y="2743200"/>
            <a:ext cx="5943600" cy="3108960"/>
          </a:xfrm>
          <a:prstGeom prst="rect">
            <a:avLst/>
          </a:prstGeom>
          <a:noFill/>
          <a:ln/>
        </p:spPr>
        <p:txBody>
          <a:bodyPr wrap="square" lIns="0" tIns="0" rIns="0" bIns="0" rtlCol="0" anchor="t"/>
          <a:lstStyle/>
          <a:p>
            <a:pPr marL="152400" indent="-152400">
              <a:spcAft>
                <a:spcPts val="1000"/>
              </a:spcAft>
              <a:buSzPct val="100000"/>
              <a:buChar char="•"/>
            </a:pPr>
            <a:r>
              <a:rPr lang="en-US" sz="1600" dirty="0">
                <a:solidFill>
                  <a:srgbClr val="2B2140"/>
                </a:solidFill>
                <a:latin typeface="Calibri" pitchFamily="34" charset="0"/>
                <a:ea typeface="Calibri" pitchFamily="34" charset="-122"/>
                <a:cs typeface="Calibri" pitchFamily="34" charset="-120"/>
              </a:rPr>
              <a:t>L = message bits,  B = 1 Gbps (from the spec)</a:t>
            </a:r>
            <a:endParaRPr lang="en-US" sz="1600" dirty="0"/>
          </a:p>
          <a:p>
            <a:pPr marL="152400" indent="-152400">
              <a:spcAft>
                <a:spcPts val="1000"/>
              </a:spcAft>
              <a:buSzPct val="100000"/>
              <a:buChar char="•"/>
            </a:pPr>
            <a:r>
              <a:rPr lang="en-US" sz="1600" dirty="0">
                <a:solidFill>
                  <a:srgbClr val="2B2140"/>
                </a:solidFill>
                <a:latin typeface="Calibri" pitchFamily="34" charset="0"/>
                <a:ea typeface="Calibri" pitchFamily="34" charset="-122"/>
                <a:cs typeface="Calibri" pitchFamily="34" charset="-120"/>
              </a:rPr>
              <a:t>t_other = queuing + processing + propagation</a:t>
            </a:r>
            <a:endParaRPr lang="en-US" sz="1600" dirty="0"/>
          </a:p>
          <a:p>
            <a:pPr marL="152400" indent="-152400">
              <a:spcAft>
                <a:spcPts val="1000"/>
              </a:spcAft>
              <a:buSzPct val="100000"/>
              <a:buChar char="•"/>
            </a:pPr>
            <a:r>
              <a:rPr lang="en-US" sz="1600" dirty="0">
                <a:solidFill>
                  <a:srgbClr val="2B2140"/>
                </a:solidFill>
                <a:latin typeface="Calibri" pitchFamily="34" charset="0"/>
                <a:ea typeface="Calibri" pitchFamily="34" charset="-122"/>
                <a:cs typeface="Calibri" pitchFamily="34" charset="-120"/>
              </a:rPr>
              <a:t>Convention: 1 MB = 10⁶ bytes,  1 Gbps = 10⁹ bps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5943600" cy="274320"/>
          </a:xfrm>
          <a:prstGeom prst="rect">
            <a:avLst/>
          </a:prstGeom>
          <a:noFill/>
          <a:ln/>
        </p:spPr>
        <p:txBody>
          <a:bodyPr wrap="square" lIns="0" tIns="0" rIns="0" bIns="0" rtlCol="0" anchor="ctr"/>
          <a:lstStyle/>
          <a:p>
            <a:pPr indent="0" marL="0">
              <a:buNone/>
            </a:pPr>
            <a:r>
              <a:rPr lang="en-US" sz="1200" b="1" spc="200" kern="0" dirty="0">
                <a:solidFill>
                  <a:srgbClr val="7C4DBE"/>
                </a:solidFill>
                <a:latin typeface="Calibri" pitchFamily="34" charset="0"/>
                <a:ea typeface="Calibri" pitchFamily="34" charset="-122"/>
                <a:cs typeface="Calibri" pitchFamily="34" charset="-120"/>
              </a:rPr>
              <a:t>TASK 3</a:t>
            </a:r>
            <a:endParaRPr lang="en-US" sz="1200" dirty="0"/>
          </a:p>
        </p:txBody>
      </p:sp>
      <p:sp>
        <p:nvSpPr>
          <p:cNvPr id="3" name="Text 1"/>
          <p:cNvSpPr/>
          <p:nvPr/>
        </p:nvSpPr>
        <p:spPr>
          <a:xfrm>
            <a:off x="548640" y="548640"/>
            <a:ext cx="8046720" cy="685800"/>
          </a:xfrm>
          <a:prstGeom prst="rect">
            <a:avLst/>
          </a:prstGeom>
          <a:noFill/>
          <a:ln/>
        </p:spPr>
        <p:txBody>
          <a:bodyPr wrap="square" lIns="0" tIns="0" rIns="0" bIns="0" rtlCol="0" anchor="ctr"/>
          <a:lstStyle/>
          <a:p>
            <a:pPr indent="0" marL="0">
              <a:buNone/>
            </a:pPr>
            <a:r>
              <a:rPr lang="en-US" sz="3000" b="1" dirty="0">
                <a:solidFill>
                  <a:srgbClr val="5B2D8E"/>
                </a:solidFill>
                <a:latin typeface="Calibri" pitchFamily="34" charset="0"/>
                <a:ea typeface="Calibri" pitchFamily="34" charset="-122"/>
                <a:cs typeface="Calibri" pitchFamily="34" charset="-120"/>
              </a:rPr>
              <a:t>Scaling with charging nodes</a:t>
            </a:r>
            <a:endParaRPr lang="en-US" sz="3000" dirty="0"/>
          </a:p>
        </p:txBody>
      </p:sp>
      <p:sp>
        <p:nvSpPr>
          <p:cNvPr id="4" name="Shape 2"/>
          <p:cNvSpPr/>
          <p:nvPr/>
        </p:nvSpPr>
        <p:spPr>
          <a:xfrm>
            <a:off x="8275320" y="384048"/>
            <a:ext cx="384048" cy="0"/>
          </a:xfrm>
          <a:prstGeom prst="line">
            <a:avLst/>
          </a:prstGeom>
          <a:noFill/>
          <a:ln w="12700">
            <a:solidFill>
              <a:srgbClr val="D9CBEF"/>
            </a:solidFill>
            <a:prstDash val="solid"/>
          </a:ln>
        </p:spPr>
      </p:sp>
      <p:sp>
        <p:nvSpPr>
          <p:cNvPr id="5" name="Shape 3"/>
          <p:cNvSpPr/>
          <p:nvPr/>
        </p:nvSpPr>
        <p:spPr>
          <a:xfrm>
            <a:off x="8275320" y="384048"/>
            <a:ext cx="0" cy="384048"/>
          </a:xfrm>
          <a:prstGeom prst="line">
            <a:avLst/>
          </a:prstGeom>
          <a:noFill/>
          <a:ln w="12700">
            <a:solidFill>
              <a:srgbClr val="D9CBEF"/>
            </a:solidFill>
            <a:prstDash val="solid"/>
          </a:ln>
        </p:spPr>
      </p:sp>
      <p:sp>
        <p:nvSpPr>
          <p:cNvPr id="6" name="Shape 4"/>
          <p:cNvSpPr/>
          <p:nvPr/>
        </p:nvSpPr>
        <p:spPr>
          <a:xfrm>
            <a:off x="8275320" y="576072"/>
            <a:ext cx="384048" cy="0"/>
          </a:xfrm>
          <a:prstGeom prst="line">
            <a:avLst/>
          </a:prstGeom>
          <a:noFill/>
          <a:ln w="12700">
            <a:solidFill>
              <a:srgbClr val="D9CBEF"/>
            </a:solidFill>
            <a:prstDash val="solid"/>
          </a:ln>
        </p:spPr>
      </p:sp>
      <p:sp>
        <p:nvSpPr>
          <p:cNvPr id="7" name="Shape 5"/>
          <p:cNvSpPr/>
          <p:nvPr/>
        </p:nvSpPr>
        <p:spPr>
          <a:xfrm>
            <a:off x="8467344" y="384048"/>
            <a:ext cx="0" cy="384048"/>
          </a:xfrm>
          <a:prstGeom prst="line">
            <a:avLst/>
          </a:prstGeom>
          <a:noFill/>
          <a:ln w="12700">
            <a:solidFill>
              <a:srgbClr val="D9CBEF"/>
            </a:solidFill>
            <a:prstDash val="solid"/>
          </a:ln>
        </p:spPr>
      </p:sp>
      <p:sp>
        <p:nvSpPr>
          <p:cNvPr id="8" name="Shape 6"/>
          <p:cNvSpPr/>
          <p:nvPr/>
        </p:nvSpPr>
        <p:spPr>
          <a:xfrm>
            <a:off x="8275320" y="768096"/>
            <a:ext cx="384048" cy="0"/>
          </a:xfrm>
          <a:prstGeom prst="line">
            <a:avLst/>
          </a:prstGeom>
          <a:noFill/>
          <a:ln w="12700">
            <a:solidFill>
              <a:srgbClr val="D9CBEF"/>
            </a:solidFill>
            <a:prstDash val="solid"/>
          </a:ln>
        </p:spPr>
      </p:sp>
      <p:sp>
        <p:nvSpPr>
          <p:cNvPr id="9" name="Shape 7"/>
          <p:cNvSpPr/>
          <p:nvPr/>
        </p:nvSpPr>
        <p:spPr>
          <a:xfrm>
            <a:off x="8659368" y="384048"/>
            <a:ext cx="0" cy="384048"/>
          </a:xfrm>
          <a:prstGeom prst="line">
            <a:avLst/>
          </a:prstGeom>
          <a:noFill/>
          <a:ln w="12700">
            <a:solidFill>
              <a:srgbClr val="D9CBEF"/>
            </a:solidFill>
            <a:prstDash val="solid"/>
          </a:ln>
        </p:spPr>
      </p:sp>
      <p:sp>
        <p:nvSpPr>
          <p:cNvPr id="10" name="Shape 8"/>
          <p:cNvSpPr/>
          <p:nvPr/>
        </p:nvSpPr>
        <p:spPr>
          <a:xfrm>
            <a:off x="8234172" y="342900"/>
            <a:ext cx="82296" cy="82296"/>
          </a:xfrm>
          <a:prstGeom prst="ellipse">
            <a:avLst/>
          </a:prstGeom>
          <a:solidFill>
            <a:srgbClr val="7C4DBE"/>
          </a:solidFill>
          <a:ln/>
        </p:spPr>
      </p:sp>
      <p:sp>
        <p:nvSpPr>
          <p:cNvPr id="11" name="Shape 9"/>
          <p:cNvSpPr/>
          <p:nvPr/>
        </p:nvSpPr>
        <p:spPr>
          <a:xfrm>
            <a:off x="8234172" y="534924"/>
            <a:ext cx="82296" cy="82296"/>
          </a:xfrm>
          <a:prstGeom prst="ellipse">
            <a:avLst/>
          </a:prstGeom>
          <a:solidFill>
            <a:srgbClr val="7C4DBE"/>
          </a:solidFill>
          <a:ln/>
        </p:spPr>
      </p:sp>
      <p:sp>
        <p:nvSpPr>
          <p:cNvPr id="12" name="Shape 10"/>
          <p:cNvSpPr/>
          <p:nvPr/>
        </p:nvSpPr>
        <p:spPr>
          <a:xfrm>
            <a:off x="8234172" y="726948"/>
            <a:ext cx="82296" cy="82296"/>
          </a:xfrm>
          <a:prstGeom prst="ellipse">
            <a:avLst/>
          </a:prstGeom>
          <a:solidFill>
            <a:srgbClr val="7C4DBE"/>
          </a:solidFill>
          <a:ln/>
        </p:spPr>
      </p:sp>
      <p:sp>
        <p:nvSpPr>
          <p:cNvPr id="13" name="Shape 11"/>
          <p:cNvSpPr/>
          <p:nvPr/>
        </p:nvSpPr>
        <p:spPr>
          <a:xfrm>
            <a:off x="8426196" y="342900"/>
            <a:ext cx="82296" cy="82296"/>
          </a:xfrm>
          <a:prstGeom prst="ellipse">
            <a:avLst/>
          </a:prstGeom>
          <a:solidFill>
            <a:srgbClr val="7C4DBE"/>
          </a:solidFill>
          <a:ln/>
        </p:spPr>
      </p:sp>
      <p:sp>
        <p:nvSpPr>
          <p:cNvPr id="14" name="Shape 12"/>
          <p:cNvSpPr/>
          <p:nvPr/>
        </p:nvSpPr>
        <p:spPr>
          <a:xfrm>
            <a:off x="8426196" y="534924"/>
            <a:ext cx="82296" cy="82296"/>
          </a:xfrm>
          <a:prstGeom prst="ellipse">
            <a:avLst/>
          </a:prstGeom>
          <a:solidFill>
            <a:srgbClr val="5B2D8E"/>
          </a:solidFill>
          <a:ln/>
        </p:spPr>
      </p:sp>
      <p:sp>
        <p:nvSpPr>
          <p:cNvPr id="15" name="Shape 13"/>
          <p:cNvSpPr/>
          <p:nvPr/>
        </p:nvSpPr>
        <p:spPr>
          <a:xfrm>
            <a:off x="8426196" y="726948"/>
            <a:ext cx="82296" cy="82296"/>
          </a:xfrm>
          <a:prstGeom prst="ellipse">
            <a:avLst/>
          </a:prstGeom>
          <a:solidFill>
            <a:srgbClr val="7C4DBE"/>
          </a:solidFill>
          <a:ln/>
        </p:spPr>
      </p:sp>
      <p:sp>
        <p:nvSpPr>
          <p:cNvPr id="16" name="Shape 14"/>
          <p:cNvSpPr/>
          <p:nvPr/>
        </p:nvSpPr>
        <p:spPr>
          <a:xfrm>
            <a:off x="8618220" y="342900"/>
            <a:ext cx="82296" cy="82296"/>
          </a:xfrm>
          <a:prstGeom prst="ellipse">
            <a:avLst/>
          </a:prstGeom>
          <a:solidFill>
            <a:srgbClr val="7C4DBE"/>
          </a:solidFill>
          <a:ln/>
        </p:spPr>
      </p:sp>
      <p:sp>
        <p:nvSpPr>
          <p:cNvPr id="17" name="Shape 15"/>
          <p:cNvSpPr/>
          <p:nvPr/>
        </p:nvSpPr>
        <p:spPr>
          <a:xfrm>
            <a:off x="8618220" y="534924"/>
            <a:ext cx="82296" cy="82296"/>
          </a:xfrm>
          <a:prstGeom prst="ellipse">
            <a:avLst/>
          </a:prstGeom>
          <a:solidFill>
            <a:srgbClr val="7C4DBE"/>
          </a:solidFill>
          <a:ln/>
        </p:spPr>
      </p:sp>
      <p:sp>
        <p:nvSpPr>
          <p:cNvPr id="18" name="Shape 16"/>
          <p:cNvSpPr/>
          <p:nvPr/>
        </p:nvSpPr>
        <p:spPr>
          <a:xfrm>
            <a:off x="8618220" y="726948"/>
            <a:ext cx="82296" cy="82296"/>
          </a:xfrm>
          <a:prstGeom prst="ellipse">
            <a:avLst/>
          </a:prstGeom>
          <a:solidFill>
            <a:srgbClr val="7C4DBE"/>
          </a:solidFill>
          <a:ln/>
        </p:spPr>
      </p:sp>
      <p:sp>
        <p:nvSpPr>
          <p:cNvPr id="19" name="Text 17"/>
          <p:cNvSpPr/>
          <p:nvPr/>
        </p:nvSpPr>
        <p:spPr>
          <a:xfrm>
            <a:off x="548640" y="1508760"/>
            <a:ext cx="3383280" cy="3108960"/>
          </a:xfrm>
          <a:prstGeom prst="rect">
            <a:avLst/>
          </a:prstGeom>
          <a:noFill/>
          <a:ln/>
        </p:spPr>
        <p:txBody>
          <a:bodyPr wrap="square" lIns="0" tIns="0" rIns="0" bIns="0" rtlCol="0" anchor="t"/>
          <a:lstStyle/>
          <a:p>
            <a:pPr marL="152400" indent="-152400">
              <a:spcAft>
                <a:spcPts val="1000"/>
              </a:spcAft>
              <a:buSzPct val="100000"/>
              <a:buChar char="•"/>
            </a:pPr>
            <a:r>
              <a:rPr lang="en-US" sz="1450" dirty="0">
                <a:solidFill>
                  <a:srgbClr val="2B2140"/>
                </a:solidFill>
                <a:latin typeface="Calibri" pitchFamily="34" charset="0"/>
                <a:ea typeface="Calibri" pitchFamily="34" charset="-122"/>
                <a:cs typeface="Calibri" pitchFamily="34" charset="-120"/>
              </a:rPr>
              <a:t>Neighbour messages: degree capped at 4 → O(1)</a:t>
            </a:r>
            <a:endParaRPr lang="en-US" sz="1450" dirty="0"/>
          </a:p>
          <a:p>
            <a:pPr marL="152400" indent="-152400">
              <a:spcAft>
                <a:spcPts val="1000"/>
              </a:spcAft>
              <a:buSzPct val="100000"/>
              <a:buChar char="•"/>
            </a:pPr>
            <a:r>
              <a:rPr lang="en-US" sz="1450" dirty="0">
                <a:solidFill>
                  <a:srgbClr val="2B2140"/>
                </a:solidFill>
                <a:latin typeface="Calibri" pitchFamily="34" charset="0"/>
                <a:ea typeface="Calibri" pitchFamily="34" charset="-122"/>
                <a:cs typeface="Calibri" pitchFamily="34" charset="-120"/>
              </a:rPr>
              <a:t>Alerts: all n nodes share one base-station link → O(n)</a:t>
            </a:r>
            <a:endParaRPr lang="en-US" sz="1450" dirty="0"/>
          </a:p>
          <a:p>
            <a:pPr marL="152400" indent="-152400">
              <a:spcAft>
                <a:spcPts val="1000"/>
              </a:spcAft>
              <a:buSzPct val="100000"/>
              <a:buChar char="•"/>
            </a:pPr>
            <a:r>
              <a:rPr lang="en-US" sz="1450" dirty="0">
                <a:solidFill>
                  <a:srgbClr val="2B2140"/>
                </a:solidFill>
                <a:latin typeface="Calibri" pitchFamily="34" charset="0"/>
                <a:ea typeface="Calibri" pitchFamily="34" charset="-122"/>
                <a:cs typeface="Calibri" pitchFamily="34" charset="-120"/>
              </a:rPr>
              <a:t>Star hub = the scalability limit</a:t>
            </a:r>
            <a:endParaRPr lang="en-US" sz="1450" dirty="0"/>
          </a:p>
        </p:txBody>
      </p:sp>
      <p:pic>
        <p:nvPicPr>
          <p:cNvPr id="20" name="Image 0" descr="/Users/erwynasoo/FIT3143/Week6_Applied1/solution/graphs/delay_vs_nodes.png">    </p:cNvPr>
          <p:cNvPicPr>
            <a:picLocks noChangeAspect="1"/>
          </p:cNvPicPr>
          <p:nvPr/>
        </p:nvPicPr>
        <p:blipFill>
          <a:blip r:embed="rId1"/>
          <a:stretch>
            <a:fillRect/>
          </a:stretch>
        </p:blipFill>
        <p:spPr>
          <a:xfrm>
            <a:off x="4114800" y="1371600"/>
            <a:ext cx="4572000" cy="32461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5943600" cy="274320"/>
          </a:xfrm>
          <a:prstGeom prst="rect">
            <a:avLst/>
          </a:prstGeom>
          <a:noFill/>
          <a:ln/>
        </p:spPr>
        <p:txBody>
          <a:bodyPr wrap="square" lIns="0" tIns="0" rIns="0" bIns="0" rtlCol="0" anchor="ctr"/>
          <a:lstStyle/>
          <a:p>
            <a:pPr indent="0" marL="0">
              <a:buNone/>
            </a:pPr>
            <a:r>
              <a:rPr lang="en-US" sz="1200" b="1" spc="200" kern="0" dirty="0">
                <a:solidFill>
                  <a:srgbClr val="7C4DBE"/>
                </a:solidFill>
                <a:latin typeface="Calibri" pitchFamily="34" charset="0"/>
                <a:ea typeface="Calibri" pitchFamily="34" charset="-122"/>
                <a:cs typeface="Calibri" pitchFamily="34" charset="-120"/>
              </a:rPr>
              <a:t>TASK 3</a:t>
            </a:r>
            <a:endParaRPr lang="en-US" sz="1200" dirty="0"/>
          </a:p>
        </p:txBody>
      </p:sp>
      <p:sp>
        <p:nvSpPr>
          <p:cNvPr id="3" name="Text 1"/>
          <p:cNvSpPr/>
          <p:nvPr/>
        </p:nvSpPr>
        <p:spPr>
          <a:xfrm>
            <a:off x="548640" y="548640"/>
            <a:ext cx="8046720" cy="685800"/>
          </a:xfrm>
          <a:prstGeom prst="rect">
            <a:avLst/>
          </a:prstGeom>
          <a:noFill/>
          <a:ln/>
        </p:spPr>
        <p:txBody>
          <a:bodyPr wrap="square" lIns="0" tIns="0" rIns="0" bIns="0" rtlCol="0" anchor="ctr"/>
          <a:lstStyle/>
          <a:p>
            <a:pPr indent="0" marL="0">
              <a:buNone/>
            </a:pPr>
            <a:r>
              <a:rPr lang="en-US" sz="3000" b="1" dirty="0">
                <a:solidFill>
                  <a:srgbClr val="5B2D8E"/>
                </a:solidFill>
                <a:latin typeface="Calibri" pitchFamily="34" charset="0"/>
                <a:ea typeface="Calibri" pitchFamily="34" charset="-122"/>
                <a:cs typeface="Calibri" pitchFamily="34" charset="-120"/>
              </a:rPr>
              <a:t>Scaling with base stations</a:t>
            </a:r>
            <a:endParaRPr lang="en-US" sz="3000" dirty="0"/>
          </a:p>
        </p:txBody>
      </p:sp>
      <p:sp>
        <p:nvSpPr>
          <p:cNvPr id="4" name="Shape 2"/>
          <p:cNvSpPr/>
          <p:nvPr/>
        </p:nvSpPr>
        <p:spPr>
          <a:xfrm>
            <a:off x="8275320" y="384048"/>
            <a:ext cx="384048" cy="0"/>
          </a:xfrm>
          <a:prstGeom prst="line">
            <a:avLst/>
          </a:prstGeom>
          <a:noFill/>
          <a:ln w="12700">
            <a:solidFill>
              <a:srgbClr val="D9CBEF"/>
            </a:solidFill>
            <a:prstDash val="solid"/>
          </a:ln>
        </p:spPr>
      </p:sp>
      <p:sp>
        <p:nvSpPr>
          <p:cNvPr id="5" name="Shape 3"/>
          <p:cNvSpPr/>
          <p:nvPr/>
        </p:nvSpPr>
        <p:spPr>
          <a:xfrm>
            <a:off x="8275320" y="384048"/>
            <a:ext cx="0" cy="384048"/>
          </a:xfrm>
          <a:prstGeom prst="line">
            <a:avLst/>
          </a:prstGeom>
          <a:noFill/>
          <a:ln w="12700">
            <a:solidFill>
              <a:srgbClr val="D9CBEF"/>
            </a:solidFill>
            <a:prstDash val="solid"/>
          </a:ln>
        </p:spPr>
      </p:sp>
      <p:sp>
        <p:nvSpPr>
          <p:cNvPr id="6" name="Shape 4"/>
          <p:cNvSpPr/>
          <p:nvPr/>
        </p:nvSpPr>
        <p:spPr>
          <a:xfrm>
            <a:off x="8275320" y="576072"/>
            <a:ext cx="384048" cy="0"/>
          </a:xfrm>
          <a:prstGeom prst="line">
            <a:avLst/>
          </a:prstGeom>
          <a:noFill/>
          <a:ln w="12700">
            <a:solidFill>
              <a:srgbClr val="D9CBEF"/>
            </a:solidFill>
            <a:prstDash val="solid"/>
          </a:ln>
        </p:spPr>
      </p:sp>
      <p:sp>
        <p:nvSpPr>
          <p:cNvPr id="7" name="Shape 5"/>
          <p:cNvSpPr/>
          <p:nvPr/>
        </p:nvSpPr>
        <p:spPr>
          <a:xfrm>
            <a:off x="8467344" y="384048"/>
            <a:ext cx="0" cy="384048"/>
          </a:xfrm>
          <a:prstGeom prst="line">
            <a:avLst/>
          </a:prstGeom>
          <a:noFill/>
          <a:ln w="12700">
            <a:solidFill>
              <a:srgbClr val="D9CBEF"/>
            </a:solidFill>
            <a:prstDash val="solid"/>
          </a:ln>
        </p:spPr>
      </p:sp>
      <p:sp>
        <p:nvSpPr>
          <p:cNvPr id="8" name="Shape 6"/>
          <p:cNvSpPr/>
          <p:nvPr/>
        </p:nvSpPr>
        <p:spPr>
          <a:xfrm>
            <a:off x="8275320" y="768096"/>
            <a:ext cx="384048" cy="0"/>
          </a:xfrm>
          <a:prstGeom prst="line">
            <a:avLst/>
          </a:prstGeom>
          <a:noFill/>
          <a:ln w="12700">
            <a:solidFill>
              <a:srgbClr val="D9CBEF"/>
            </a:solidFill>
            <a:prstDash val="solid"/>
          </a:ln>
        </p:spPr>
      </p:sp>
      <p:sp>
        <p:nvSpPr>
          <p:cNvPr id="9" name="Shape 7"/>
          <p:cNvSpPr/>
          <p:nvPr/>
        </p:nvSpPr>
        <p:spPr>
          <a:xfrm>
            <a:off x="8659368" y="384048"/>
            <a:ext cx="0" cy="384048"/>
          </a:xfrm>
          <a:prstGeom prst="line">
            <a:avLst/>
          </a:prstGeom>
          <a:noFill/>
          <a:ln w="12700">
            <a:solidFill>
              <a:srgbClr val="D9CBEF"/>
            </a:solidFill>
            <a:prstDash val="solid"/>
          </a:ln>
        </p:spPr>
      </p:sp>
      <p:sp>
        <p:nvSpPr>
          <p:cNvPr id="10" name="Shape 8"/>
          <p:cNvSpPr/>
          <p:nvPr/>
        </p:nvSpPr>
        <p:spPr>
          <a:xfrm>
            <a:off x="8234172" y="342900"/>
            <a:ext cx="82296" cy="82296"/>
          </a:xfrm>
          <a:prstGeom prst="ellipse">
            <a:avLst/>
          </a:prstGeom>
          <a:solidFill>
            <a:srgbClr val="7C4DBE"/>
          </a:solidFill>
          <a:ln/>
        </p:spPr>
      </p:sp>
      <p:sp>
        <p:nvSpPr>
          <p:cNvPr id="11" name="Shape 9"/>
          <p:cNvSpPr/>
          <p:nvPr/>
        </p:nvSpPr>
        <p:spPr>
          <a:xfrm>
            <a:off x="8234172" y="534924"/>
            <a:ext cx="82296" cy="82296"/>
          </a:xfrm>
          <a:prstGeom prst="ellipse">
            <a:avLst/>
          </a:prstGeom>
          <a:solidFill>
            <a:srgbClr val="7C4DBE"/>
          </a:solidFill>
          <a:ln/>
        </p:spPr>
      </p:sp>
      <p:sp>
        <p:nvSpPr>
          <p:cNvPr id="12" name="Shape 10"/>
          <p:cNvSpPr/>
          <p:nvPr/>
        </p:nvSpPr>
        <p:spPr>
          <a:xfrm>
            <a:off x="8234172" y="726948"/>
            <a:ext cx="82296" cy="82296"/>
          </a:xfrm>
          <a:prstGeom prst="ellipse">
            <a:avLst/>
          </a:prstGeom>
          <a:solidFill>
            <a:srgbClr val="7C4DBE"/>
          </a:solidFill>
          <a:ln/>
        </p:spPr>
      </p:sp>
      <p:sp>
        <p:nvSpPr>
          <p:cNvPr id="13" name="Shape 11"/>
          <p:cNvSpPr/>
          <p:nvPr/>
        </p:nvSpPr>
        <p:spPr>
          <a:xfrm>
            <a:off x="8426196" y="342900"/>
            <a:ext cx="82296" cy="82296"/>
          </a:xfrm>
          <a:prstGeom prst="ellipse">
            <a:avLst/>
          </a:prstGeom>
          <a:solidFill>
            <a:srgbClr val="7C4DBE"/>
          </a:solidFill>
          <a:ln/>
        </p:spPr>
      </p:sp>
      <p:sp>
        <p:nvSpPr>
          <p:cNvPr id="14" name="Shape 12"/>
          <p:cNvSpPr/>
          <p:nvPr/>
        </p:nvSpPr>
        <p:spPr>
          <a:xfrm>
            <a:off x="8426196" y="534924"/>
            <a:ext cx="82296" cy="82296"/>
          </a:xfrm>
          <a:prstGeom prst="ellipse">
            <a:avLst/>
          </a:prstGeom>
          <a:solidFill>
            <a:srgbClr val="5B2D8E"/>
          </a:solidFill>
          <a:ln/>
        </p:spPr>
      </p:sp>
      <p:sp>
        <p:nvSpPr>
          <p:cNvPr id="15" name="Shape 13"/>
          <p:cNvSpPr/>
          <p:nvPr/>
        </p:nvSpPr>
        <p:spPr>
          <a:xfrm>
            <a:off x="8426196" y="726948"/>
            <a:ext cx="82296" cy="82296"/>
          </a:xfrm>
          <a:prstGeom prst="ellipse">
            <a:avLst/>
          </a:prstGeom>
          <a:solidFill>
            <a:srgbClr val="7C4DBE"/>
          </a:solidFill>
          <a:ln/>
        </p:spPr>
      </p:sp>
      <p:sp>
        <p:nvSpPr>
          <p:cNvPr id="16" name="Shape 14"/>
          <p:cNvSpPr/>
          <p:nvPr/>
        </p:nvSpPr>
        <p:spPr>
          <a:xfrm>
            <a:off x="8618220" y="342900"/>
            <a:ext cx="82296" cy="82296"/>
          </a:xfrm>
          <a:prstGeom prst="ellipse">
            <a:avLst/>
          </a:prstGeom>
          <a:solidFill>
            <a:srgbClr val="7C4DBE"/>
          </a:solidFill>
          <a:ln/>
        </p:spPr>
      </p:sp>
      <p:sp>
        <p:nvSpPr>
          <p:cNvPr id="17" name="Shape 15"/>
          <p:cNvSpPr/>
          <p:nvPr/>
        </p:nvSpPr>
        <p:spPr>
          <a:xfrm>
            <a:off x="8618220" y="534924"/>
            <a:ext cx="82296" cy="82296"/>
          </a:xfrm>
          <a:prstGeom prst="ellipse">
            <a:avLst/>
          </a:prstGeom>
          <a:solidFill>
            <a:srgbClr val="7C4DBE"/>
          </a:solidFill>
          <a:ln/>
        </p:spPr>
      </p:sp>
      <p:sp>
        <p:nvSpPr>
          <p:cNvPr id="18" name="Shape 16"/>
          <p:cNvSpPr/>
          <p:nvPr/>
        </p:nvSpPr>
        <p:spPr>
          <a:xfrm>
            <a:off x="8618220" y="726948"/>
            <a:ext cx="82296" cy="82296"/>
          </a:xfrm>
          <a:prstGeom prst="ellipse">
            <a:avLst/>
          </a:prstGeom>
          <a:solidFill>
            <a:srgbClr val="7C4DBE"/>
          </a:solidFill>
          <a:ln/>
        </p:spPr>
      </p:sp>
      <p:sp>
        <p:nvSpPr>
          <p:cNvPr id="19" name="Text 17"/>
          <p:cNvSpPr/>
          <p:nvPr/>
        </p:nvSpPr>
        <p:spPr>
          <a:xfrm>
            <a:off x="548640" y="1508760"/>
            <a:ext cx="3383280" cy="3108960"/>
          </a:xfrm>
          <a:prstGeom prst="rect">
            <a:avLst/>
          </a:prstGeom>
          <a:noFill/>
          <a:ln/>
        </p:spPr>
        <p:txBody>
          <a:bodyPr wrap="square" lIns="0" tIns="0" rIns="0" bIns="0" rtlCol="0" anchor="t"/>
          <a:lstStyle/>
          <a:p>
            <a:pPr marL="152400" indent="-152400">
              <a:spcAft>
                <a:spcPts val="1000"/>
              </a:spcAft>
              <a:buSzPct val="100000"/>
              <a:buChar char="•"/>
            </a:pPr>
            <a:r>
              <a:rPr lang="en-US" sz="1450" dirty="0">
                <a:solidFill>
                  <a:srgbClr val="2B2140"/>
                </a:solidFill>
                <a:latin typeface="Calibri" pitchFamily="34" charset="0"/>
                <a:ea typeface="Calibri" pitchFamily="34" charset="-122"/>
                <a:cs typeface="Calibri" pitchFamily="34" charset="-120"/>
              </a:rPr>
              <a:t>b stations → each handles ≈ n/b → delay O(n/b)</a:t>
            </a:r>
            <a:endParaRPr lang="en-US" sz="1450" dirty="0"/>
          </a:p>
          <a:p>
            <a:pPr marL="152400" indent="-152400">
              <a:spcAft>
                <a:spcPts val="1000"/>
              </a:spcAft>
              <a:buSzPct val="100000"/>
              <a:buChar char="•"/>
            </a:pPr>
            <a:r>
              <a:rPr lang="en-US" sz="1450" dirty="0">
                <a:solidFill>
                  <a:srgbClr val="2B2140"/>
                </a:solidFill>
                <a:latin typeface="Calibri" pitchFamily="34" charset="0"/>
                <a:ea typeface="Calibri" pitchFamily="34" charset="-122"/>
                <a:cs typeface="Calibri" pitchFamily="34" charset="-120"/>
              </a:rPr>
              <a:t>Diminishing returns: availability table must sync</a:t>
            </a:r>
            <a:endParaRPr lang="en-US" sz="1450" dirty="0"/>
          </a:p>
          <a:p>
            <a:pPr marL="152400" indent="-152400">
              <a:spcAft>
                <a:spcPts val="1000"/>
              </a:spcAft>
              <a:buSzPct val="100000"/>
              <a:buChar char="•"/>
            </a:pPr>
            <a:r>
              <a:rPr lang="en-US" sz="1450" dirty="0">
                <a:solidFill>
                  <a:srgbClr val="2B2140"/>
                </a:solidFill>
                <a:latin typeface="Calibri" pitchFamily="34" charset="0"/>
                <a:ea typeface="Calibri" pitchFamily="34" charset="-122"/>
                <a:cs typeface="Calibri" pitchFamily="34" charset="-120"/>
              </a:rPr>
              <a:t>Sync overhead = the serial fraction</a:t>
            </a:r>
            <a:endParaRPr lang="en-US" sz="1450" dirty="0"/>
          </a:p>
        </p:txBody>
      </p:sp>
      <p:pic>
        <p:nvPicPr>
          <p:cNvPr id="20" name="Image 0" descr="/Users/erwynasoo/FIT3143/Week6_Applied1/solution/graphs/delay_vs_base_stations.png">    </p:cNvPr>
          <p:cNvPicPr>
            <a:picLocks noChangeAspect="1"/>
          </p:cNvPicPr>
          <p:nvPr/>
        </p:nvPicPr>
        <p:blipFill>
          <a:blip r:embed="rId1"/>
          <a:stretch>
            <a:fillRect/>
          </a:stretch>
        </p:blipFill>
        <p:spPr>
          <a:xfrm>
            <a:off x="4114800" y="1371600"/>
            <a:ext cx="4572000" cy="324612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5943600" cy="274320"/>
          </a:xfrm>
          <a:prstGeom prst="rect">
            <a:avLst/>
          </a:prstGeom>
          <a:noFill/>
          <a:ln/>
        </p:spPr>
        <p:txBody>
          <a:bodyPr wrap="square" lIns="0" tIns="0" rIns="0" bIns="0" rtlCol="0" anchor="ctr"/>
          <a:lstStyle/>
          <a:p>
            <a:pPr indent="0" marL="0">
              <a:buNone/>
            </a:pPr>
            <a:r>
              <a:rPr lang="en-US" sz="1200" b="1" spc="200" kern="0" dirty="0">
                <a:solidFill>
                  <a:srgbClr val="7C4DBE"/>
                </a:solidFill>
                <a:latin typeface="Calibri" pitchFamily="34" charset="0"/>
                <a:ea typeface="Calibri" pitchFamily="34" charset="-122"/>
                <a:cs typeface="Calibri" pitchFamily="34" charset="-120"/>
              </a:rPr>
              <a:t>WRAP-UP</a:t>
            </a:r>
            <a:endParaRPr lang="en-US" sz="1200" dirty="0"/>
          </a:p>
        </p:txBody>
      </p:sp>
      <p:sp>
        <p:nvSpPr>
          <p:cNvPr id="3" name="Text 1"/>
          <p:cNvSpPr/>
          <p:nvPr/>
        </p:nvSpPr>
        <p:spPr>
          <a:xfrm>
            <a:off x="548640" y="548640"/>
            <a:ext cx="8046720" cy="685800"/>
          </a:xfrm>
          <a:prstGeom prst="rect">
            <a:avLst/>
          </a:prstGeom>
          <a:noFill/>
          <a:ln/>
        </p:spPr>
        <p:txBody>
          <a:bodyPr wrap="square" lIns="0" tIns="0" rIns="0" bIns="0" rtlCol="0" anchor="ctr"/>
          <a:lstStyle/>
          <a:p>
            <a:pPr indent="0" marL="0">
              <a:buNone/>
            </a:pPr>
            <a:r>
              <a:rPr lang="en-US" sz="3000" b="1" dirty="0">
                <a:solidFill>
                  <a:srgbClr val="5B2D8E"/>
                </a:solidFill>
                <a:latin typeface="Calibri" pitchFamily="34" charset="0"/>
                <a:ea typeface="Calibri" pitchFamily="34" charset="-122"/>
                <a:cs typeface="Calibri" pitchFamily="34" charset="-120"/>
              </a:rPr>
              <a:t>Conclusion, limitations, future work</a:t>
            </a:r>
            <a:endParaRPr lang="en-US" sz="3000" dirty="0"/>
          </a:p>
        </p:txBody>
      </p:sp>
      <p:sp>
        <p:nvSpPr>
          <p:cNvPr id="4" name="Shape 2"/>
          <p:cNvSpPr/>
          <p:nvPr/>
        </p:nvSpPr>
        <p:spPr>
          <a:xfrm>
            <a:off x="8275320" y="384048"/>
            <a:ext cx="384048" cy="0"/>
          </a:xfrm>
          <a:prstGeom prst="line">
            <a:avLst/>
          </a:prstGeom>
          <a:noFill/>
          <a:ln w="12700">
            <a:solidFill>
              <a:srgbClr val="D9CBEF"/>
            </a:solidFill>
            <a:prstDash val="solid"/>
          </a:ln>
        </p:spPr>
      </p:sp>
      <p:sp>
        <p:nvSpPr>
          <p:cNvPr id="5" name="Shape 3"/>
          <p:cNvSpPr/>
          <p:nvPr/>
        </p:nvSpPr>
        <p:spPr>
          <a:xfrm>
            <a:off x="8275320" y="384048"/>
            <a:ext cx="0" cy="384048"/>
          </a:xfrm>
          <a:prstGeom prst="line">
            <a:avLst/>
          </a:prstGeom>
          <a:noFill/>
          <a:ln w="12700">
            <a:solidFill>
              <a:srgbClr val="D9CBEF"/>
            </a:solidFill>
            <a:prstDash val="solid"/>
          </a:ln>
        </p:spPr>
      </p:sp>
      <p:sp>
        <p:nvSpPr>
          <p:cNvPr id="6" name="Shape 4"/>
          <p:cNvSpPr/>
          <p:nvPr/>
        </p:nvSpPr>
        <p:spPr>
          <a:xfrm>
            <a:off x="8275320" y="576072"/>
            <a:ext cx="384048" cy="0"/>
          </a:xfrm>
          <a:prstGeom prst="line">
            <a:avLst/>
          </a:prstGeom>
          <a:noFill/>
          <a:ln w="12700">
            <a:solidFill>
              <a:srgbClr val="D9CBEF"/>
            </a:solidFill>
            <a:prstDash val="solid"/>
          </a:ln>
        </p:spPr>
      </p:sp>
      <p:sp>
        <p:nvSpPr>
          <p:cNvPr id="7" name="Shape 5"/>
          <p:cNvSpPr/>
          <p:nvPr/>
        </p:nvSpPr>
        <p:spPr>
          <a:xfrm>
            <a:off x="8467344" y="384048"/>
            <a:ext cx="0" cy="384048"/>
          </a:xfrm>
          <a:prstGeom prst="line">
            <a:avLst/>
          </a:prstGeom>
          <a:noFill/>
          <a:ln w="12700">
            <a:solidFill>
              <a:srgbClr val="D9CBEF"/>
            </a:solidFill>
            <a:prstDash val="solid"/>
          </a:ln>
        </p:spPr>
      </p:sp>
      <p:sp>
        <p:nvSpPr>
          <p:cNvPr id="8" name="Shape 6"/>
          <p:cNvSpPr/>
          <p:nvPr/>
        </p:nvSpPr>
        <p:spPr>
          <a:xfrm>
            <a:off x="8275320" y="768096"/>
            <a:ext cx="384048" cy="0"/>
          </a:xfrm>
          <a:prstGeom prst="line">
            <a:avLst/>
          </a:prstGeom>
          <a:noFill/>
          <a:ln w="12700">
            <a:solidFill>
              <a:srgbClr val="D9CBEF"/>
            </a:solidFill>
            <a:prstDash val="solid"/>
          </a:ln>
        </p:spPr>
      </p:sp>
      <p:sp>
        <p:nvSpPr>
          <p:cNvPr id="9" name="Shape 7"/>
          <p:cNvSpPr/>
          <p:nvPr/>
        </p:nvSpPr>
        <p:spPr>
          <a:xfrm>
            <a:off x="8659368" y="384048"/>
            <a:ext cx="0" cy="384048"/>
          </a:xfrm>
          <a:prstGeom prst="line">
            <a:avLst/>
          </a:prstGeom>
          <a:noFill/>
          <a:ln w="12700">
            <a:solidFill>
              <a:srgbClr val="D9CBEF"/>
            </a:solidFill>
            <a:prstDash val="solid"/>
          </a:ln>
        </p:spPr>
      </p:sp>
      <p:sp>
        <p:nvSpPr>
          <p:cNvPr id="10" name="Shape 8"/>
          <p:cNvSpPr/>
          <p:nvPr/>
        </p:nvSpPr>
        <p:spPr>
          <a:xfrm>
            <a:off x="8234172" y="342900"/>
            <a:ext cx="82296" cy="82296"/>
          </a:xfrm>
          <a:prstGeom prst="ellipse">
            <a:avLst/>
          </a:prstGeom>
          <a:solidFill>
            <a:srgbClr val="7C4DBE"/>
          </a:solidFill>
          <a:ln/>
        </p:spPr>
      </p:sp>
      <p:sp>
        <p:nvSpPr>
          <p:cNvPr id="11" name="Shape 9"/>
          <p:cNvSpPr/>
          <p:nvPr/>
        </p:nvSpPr>
        <p:spPr>
          <a:xfrm>
            <a:off x="8234172" y="534924"/>
            <a:ext cx="82296" cy="82296"/>
          </a:xfrm>
          <a:prstGeom prst="ellipse">
            <a:avLst/>
          </a:prstGeom>
          <a:solidFill>
            <a:srgbClr val="7C4DBE"/>
          </a:solidFill>
          <a:ln/>
        </p:spPr>
      </p:sp>
      <p:sp>
        <p:nvSpPr>
          <p:cNvPr id="12" name="Shape 10"/>
          <p:cNvSpPr/>
          <p:nvPr/>
        </p:nvSpPr>
        <p:spPr>
          <a:xfrm>
            <a:off x="8234172" y="726948"/>
            <a:ext cx="82296" cy="82296"/>
          </a:xfrm>
          <a:prstGeom prst="ellipse">
            <a:avLst/>
          </a:prstGeom>
          <a:solidFill>
            <a:srgbClr val="7C4DBE"/>
          </a:solidFill>
          <a:ln/>
        </p:spPr>
      </p:sp>
      <p:sp>
        <p:nvSpPr>
          <p:cNvPr id="13" name="Shape 11"/>
          <p:cNvSpPr/>
          <p:nvPr/>
        </p:nvSpPr>
        <p:spPr>
          <a:xfrm>
            <a:off x="8426196" y="342900"/>
            <a:ext cx="82296" cy="82296"/>
          </a:xfrm>
          <a:prstGeom prst="ellipse">
            <a:avLst/>
          </a:prstGeom>
          <a:solidFill>
            <a:srgbClr val="7C4DBE"/>
          </a:solidFill>
          <a:ln/>
        </p:spPr>
      </p:sp>
      <p:sp>
        <p:nvSpPr>
          <p:cNvPr id="14" name="Shape 12"/>
          <p:cNvSpPr/>
          <p:nvPr/>
        </p:nvSpPr>
        <p:spPr>
          <a:xfrm>
            <a:off x="8426196" y="534924"/>
            <a:ext cx="82296" cy="82296"/>
          </a:xfrm>
          <a:prstGeom prst="ellipse">
            <a:avLst/>
          </a:prstGeom>
          <a:solidFill>
            <a:srgbClr val="5B2D8E"/>
          </a:solidFill>
          <a:ln/>
        </p:spPr>
      </p:sp>
      <p:sp>
        <p:nvSpPr>
          <p:cNvPr id="15" name="Shape 13"/>
          <p:cNvSpPr/>
          <p:nvPr/>
        </p:nvSpPr>
        <p:spPr>
          <a:xfrm>
            <a:off x="8426196" y="726948"/>
            <a:ext cx="82296" cy="82296"/>
          </a:xfrm>
          <a:prstGeom prst="ellipse">
            <a:avLst/>
          </a:prstGeom>
          <a:solidFill>
            <a:srgbClr val="7C4DBE"/>
          </a:solidFill>
          <a:ln/>
        </p:spPr>
      </p:sp>
      <p:sp>
        <p:nvSpPr>
          <p:cNvPr id="16" name="Shape 14"/>
          <p:cNvSpPr/>
          <p:nvPr/>
        </p:nvSpPr>
        <p:spPr>
          <a:xfrm>
            <a:off x="8618220" y="342900"/>
            <a:ext cx="82296" cy="82296"/>
          </a:xfrm>
          <a:prstGeom prst="ellipse">
            <a:avLst/>
          </a:prstGeom>
          <a:solidFill>
            <a:srgbClr val="7C4DBE"/>
          </a:solidFill>
          <a:ln/>
        </p:spPr>
      </p:sp>
      <p:sp>
        <p:nvSpPr>
          <p:cNvPr id="17" name="Shape 15"/>
          <p:cNvSpPr/>
          <p:nvPr/>
        </p:nvSpPr>
        <p:spPr>
          <a:xfrm>
            <a:off x="8618220" y="534924"/>
            <a:ext cx="82296" cy="82296"/>
          </a:xfrm>
          <a:prstGeom prst="ellipse">
            <a:avLst/>
          </a:prstGeom>
          <a:solidFill>
            <a:srgbClr val="7C4DBE"/>
          </a:solidFill>
          <a:ln/>
        </p:spPr>
      </p:sp>
      <p:sp>
        <p:nvSpPr>
          <p:cNvPr id="18" name="Shape 16"/>
          <p:cNvSpPr/>
          <p:nvPr/>
        </p:nvSpPr>
        <p:spPr>
          <a:xfrm>
            <a:off x="8618220" y="726948"/>
            <a:ext cx="82296" cy="82296"/>
          </a:xfrm>
          <a:prstGeom prst="ellipse">
            <a:avLst/>
          </a:prstGeom>
          <a:solidFill>
            <a:srgbClr val="7C4DBE"/>
          </a:solidFill>
          <a:ln/>
        </p:spPr>
      </p:sp>
      <p:sp>
        <p:nvSpPr>
          <p:cNvPr id="19" name="Text 17"/>
          <p:cNvSpPr/>
          <p:nvPr/>
        </p:nvSpPr>
        <p:spPr>
          <a:xfrm>
            <a:off x="548640" y="1554480"/>
            <a:ext cx="7955280" cy="3108960"/>
          </a:xfrm>
          <a:prstGeom prst="rect">
            <a:avLst/>
          </a:prstGeom>
          <a:noFill/>
          <a:ln/>
        </p:spPr>
        <p:txBody>
          <a:bodyPr wrap="square" lIns="0" tIns="0" rIns="0" bIns="0" rtlCol="0" anchor="t"/>
          <a:lstStyle/>
          <a:p>
            <a:pPr marL="152400" indent="-152400">
              <a:spcAft>
                <a:spcPts val="1200"/>
              </a:spcAft>
              <a:buSzPct val="100000"/>
              <a:buChar char="•"/>
            </a:pPr>
            <a:r>
              <a:rPr lang="en-US" sz="1600" dirty="0">
                <a:solidFill>
                  <a:srgbClr val="2B2140"/>
                </a:solidFill>
                <a:latin typeface="Calibri" pitchFamily="34" charset="0"/>
                <a:ea typeface="Calibri" pitchFamily="34" charset="-122"/>
                <a:cs typeface="Calibri" pitchFamily="34" charset="-120"/>
              </a:rPr>
              <a:t>Mesh + star matches the physical WSN</a:t>
            </a:r>
            <a:endParaRPr lang="en-US" sz="1600" dirty="0"/>
          </a:p>
          <a:p>
            <a:pPr marL="152400" indent="-152400">
              <a:spcAft>
                <a:spcPts val="1200"/>
              </a:spcAft>
              <a:buSzPct val="100000"/>
              <a:buChar char="•"/>
            </a:pPr>
            <a:r>
              <a:rPr lang="en-US" sz="1600" dirty="0">
                <a:solidFill>
                  <a:srgbClr val="2B2140"/>
                </a:solidFill>
                <a:latin typeface="Calibri" pitchFamily="34" charset="0"/>
                <a:ea typeface="Calibri" pitchFamily="34" charset="-122"/>
                <a:cs typeface="Calibri" pitchFamily="34" charset="-120"/>
              </a:rPr>
              <a:t>MPI between machines + threads within: both parallelism models</a:t>
            </a:r>
            <a:endParaRPr lang="en-US" sz="1600" dirty="0"/>
          </a:p>
          <a:p>
            <a:pPr marL="152400" indent="-152400">
              <a:spcAft>
                <a:spcPts val="1200"/>
              </a:spcAft>
              <a:buSzPct val="100000"/>
              <a:buChar char="•"/>
            </a:pPr>
            <a:r>
              <a:rPr lang="en-US" sz="1600" dirty="0">
                <a:solidFill>
                  <a:srgbClr val="2B2140"/>
                </a:solidFill>
                <a:latin typeface="Calibri" pitchFamily="34" charset="0"/>
                <a:ea typeface="Calibri" pitchFamily="34" charset="-122"/>
                <a:cs typeface="Calibri" pitchFamily="34" charset="-120"/>
              </a:rPr>
              <a:t>Bottleneck: base-station link; relieved, not removed, by more stations</a:t>
            </a:r>
            <a:endParaRPr lang="en-US" sz="1600" dirty="0"/>
          </a:p>
          <a:p>
            <a:pPr marL="152400" indent="-152400">
              <a:spcAft>
                <a:spcPts val="1200"/>
              </a:spcAft>
              <a:buSzPct val="100000"/>
              <a:buChar char="•"/>
            </a:pPr>
            <a:r>
              <a:rPr lang="en-US" sz="1600" dirty="0">
                <a:solidFill>
                  <a:srgbClr val="2B2140"/>
                </a:solidFill>
                <a:latin typeface="Calibri" pitchFamily="34" charset="0"/>
                <a:ea typeface="Calibri" pitchFamily="34" charset="-122"/>
                <a:cs typeface="Calibri" pitchFamily="34" charset="-120"/>
              </a:rPr>
              <a:t>Limits: MPI assumes reliable links; central BS = single point of failure</a:t>
            </a:r>
            <a:endParaRPr lang="en-US" sz="1600" dirty="0"/>
          </a:p>
          <a:p>
            <a:pPr marL="152400" indent="-152400">
              <a:spcAft>
                <a:spcPts val="1200"/>
              </a:spcAft>
              <a:buSzPct val="100000"/>
              <a:buChar char="•"/>
            </a:pPr>
            <a:r>
              <a:rPr lang="en-US" sz="1600" dirty="0">
                <a:solidFill>
                  <a:srgbClr val="2B2140"/>
                </a:solidFill>
                <a:latin typeface="Calibri" pitchFamily="34" charset="0"/>
                <a:ea typeface="Calibri" pitchFamily="34" charset="-122"/>
                <a:cs typeface="Calibri" pitchFamily="34" charset="-120"/>
              </a:rPr>
              <a:t>Future: fault injection, replicated base stations, real EV data</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5B2D8E"/>
        </a:solidFill>
      </p:bgPr>
    </p:bg>
    <p:spTree>
      <p:nvGrpSpPr>
        <p:cNvPr id="1" name=""/>
        <p:cNvGrpSpPr/>
        <p:nvPr/>
      </p:nvGrpSpPr>
      <p:grpSpPr>
        <a:xfrm>
          <a:off x="0" y="0"/>
          <a:ext cx="0" cy="0"/>
          <a:chOff x="0" y="0"/>
          <a:chExt cx="0" cy="0"/>
        </a:xfrm>
      </p:grpSpPr>
      <p:sp>
        <p:nvSpPr>
          <p:cNvPr id="2" name="Text 0"/>
          <p:cNvSpPr/>
          <p:nvPr/>
        </p:nvSpPr>
        <p:spPr>
          <a:xfrm>
            <a:off x="548640" y="2011680"/>
            <a:ext cx="8046720"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Calibri" pitchFamily="34" charset="0"/>
                <a:ea typeface="Calibri" pitchFamily="34" charset="-122"/>
                <a:cs typeface="Calibri" pitchFamily="34" charset="-120"/>
              </a:rPr>
              <a:t>Questions?</a:t>
            </a:r>
            <a:endParaRPr lang="en-US" sz="4800" dirty="0"/>
          </a:p>
        </p:txBody>
      </p:sp>
      <p:sp>
        <p:nvSpPr>
          <p:cNvPr id="3" name="Text 1"/>
          <p:cNvSpPr/>
          <p:nvPr/>
        </p:nvSpPr>
        <p:spPr>
          <a:xfrm>
            <a:off x="548640" y="4297680"/>
            <a:ext cx="8046720" cy="365760"/>
          </a:xfrm>
          <a:prstGeom prst="rect">
            <a:avLst/>
          </a:prstGeom>
          <a:noFill/>
          <a:ln/>
        </p:spPr>
        <p:txBody>
          <a:bodyPr wrap="square" lIns="0" tIns="0" rIns="0" bIns="0" rtlCol="0" anchor="ctr"/>
          <a:lstStyle/>
          <a:p>
            <a:pPr algn="ctr" indent="0" marL="0">
              <a:buNone/>
            </a:pPr>
            <a:r>
              <a:rPr lang="en-US" sz="1300" dirty="0">
                <a:solidFill>
                  <a:srgbClr val="D9CBEF"/>
                </a:solidFill>
                <a:latin typeface="Calibri" pitchFamily="34" charset="0"/>
                <a:ea typeface="Calibri" pitchFamily="34" charset="-122"/>
                <a:cs typeface="Calibri" pitchFamily="34" charset="-120"/>
              </a:rPr>
              <a:t>Appendix slides follow, clearly labelled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194560"/>
            <a:ext cx="8046720" cy="731520"/>
          </a:xfrm>
          <a:prstGeom prst="rect">
            <a:avLst/>
          </a:prstGeom>
          <a:noFill/>
          <a:ln/>
        </p:spPr>
        <p:txBody>
          <a:bodyPr wrap="square" lIns="0" tIns="0" rIns="0" bIns="0" rtlCol="0" anchor="ctr"/>
          <a:lstStyle/>
          <a:p>
            <a:pPr algn="ctr" indent="0" marL="0">
              <a:buNone/>
            </a:pPr>
            <a:r>
              <a:rPr lang="en-US" sz="3600" b="1" spc="600" kern="0" dirty="0">
                <a:solidFill>
                  <a:srgbClr val="7C4DBE"/>
                </a:solidFill>
                <a:latin typeface="Calibri" pitchFamily="34" charset="0"/>
                <a:ea typeface="Calibri" pitchFamily="34" charset="-122"/>
                <a:cs typeface="Calibri" pitchFamily="34" charset="-120"/>
              </a:rPr>
              <a:t>APPENDIX</a:t>
            </a:r>
            <a:endParaRPr lang="en-US" sz="3600" dirty="0"/>
          </a:p>
        </p:txBody>
      </p:sp>
      <p:sp>
        <p:nvSpPr>
          <p:cNvPr id="3" name="Text 1"/>
          <p:cNvSpPr/>
          <p:nvPr/>
        </p:nvSpPr>
        <p:spPr>
          <a:xfrm>
            <a:off x="548640" y="3017520"/>
            <a:ext cx="8046720" cy="365760"/>
          </a:xfrm>
          <a:prstGeom prst="rect">
            <a:avLst/>
          </a:prstGeom>
          <a:noFill/>
          <a:ln/>
        </p:spPr>
        <p:txBody>
          <a:bodyPr wrap="square" lIns="0" tIns="0" rIns="0" bIns="0" rtlCol="0" anchor="ctr"/>
          <a:lstStyle/>
          <a:p>
            <a:pPr algn="ctr" indent="0" marL="0">
              <a:buNone/>
            </a:pPr>
            <a:r>
              <a:rPr lang="en-US" sz="1400" dirty="0">
                <a:solidFill>
                  <a:srgbClr val="6B6478"/>
                </a:solidFill>
                <a:latin typeface="Calibri" pitchFamily="34" charset="0"/>
                <a:ea typeface="Calibri" pitchFamily="34" charset="-122"/>
                <a:cs typeface="Calibri" pitchFamily="34" charset="-120"/>
              </a:rPr>
              <a:t>Extra material: full topology working, delay calculations, code skeleton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2026-08-28T06:59:22Z</dcterms:created>
  <dcterms:modified xsi:type="dcterms:W3CDTF">2026-08-28T06:59:22Z</dcterms:modified>
</cp:coreProperties>
</file>