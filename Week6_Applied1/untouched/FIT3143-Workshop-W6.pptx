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  <p:sldMasterId id="2147483659" r:id="rId3"/>
    <p:sldMasterId id="2147483665" r:id="rId4"/>
  </p:sldMasterIdLst>
  <p:notesMasterIdLst>
    <p:notesMasterId r:id="rId3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x="9144000" cy="5143500" type="screen16x9"/>
  <p:notesSz cx="6858000" cy="9144000"/>
  <p:embeddedFontLst>
    <p:embeddedFont>
      <p:font typeface="Arial Narrow" panose="020B0604020202020204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902">
          <p15:clr>
            <a:srgbClr val="A4A3A4"/>
          </p15:clr>
        </p15:guide>
        <p15:guide id="2" orient="horz" pos="3018">
          <p15:clr>
            <a:srgbClr val="A4A3A4"/>
          </p15:clr>
        </p15:guide>
        <p15:guide id="3" orient="horz" pos="226">
          <p15:clr>
            <a:srgbClr val="A4A3A4"/>
          </p15:clr>
        </p15:guide>
        <p15:guide id="4" orient="horz" pos="681">
          <p15:clr>
            <a:srgbClr val="A4A3A4"/>
          </p15:clr>
        </p15:guide>
        <p15:guide id="5" orient="horz" pos="1277">
          <p15:clr>
            <a:srgbClr val="A4A3A4"/>
          </p15:clr>
        </p15:guide>
        <p15:guide id="6" orient="horz" pos="1457">
          <p15:clr>
            <a:srgbClr val="A4A3A4"/>
          </p15:clr>
        </p15:guide>
        <p15:guide id="7" orient="horz" pos="1575">
          <p15:clr>
            <a:srgbClr val="A4A3A4"/>
          </p15:clr>
        </p15:guide>
        <p15:guide id="8" orient="horz" pos="1749">
          <p15:clr>
            <a:srgbClr val="A4A3A4"/>
          </p15:clr>
        </p15:guide>
        <p15:guide id="9" orient="horz" pos="2480">
          <p15:clr>
            <a:srgbClr val="A4A3A4"/>
          </p15:clr>
        </p15:guide>
        <p15:guide id="10" orient="horz" pos="1153">
          <p15:clr>
            <a:srgbClr val="A4A3A4"/>
          </p15:clr>
        </p15:guide>
        <p15:guide id="11" orient="horz" pos="338">
          <p15:clr>
            <a:srgbClr val="A4A3A4"/>
          </p15:clr>
        </p15:guide>
        <p15:guide id="12" orient="horz" pos="200">
          <p15:clr>
            <a:srgbClr val="A4A3A4"/>
          </p15:clr>
        </p15:guide>
        <p15:guide id="13" orient="horz" pos="2013">
          <p15:clr>
            <a:srgbClr val="A4A3A4"/>
          </p15:clr>
        </p15:guide>
        <p15:guide id="14" orient="horz" pos="532">
          <p15:clr>
            <a:srgbClr val="A4A3A4"/>
          </p15:clr>
        </p15:guide>
        <p15:guide id="15" orient="horz" pos="202">
          <p15:clr>
            <a:srgbClr val="A4A3A4"/>
          </p15:clr>
        </p15:guide>
        <p15:guide id="16" pos="235">
          <p15:clr>
            <a:srgbClr val="A4A3A4"/>
          </p15:clr>
        </p15:guide>
        <p15:guide id="17" pos="263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hs6AioHYx34PNwPAsm7wvx5QCt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59"/>
  </p:normalViewPr>
  <p:slideViewPr>
    <p:cSldViewPr snapToGrid="0">
      <p:cViewPr varScale="1">
        <p:scale>
          <a:sx n="195" d="100"/>
          <a:sy n="195" d="100"/>
        </p:scale>
        <p:origin x="1064" y="176"/>
      </p:cViewPr>
      <p:guideLst>
        <p:guide orient="horz" pos="902"/>
        <p:guide orient="horz" pos="3018"/>
        <p:guide orient="horz" pos="226"/>
        <p:guide orient="horz" pos="681"/>
        <p:guide orient="horz" pos="1277"/>
        <p:guide orient="horz" pos="1457"/>
        <p:guide orient="horz" pos="1575"/>
        <p:guide orient="horz" pos="1749"/>
        <p:guide orient="horz" pos="2480"/>
        <p:guide orient="horz" pos="1153"/>
        <p:guide orient="horz" pos="338"/>
        <p:guide orient="horz" pos="200"/>
        <p:guide orient="horz" pos="2013"/>
        <p:guide orient="horz" pos="532"/>
        <p:guide orient="horz" pos="202"/>
        <p:guide pos="235"/>
        <p:guide pos="2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4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2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1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customschemas.google.com/relationships/presentationmetadata" Target="metadata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3.fntdata"/><Relationship Id="rId46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b13cef2a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g37b13cef2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81679fac6b_0_3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g281679fac6b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81679fac6b_0_3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g281679fac6b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81679fac6b_0_3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g281679fac6b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81679fac6b_0_3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g281679fac6b_0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81679fac6b_0_3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g281679fac6b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81679fac6b_0_3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g281679fac6b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81679fac6b_0_3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g281679fac6b_0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81679fac6b_0_3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g281679fac6b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81679fac6b_0_4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81679fac6b_0_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81679fac6b_0_4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g281679fac6b_0_4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81679fac6b_0_4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g281679fac6b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81679fac6b_0_4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g281679fac6b_0_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81679fac6b_0_4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281679fac6b_0_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81679fac6b_0_5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281679fac6b_0_5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g281679fac6b_0_5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81679fac6b_0_5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g281679fac6b_0_5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81679fac6b_0_6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g281679fac6b_0_6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81679fac6b_0_6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g281679fac6b_0_6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81679fac6b_0_6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3" name="Google Shape;203;g281679fac6b_0_6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81679fac6b_0_6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g281679fac6b_0_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81679fac6b_0_6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g281679fac6b_0_6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81679fac6b_0_6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" name="Google Shape;222;g281679fac6b_0_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81679fac6b_0_6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g281679fac6b_0_6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81679fac6b_0_6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g281679fac6b_0_6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81679fac6b_0_6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g281679fac6b_0_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81679fac6b_0_6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8" name="Google Shape;248;g281679fac6b_0_6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4" name="Google Shape;254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9" name="Google Shape;259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4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514" y="70834"/>
            <a:ext cx="2720836" cy="54266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4"/>
          <p:cNvSpPr txBox="1">
            <a:spLocks noGrp="1"/>
          </p:cNvSpPr>
          <p:nvPr>
            <p:ph type="ctrTitle"/>
          </p:nvPr>
        </p:nvSpPr>
        <p:spPr>
          <a:xfrm>
            <a:off x="114300" y="483338"/>
            <a:ext cx="8915400" cy="2080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34"/>
          <p:cNvSpPr txBox="1">
            <a:spLocks noGrp="1"/>
          </p:cNvSpPr>
          <p:nvPr>
            <p:ph type="subTitle" idx="1"/>
          </p:nvPr>
        </p:nvSpPr>
        <p:spPr>
          <a:xfrm>
            <a:off x="0" y="3091898"/>
            <a:ext cx="8410575" cy="1889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6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70" cy="359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36"/>
          <p:cNvSpPr txBox="1"/>
          <p:nvPr/>
        </p:nvSpPr>
        <p:spPr>
          <a:xfrm>
            <a:off x="4076885" y="4608512"/>
            <a:ext cx="9902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16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2" name="Google Shape;22;p36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9"/>
          <p:cNvSpPr>
            <a:spLocks noGrp="1"/>
          </p:cNvSpPr>
          <p:nvPr>
            <p:ph type="pic" idx="2"/>
          </p:nvPr>
        </p:nvSpPr>
        <p:spPr>
          <a:xfrm>
            <a:off x="3197172" y="996950"/>
            <a:ext cx="5511828" cy="2998993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p89"/>
          <p:cNvSpPr txBox="1">
            <a:spLocks noGrp="1"/>
          </p:cNvSpPr>
          <p:nvPr>
            <p:ph type="body" idx="1"/>
          </p:nvPr>
        </p:nvSpPr>
        <p:spPr>
          <a:xfrm>
            <a:off x="261414" y="996950"/>
            <a:ext cx="2484666" cy="2998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89"/>
          <p:cNvSpPr txBox="1"/>
          <p:nvPr/>
        </p:nvSpPr>
        <p:spPr>
          <a:xfrm>
            <a:off x="4076885" y="4608512"/>
            <a:ext cx="9902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24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7" name="Google Shape;27;p89"/>
          <p:cNvSpPr txBox="1">
            <a:spLocks noGrp="1"/>
          </p:cNvSpPr>
          <p:nvPr>
            <p:ph type="body" idx="3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0"/>
          <p:cNvSpPr txBox="1"/>
          <p:nvPr/>
        </p:nvSpPr>
        <p:spPr>
          <a:xfrm>
            <a:off x="4076885" y="4608512"/>
            <a:ext cx="9902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24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0" name="Google Shape;30;p90"/>
          <p:cNvSpPr txBox="1">
            <a:spLocks noGrp="1"/>
          </p:cNvSpPr>
          <p:nvPr>
            <p:ph type="body" idx="1"/>
          </p:nvPr>
        </p:nvSpPr>
        <p:spPr>
          <a:xfrm>
            <a:off x="256066" y="1005931"/>
            <a:ext cx="4038600" cy="3089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90"/>
          <p:cNvSpPr txBox="1">
            <a:spLocks noGrp="1"/>
          </p:cNvSpPr>
          <p:nvPr>
            <p:ph type="body" idx="2"/>
          </p:nvPr>
        </p:nvSpPr>
        <p:spPr>
          <a:xfrm>
            <a:off x="4553746" y="1005931"/>
            <a:ext cx="4038600" cy="3089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90"/>
          <p:cNvSpPr txBox="1">
            <a:spLocks noGrp="1"/>
          </p:cNvSpPr>
          <p:nvPr>
            <p:ph type="body" idx="3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1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70" cy="359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91"/>
          <p:cNvSpPr txBox="1"/>
          <p:nvPr/>
        </p:nvSpPr>
        <p:spPr>
          <a:xfrm>
            <a:off x="4076885" y="4608512"/>
            <a:ext cx="9902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16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6" name="Google Shape;36;p91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>
  <p:cSld name="1_Comparis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2"/>
          <p:cNvSpPr>
            <a:spLocks noGrp="1"/>
          </p:cNvSpPr>
          <p:nvPr>
            <p:ph type="pic" idx="2"/>
          </p:nvPr>
        </p:nvSpPr>
        <p:spPr>
          <a:xfrm>
            <a:off x="377508" y="1001432"/>
            <a:ext cx="8288662" cy="3063901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92"/>
          <p:cNvSpPr txBox="1"/>
          <p:nvPr/>
        </p:nvSpPr>
        <p:spPr>
          <a:xfrm>
            <a:off x="4076885" y="4608512"/>
            <a:ext cx="9902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24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0" name="Google Shape;40;p92"/>
          <p:cNvSpPr txBox="1">
            <a:spLocks noGrp="1"/>
          </p:cNvSpPr>
          <p:nvPr>
            <p:ph type="body" idx="1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1"/>
          <p:cNvSpPr txBox="1"/>
          <p:nvPr/>
        </p:nvSpPr>
        <p:spPr>
          <a:xfrm>
            <a:off x="4076885" y="4608512"/>
            <a:ext cx="9902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24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3" name="Google Shape;43;p41"/>
          <p:cNvSpPr txBox="1">
            <a:spLocks noGrp="1"/>
          </p:cNvSpPr>
          <p:nvPr>
            <p:ph type="body" idx="1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2"/>
          <p:cNvSpPr>
            <a:spLocks noGrp="1"/>
          </p:cNvSpPr>
          <p:nvPr>
            <p:ph type="pic" idx="2"/>
          </p:nvPr>
        </p:nvSpPr>
        <p:spPr>
          <a:xfrm>
            <a:off x="3197172" y="996950"/>
            <a:ext cx="5511828" cy="2998993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42"/>
          <p:cNvSpPr txBox="1">
            <a:spLocks noGrp="1"/>
          </p:cNvSpPr>
          <p:nvPr>
            <p:ph type="body" idx="1"/>
          </p:nvPr>
        </p:nvSpPr>
        <p:spPr>
          <a:xfrm>
            <a:off x="261414" y="996950"/>
            <a:ext cx="2484666" cy="2998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42"/>
          <p:cNvSpPr txBox="1"/>
          <p:nvPr/>
        </p:nvSpPr>
        <p:spPr>
          <a:xfrm>
            <a:off x="4076885" y="4608512"/>
            <a:ext cx="9902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24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8" name="Google Shape;48;p42"/>
          <p:cNvSpPr txBox="1">
            <a:spLocks noGrp="1"/>
          </p:cNvSpPr>
          <p:nvPr>
            <p:ph type="body" idx="3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>
            <a:spLocks noGrp="1"/>
          </p:cNvSpPr>
          <p:nvPr>
            <p:ph type="pic" idx="2"/>
          </p:nvPr>
        </p:nvSpPr>
        <p:spPr>
          <a:xfrm>
            <a:off x="377508" y="1001432"/>
            <a:ext cx="8288662" cy="3063901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43"/>
          <p:cNvSpPr txBox="1"/>
          <p:nvPr/>
        </p:nvSpPr>
        <p:spPr>
          <a:xfrm>
            <a:off x="4076885" y="4608512"/>
            <a:ext cx="9902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24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2" name="Google Shape;52;p43"/>
          <p:cNvSpPr txBox="1">
            <a:spLocks noGrp="1"/>
          </p:cNvSpPr>
          <p:nvPr>
            <p:ph type="body" idx="1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81679fac6b_0_644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281679fac6b_0_644"/>
          <p:cNvSpPr txBox="1"/>
          <p:nvPr/>
        </p:nvSpPr>
        <p:spPr>
          <a:xfrm>
            <a:off x="4076885" y="4608512"/>
            <a:ext cx="990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16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9" name="Google Shape;59;g281679fac6b_0_644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81679fac6b_0_648"/>
          <p:cNvSpPr txBox="1"/>
          <p:nvPr/>
        </p:nvSpPr>
        <p:spPr>
          <a:xfrm>
            <a:off x="4076885" y="4608512"/>
            <a:ext cx="990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24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2" name="Google Shape;62;g281679fac6b_0_648"/>
          <p:cNvSpPr txBox="1">
            <a:spLocks noGrp="1"/>
          </p:cNvSpPr>
          <p:nvPr>
            <p:ph type="body" idx="1"/>
          </p:nvPr>
        </p:nvSpPr>
        <p:spPr>
          <a:xfrm>
            <a:off x="256066" y="1005931"/>
            <a:ext cx="4038600" cy="30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g281679fac6b_0_648"/>
          <p:cNvSpPr txBox="1">
            <a:spLocks noGrp="1"/>
          </p:cNvSpPr>
          <p:nvPr>
            <p:ph type="body" idx="2"/>
          </p:nvPr>
        </p:nvSpPr>
        <p:spPr>
          <a:xfrm>
            <a:off x="4553746" y="1005931"/>
            <a:ext cx="4038600" cy="30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g281679fac6b_0_648"/>
          <p:cNvSpPr txBox="1">
            <a:spLocks noGrp="1"/>
          </p:cNvSpPr>
          <p:nvPr>
            <p:ph type="body" idx="3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81679fac6b_0_653"/>
          <p:cNvSpPr>
            <a:spLocks noGrp="1"/>
          </p:cNvSpPr>
          <p:nvPr>
            <p:ph type="pic" idx="2"/>
          </p:nvPr>
        </p:nvSpPr>
        <p:spPr>
          <a:xfrm>
            <a:off x="377508" y="1001432"/>
            <a:ext cx="8288700" cy="30639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g281679fac6b_0_653"/>
          <p:cNvSpPr txBox="1"/>
          <p:nvPr/>
        </p:nvSpPr>
        <p:spPr>
          <a:xfrm>
            <a:off x="4076885" y="4608512"/>
            <a:ext cx="990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24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8" name="Google Shape;68;g281679fac6b_0_653"/>
          <p:cNvSpPr txBox="1">
            <a:spLocks noGrp="1"/>
          </p:cNvSpPr>
          <p:nvPr>
            <p:ph type="body" idx="1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81679fac6b_0_657"/>
          <p:cNvSpPr txBox="1"/>
          <p:nvPr/>
        </p:nvSpPr>
        <p:spPr>
          <a:xfrm>
            <a:off x="4076885" y="4608512"/>
            <a:ext cx="990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24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1" name="Google Shape;71;g281679fac6b_0_657"/>
          <p:cNvSpPr txBox="1">
            <a:spLocks noGrp="1"/>
          </p:cNvSpPr>
          <p:nvPr>
            <p:ph type="body" idx="1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81679fac6b_0_660"/>
          <p:cNvSpPr>
            <a:spLocks noGrp="1"/>
          </p:cNvSpPr>
          <p:nvPr>
            <p:ph type="pic" idx="2"/>
          </p:nvPr>
        </p:nvSpPr>
        <p:spPr>
          <a:xfrm>
            <a:off x="3197172" y="996950"/>
            <a:ext cx="5511900" cy="29991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g281679fac6b_0_660"/>
          <p:cNvSpPr txBox="1">
            <a:spLocks noGrp="1"/>
          </p:cNvSpPr>
          <p:nvPr>
            <p:ph type="body" idx="1"/>
          </p:nvPr>
        </p:nvSpPr>
        <p:spPr>
          <a:xfrm>
            <a:off x="261414" y="996950"/>
            <a:ext cx="2484600" cy="29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g281679fac6b_0_660"/>
          <p:cNvSpPr txBox="1"/>
          <p:nvPr/>
        </p:nvSpPr>
        <p:spPr>
          <a:xfrm>
            <a:off x="4076885" y="4608512"/>
            <a:ext cx="990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24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6" name="Google Shape;76;g281679fac6b_0_660"/>
          <p:cNvSpPr txBox="1">
            <a:spLocks noGrp="1"/>
          </p:cNvSpPr>
          <p:nvPr>
            <p:ph type="body" idx="3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8"/>
          <p:cNvSpPr txBox="1">
            <a:spLocks noGrp="1"/>
          </p:cNvSpPr>
          <p:nvPr>
            <p:ph type="body" idx="1"/>
          </p:nvPr>
        </p:nvSpPr>
        <p:spPr>
          <a:xfrm>
            <a:off x="274320" y="1887378"/>
            <a:ext cx="4097338" cy="102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10" Type="http://schemas.openxmlformats.org/officeDocument/2006/relationships/image" Target="../media/image4.jpg"/><Relationship Id="rId4" Type="http://schemas.openxmlformats.org/officeDocument/2006/relationships/slideLayout" Target="../slideLayouts/slideLayout5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4.jp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3" descr="PPT templates-1-widescreen-FINAL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33350"/>
            <a:ext cx="913587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33" descr="A close-up of a computer&#10;&#10;Description automatically generated with low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01876" y="-89677"/>
            <a:ext cx="9671808" cy="543169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5" descr="PPT templates-1-widescreen-FINAL-4.jp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0"/>
            <a:ext cx="913587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5"/>
          <p:cNvSpPr txBox="1">
            <a:spLocks noGrp="1"/>
          </p:cNvSpPr>
          <p:nvPr>
            <p:ph type="sldNum" idx="12"/>
          </p:nvPr>
        </p:nvSpPr>
        <p:spPr>
          <a:xfrm>
            <a:off x="4405866" y="4735279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g281679fac6b_0_641" descr="PPT templates-1-widescreen-FINAL-4.jp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913588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g281679fac6b_0_641"/>
          <p:cNvSpPr txBox="1">
            <a:spLocks noGrp="1"/>
          </p:cNvSpPr>
          <p:nvPr>
            <p:ph type="sldNum" idx="12"/>
          </p:nvPr>
        </p:nvSpPr>
        <p:spPr>
          <a:xfrm>
            <a:off x="4405866" y="4735279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37" descr="PPT templates-1-widescreen-FINAL-6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35879" cy="51435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>
            <a:spLocks noGrp="1"/>
          </p:cNvSpPr>
          <p:nvPr>
            <p:ph type="ctrTitle"/>
          </p:nvPr>
        </p:nvSpPr>
        <p:spPr>
          <a:xfrm>
            <a:off x="168442" y="483338"/>
            <a:ext cx="8861258" cy="2080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Information Technology</a:t>
            </a:r>
            <a:b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FIT3143 Parallel Computing </a:t>
            </a:r>
            <a:b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Semester 2 2026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87" name="Google Shape;87;p1"/>
          <p:cNvSpPr txBox="1">
            <a:spLocks noGrp="1"/>
          </p:cNvSpPr>
          <p:nvPr>
            <p:ph type="subTitle" idx="1"/>
          </p:nvPr>
        </p:nvSpPr>
        <p:spPr>
          <a:xfrm>
            <a:off x="325783" y="3041583"/>
            <a:ext cx="8506792" cy="2158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Week 6: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Workshop 06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Dr Terrence Mak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Faculty of Information Technology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2026 Monash University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262110" y="782128"/>
            <a:ext cx="8658370" cy="3600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Workshop 6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/>
              <a:t>Cluster Performance</a:t>
            </a:r>
            <a:endParaRPr/>
          </a:p>
          <a:p>
            <a:pPr marL="742950" lvl="1" indent="-3111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Cluster Hardware and Fabrics</a:t>
            </a:r>
            <a:endParaRPr/>
          </a:p>
        </p:txBody>
      </p:sp>
      <p:sp>
        <p:nvSpPr>
          <p:cNvPr id="93" name="Google Shape;93;p2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b13cef2a4_0_0"/>
          <p:cNvSpPr txBox="1">
            <a:spLocks noGrp="1"/>
          </p:cNvSpPr>
          <p:nvPr>
            <p:ph type="body" idx="1"/>
          </p:nvPr>
        </p:nvSpPr>
        <p:spPr>
          <a:xfrm>
            <a:off x="262110" y="782128"/>
            <a:ext cx="86583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Examine the design principles of parallel computing architectures</a:t>
            </a:r>
            <a:endParaRPr sz="200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Analyse the design principles of distributed parallel computing systems</a:t>
            </a:r>
            <a:endParaRPr sz="200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Criticise and assess common performance models used for parallel applications</a:t>
            </a:r>
            <a:endParaRPr sz="2000"/>
          </a:p>
        </p:txBody>
      </p:sp>
      <p:sp>
        <p:nvSpPr>
          <p:cNvPr id="99" name="Google Shape;99;g37b13cef2a4_0_0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Learning Outcomes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81679fac6b_0_363"/>
          <p:cNvSpPr txBox="1">
            <a:spLocks noGrp="1"/>
          </p:cNvSpPr>
          <p:nvPr>
            <p:ph type="body" idx="1"/>
          </p:nvPr>
        </p:nvSpPr>
        <p:spPr>
          <a:xfrm>
            <a:off x="274320" y="1887378"/>
            <a:ext cx="4097400" cy="10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</a:pPr>
            <a:r>
              <a:rPr lang="en-US"/>
              <a:t>Cluster Performance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81679fac6b_0_367"/>
          <p:cNvSpPr txBox="1">
            <a:spLocks noGrp="1"/>
          </p:cNvSpPr>
          <p:nvPr>
            <p:ph type="body" idx="1"/>
          </p:nvPr>
        </p:nvSpPr>
        <p:spPr>
          <a:xfrm>
            <a:off x="262110" y="782128"/>
            <a:ext cx="84801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How do we know how fast the cluster runs?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Measurement of performance is an important factor while selecting a system design and architecture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Numerous methods exist for benchmarking a cluster – </a:t>
            </a:r>
            <a:r>
              <a:rPr lang="en-US" sz="2000" u="sng">
                <a:solidFill>
                  <a:srgbClr val="FF0000"/>
                </a:solidFill>
              </a:rPr>
              <a:t>none are ideal</a:t>
            </a:r>
            <a:endParaRPr u="sng">
              <a:solidFill>
                <a:srgbClr val="FF0000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Important that the technique used provides a </a:t>
            </a:r>
            <a:r>
              <a:rPr lang="en-US" sz="2000" i="1"/>
              <a:t>representative</a:t>
            </a:r>
            <a:r>
              <a:rPr lang="en-US" sz="2000"/>
              <a:t> compute load compared to the intended application;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Workloads can be </a:t>
            </a:r>
            <a:r>
              <a:rPr lang="en-US" sz="2000" i="1"/>
              <a:t>homogenous</a:t>
            </a:r>
            <a:r>
              <a:rPr lang="en-US" sz="2000"/>
              <a:t> – e.g. parallel identical jobs – clusters, grids;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Workloads can be </a:t>
            </a:r>
            <a:r>
              <a:rPr lang="en-US" sz="2000" i="1"/>
              <a:t>inhomogeneous/hetergenous </a:t>
            </a:r>
            <a:r>
              <a:rPr lang="en-US" sz="2000"/>
              <a:t>– parallel but very different jobs – clouds;</a:t>
            </a:r>
            <a:endParaRPr/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/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/>
          </a:p>
        </p:txBody>
      </p:sp>
      <p:sp>
        <p:nvSpPr>
          <p:cNvPr id="110" name="Google Shape;110;g281679fac6b_0_367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Benchmarking the Cluster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81679fac6b_0_372"/>
          <p:cNvSpPr txBox="1">
            <a:spLocks noGrp="1"/>
          </p:cNvSpPr>
          <p:nvPr>
            <p:ph type="body" idx="1"/>
          </p:nvPr>
        </p:nvSpPr>
        <p:spPr>
          <a:xfrm>
            <a:off x="262110" y="782128"/>
            <a:ext cx="84801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1"/>
              <a:t>Latency</a:t>
            </a:r>
            <a:r>
              <a:rPr lang="en-US" sz="1800"/>
              <a:t> is easy to determine by measurement of elapsed time using common clocks;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1"/>
              <a:t>Bandwidth</a:t>
            </a:r>
            <a:r>
              <a:rPr lang="en-US" sz="1800"/>
              <a:t> (throughput, capacity) is easy to determine by benchmarking;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Results must be used with caution, as time variant network conditions dictate latency and usable bandwidth at any time;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1"/>
              <a:t>Latency</a:t>
            </a:r>
            <a:r>
              <a:rPr lang="en-US" sz="1800"/>
              <a:t> and </a:t>
            </a:r>
            <a:r>
              <a:rPr lang="en-US" sz="1800" b="1"/>
              <a:t>bandwidth</a:t>
            </a:r>
            <a:r>
              <a:rPr lang="en-US" sz="1800"/>
              <a:t> only characterise the network and not the computational aspects of the system;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Measurements usually done on lightly loaded systems to determine best achievable performance;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Many tools available for latency and bandwidth measurements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Some lab tasks will provide opportunity to do measurements</a:t>
            </a:r>
            <a:endParaRPr/>
          </a:p>
          <a:p>
            <a:pPr marL="3429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/>
          </a:p>
          <a:p>
            <a:pPr marL="3429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/>
          </a:p>
        </p:txBody>
      </p:sp>
      <p:sp>
        <p:nvSpPr>
          <p:cNvPr id="116" name="Google Shape;116;g281679fac6b_0_372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Network Latency and Bandwidth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81679fac6b_0_377"/>
          <p:cNvSpPr txBox="1">
            <a:spLocks noGrp="1"/>
          </p:cNvSpPr>
          <p:nvPr>
            <p:ph type="body" idx="1"/>
          </p:nvPr>
        </p:nvSpPr>
        <p:spPr>
          <a:xfrm>
            <a:off x="262110" y="782128"/>
            <a:ext cx="77865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How much computational effort a cluster can do determines its economic viability and usefulness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Performance is a measure of computational effort done per time under some set of conditions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Computational effort is the quantity or number of computational operations e.g. machine instructions performed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Performance metrics are usually highly sensitive to the </a:t>
            </a:r>
            <a:r>
              <a:rPr lang="en-US" sz="2000" u="sng">
                <a:solidFill>
                  <a:srgbClr val="FF0000"/>
                </a:solidFill>
              </a:rPr>
              <a:t>conditions of measurement</a:t>
            </a:r>
            <a:r>
              <a:rPr lang="en-US" sz="2000"/>
              <a:t> – e.g. type of workload, application program, operating system, and configuration of the hardware platform</a:t>
            </a:r>
            <a:endParaRPr/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/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/>
          </a:p>
        </p:txBody>
      </p:sp>
      <p:sp>
        <p:nvSpPr>
          <p:cNvPr id="122" name="Google Shape;122;g281679fac6b_0_377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Computational Performance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81679fac6b_0_382"/>
          <p:cNvSpPr txBox="1">
            <a:spLocks noGrp="1"/>
          </p:cNvSpPr>
          <p:nvPr>
            <p:ph type="body" idx="1"/>
          </p:nvPr>
        </p:nvSpPr>
        <p:spPr>
          <a:xfrm>
            <a:off x="262110" y="782128"/>
            <a:ext cx="84801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The performance of a computer is usually measured by benchmarking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Benchmarking can be done by running a specific application and measuring how long it takes to run and what compute resources are consumed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Benchmarking can also be done by running a dedicated benchmark applications or benchmark suites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In all benchmarking we seek </a:t>
            </a:r>
            <a:r>
              <a:rPr lang="en-US" sz="1800" i="1"/>
              <a:t>“like comparisons”, </a:t>
            </a:r>
            <a:r>
              <a:rPr lang="en-US" sz="1800"/>
              <a:t>as in </a:t>
            </a:r>
            <a:r>
              <a:rPr lang="en-US" sz="1800" i="1"/>
              <a:t>“comparing apples to apples, rather than apples to oranges”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The intent is always to perform measurements of performance that permit honest side by side comparisons between systems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Vendors have a long running history of manipulating benchmarks to favour their products – </a:t>
            </a:r>
            <a:r>
              <a:rPr lang="en-US" sz="1800" i="1"/>
              <a:t>caveat emptor </a:t>
            </a:r>
            <a:r>
              <a:rPr lang="en-US" sz="1800"/>
              <a:t>applies!</a:t>
            </a:r>
            <a:endParaRPr/>
          </a:p>
          <a:p>
            <a:pPr marL="3429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/>
          </a:p>
          <a:p>
            <a:pPr marL="3429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/>
          </a:p>
        </p:txBody>
      </p:sp>
      <p:sp>
        <p:nvSpPr>
          <p:cNvPr id="128" name="Google Shape;128;g281679fac6b_0_382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Computational Benchmarking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81679fac6b_0_387"/>
          <p:cNvSpPr txBox="1">
            <a:spLocks noGrp="1"/>
          </p:cNvSpPr>
          <p:nvPr>
            <p:ph type="body" idx="1"/>
          </p:nvPr>
        </p:nvSpPr>
        <p:spPr>
          <a:xfrm>
            <a:off x="262110" y="782128"/>
            <a:ext cx="84801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Maximum aggregate performance of the system can be measured in terms of </a:t>
            </a:r>
            <a:r>
              <a:rPr lang="en-US" sz="1800" u="sng">
                <a:solidFill>
                  <a:srgbClr val="FF0000"/>
                </a:solidFill>
              </a:rPr>
              <a:t>Maximum aggregate floating-point operations</a:t>
            </a:r>
            <a:r>
              <a:rPr lang="en-US" sz="1800"/>
              <a:t>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		</a:t>
            </a:r>
            <a:r>
              <a:rPr lang="en-US" sz="1800" i="1"/>
              <a:t>P = N*C*F*R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Where: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P performance in FLOPS, MFLOPS, GFLOPS,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N number of nodes,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C number of CPUs (CPU cores),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F floating point operations per clock period,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R clock rate.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The other measure is for integer operations – using MOPS/MIPS where P is expressed in integer Mega- “Operations” or “Instructions”</a:t>
            </a:r>
            <a:endParaRPr/>
          </a:p>
          <a:p>
            <a:pPr marL="3429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/>
          </a:p>
          <a:p>
            <a:pPr marL="3429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/>
          </a:p>
        </p:txBody>
      </p:sp>
      <p:sp>
        <p:nvSpPr>
          <p:cNvPr id="134" name="Google Shape;134;g281679fac6b_0_387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Performance Metrics – FLOPS/MOPS/MIPS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81679fac6b_0_392"/>
          <p:cNvSpPr txBox="1">
            <a:spLocks noGrp="1"/>
          </p:cNvSpPr>
          <p:nvPr>
            <p:ph type="body" idx="1"/>
          </p:nvPr>
        </p:nvSpPr>
        <p:spPr>
          <a:xfrm>
            <a:off x="262110" y="718458"/>
            <a:ext cx="8480100" cy="3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Number of operations performed while executing the application, divided by the total runtime, M/GFLOPS or M/GOPS.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Computed using a program similar to the actual program the user intends to run on the production system.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More meaningful than theoretical peak performance.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Need to correctly estimate the number of floating point (or integer) operations in the code.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The algorithm must be optimised.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Problems may arise if the code was tuned for a particular platform; specifically where code includes features written around machine specific performance accelerators.</a:t>
            </a:r>
            <a:endParaRPr/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/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/>
          </a:p>
        </p:txBody>
      </p:sp>
      <p:sp>
        <p:nvSpPr>
          <p:cNvPr id="140" name="Google Shape;140;g281679fac6b_0_392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Application Performance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81679fac6b_0_397"/>
          <p:cNvSpPr txBox="1">
            <a:spLocks noGrp="1"/>
          </p:cNvSpPr>
          <p:nvPr>
            <p:ph type="body" idx="1"/>
          </p:nvPr>
        </p:nvSpPr>
        <p:spPr>
          <a:xfrm>
            <a:off x="262110" y="782128"/>
            <a:ext cx="79875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The total </a:t>
            </a:r>
            <a:r>
              <a:rPr lang="en-US" sz="2000" i="1"/>
              <a:t>“wall-clock” </a:t>
            </a:r>
            <a:r>
              <a:rPr lang="en-US" sz="2000"/>
              <a:t>run time for an existing application and dataset.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It frees us from counting the operations in the code – simply compare time to compute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Also it removes the need to develop benchmarking code which may differ from the intended application.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Performance tuning could distort results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The same application must be run on all systems being benchmarked against one another under identical conditions</a:t>
            </a:r>
            <a:endParaRPr/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/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/>
          </a:p>
        </p:txBody>
      </p:sp>
      <p:sp>
        <p:nvSpPr>
          <p:cNvPr id="146" name="Google Shape;146;g281679fac6b_0_397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Application Runtime Comparison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81679fac6b_0_402"/>
          <p:cNvSpPr txBox="1">
            <a:spLocks noGrp="1"/>
          </p:cNvSpPr>
          <p:nvPr>
            <p:ph type="body" idx="1"/>
          </p:nvPr>
        </p:nvSpPr>
        <p:spPr>
          <a:xfrm>
            <a:off x="262110" y="782128"/>
            <a:ext cx="81183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One measure of </a:t>
            </a:r>
            <a:r>
              <a:rPr lang="en-US" sz="2000" u="sng">
                <a:solidFill>
                  <a:srgbClr val="FF0000"/>
                </a:solidFill>
              </a:rPr>
              <a:t>Scalability</a:t>
            </a:r>
            <a:r>
              <a:rPr lang="en-US" sz="2000"/>
              <a:t> is computed thus: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r>
              <a:rPr lang="en-US" sz="2000" i="1"/>
              <a:t>S = T(1) / T(N)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Where </a:t>
            </a:r>
            <a:r>
              <a:rPr lang="en-US" sz="2000" i="1"/>
              <a:t>T(1)</a:t>
            </a:r>
            <a:r>
              <a:rPr lang="en-US" sz="2000"/>
              <a:t> is the wall clock time for a program to run on a single processor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 i="1"/>
              <a:t>T(N) </a:t>
            </a:r>
            <a:r>
              <a:rPr lang="en-US" sz="2000"/>
              <a:t>is the runtime over </a:t>
            </a:r>
            <a:r>
              <a:rPr lang="en-US" sz="2000" i="1"/>
              <a:t>N</a:t>
            </a:r>
            <a:r>
              <a:rPr lang="en-US" sz="2000"/>
              <a:t> processors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A scalability figure close to </a:t>
            </a:r>
            <a:r>
              <a:rPr lang="en-US" sz="2000" i="1"/>
              <a:t>N ie S≅ N </a:t>
            </a:r>
            <a:r>
              <a:rPr lang="en-US" sz="2000"/>
              <a:t>means the program scales well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Scalability metric helps </a:t>
            </a:r>
            <a:r>
              <a:rPr lang="en-US" sz="2000">
                <a:solidFill>
                  <a:srgbClr val="FF0000"/>
                </a:solidFill>
                <a:highlight>
                  <a:schemeClr val="lt1"/>
                </a:highlight>
              </a:rPr>
              <a:t>estimate the optimal number of processors</a:t>
            </a:r>
            <a:r>
              <a:rPr lang="en-US" sz="2000"/>
              <a:t> for an application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Amdahl’s Law and other models can be used to estimate scalability</a:t>
            </a:r>
            <a:endParaRPr/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/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/>
          </a:p>
        </p:txBody>
      </p:sp>
      <p:sp>
        <p:nvSpPr>
          <p:cNvPr id="152" name="Google Shape;152;g281679fac6b_0_402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Scalability How Well Does It Scale?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81679fac6b_0_407"/>
          <p:cNvSpPr txBox="1">
            <a:spLocks noGrp="1"/>
          </p:cNvSpPr>
          <p:nvPr>
            <p:ph type="body" idx="1"/>
          </p:nvPr>
        </p:nvSpPr>
        <p:spPr>
          <a:xfrm>
            <a:off x="262110" y="782128"/>
            <a:ext cx="84801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It is calculated thus:</a:t>
            </a:r>
            <a:endParaRPr/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r>
              <a:rPr lang="en-US" sz="2000" i="1"/>
              <a:t>E = P(N)/N  </a:t>
            </a:r>
            <a:r>
              <a:rPr lang="en-US" sz="2000"/>
              <a:t>where </a:t>
            </a:r>
            <a:r>
              <a:rPr lang="en-US" sz="2000" i="1"/>
              <a:t>P</a:t>
            </a:r>
            <a:r>
              <a:rPr lang="en-US" sz="2000"/>
              <a:t> is performance</a:t>
            </a:r>
            <a:endParaRPr/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Values close to unity or 100% are ideally sought</a:t>
            </a:r>
            <a:endParaRPr/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This metric suffers from the same problems as the Scalability measure</a:t>
            </a:r>
            <a:endParaRPr/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/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/>
          </a:p>
        </p:txBody>
      </p:sp>
      <p:sp>
        <p:nvSpPr>
          <p:cNvPr id="158" name="Google Shape;158;g281679fac6b_0_407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Efficiency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81679fac6b_0_412"/>
          <p:cNvSpPr txBox="1">
            <a:spLocks noGrp="1"/>
          </p:cNvSpPr>
          <p:nvPr>
            <p:ph type="body" idx="1"/>
          </p:nvPr>
        </p:nvSpPr>
        <p:spPr>
          <a:xfrm>
            <a:off x="262110" y="782128"/>
            <a:ext cx="74499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Application performance statistics are gathered in terms of the percentage of the theoretical peak performance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A real application is run and results compared to a theoretical estimate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Such statistics highlight the extent an application is making use of the computational power of the system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Depends on the type of the application and statistical mix of executed instructions</a:t>
            </a:r>
            <a:endParaRPr/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/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/>
          </a:p>
        </p:txBody>
      </p:sp>
      <p:sp>
        <p:nvSpPr>
          <p:cNvPr id="164" name="Google Shape;164;g281679fac6b_0_412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Percentage of Peak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81679fac6b_0_486"/>
          <p:cNvSpPr txBox="1">
            <a:spLocks noGrp="1"/>
          </p:cNvSpPr>
          <p:nvPr>
            <p:ph type="body" idx="1"/>
          </p:nvPr>
        </p:nvSpPr>
        <p:spPr>
          <a:xfrm>
            <a:off x="262110" y="782128"/>
            <a:ext cx="74499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Given an old cluster with 10 identical nodes/machines and known to have a maximum aggregate performance of 640 GFLOPS.</a:t>
            </a:r>
            <a:endParaRPr sz="1800"/>
          </a:p>
          <a:p>
            <a:pPr marL="34290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Each machine contains 4 cores (processors) and 3200MHz DDR4 RAM and each core can process 8 floating point operations per clock cycle. </a:t>
            </a:r>
            <a:endParaRPr sz="1800"/>
          </a:p>
          <a:p>
            <a:pPr marL="34290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What is the clock cycle of a machine in the cluster in GHz?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1800"/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1800"/>
          </a:p>
        </p:txBody>
      </p:sp>
      <p:sp>
        <p:nvSpPr>
          <p:cNvPr id="170" name="Google Shape;170;g281679fac6b_0_486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Q1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81679fac6b_0_481"/>
          <p:cNvSpPr txBox="1">
            <a:spLocks noGrp="1"/>
          </p:cNvSpPr>
          <p:nvPr>
            <p:ph type="body" idx="1"/>
          </p:nvPr>
        </p:nvSpPr>
        <p:spPr>
          <a:xfrm>
            <a:off x="262110" y="782128"/>
            <a:ext cx="74499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Given a cluster with 50 nodes/machines. </a:t>
            </a:r>
            <a:endParaRPr sz="1800"/>
          </a:p>
          <a:p>
            <a:pPr marL="34290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For half of the cluster, the machines are newer and each machine contains 96 cores/processors and 3600MHz DDR4 RAM. For each of the cores/processors, the clock rate is 2.4Ghz and each core can process 16 floating point operations per clock cycle. </a:t>
            </a:r>
            <a:endParaRPr sz="1800"/>
          </a:p>
          <a:p>
            <a:pPr marL="34290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For the other half of the cluster, the machines are older and each machine contains 12 cores/processors and 3200MHz DDR4 RAM. For each of the cores/processors, the clock rate is 2.0Ghz and each core can process 8 floating point operations per clock cycle. </a:t>
            </a:r>
            <a:endParaRPr sz="1800"/>
          </a:p>
          <a:p>
            <a:pPr marL="34290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/>
              <a:t>What is the maximum aggregate performance of the cluster in GFLOPS?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1800"/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1800"/>
          </a:p>
        </p:txBody>
      </p:sp>
      <p:sp>
        <p:nvSpPr>
          <p:cNvPr id="176" name="Google Shape;176;g281679fac6b_0_481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Q2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81679fac6b_0_578"/>
          <p:cNvSpPr txBox="1">
            <a:spLocks noGrp="1"/>
          </p:cNvSpPr>
          <p:nvPr>
            <p:ph type="body" idx="1"/>
          </p:nvPr>
        </p:nvSpPr>
        <p:spPr>
          <a:xfrm>
            <a:off x="274320" y="1887378"/>
            <a:ext cx="6987300" cy="10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</a:pPr>
            <a:r>
              <a:rPr lang="en-US"/>
              <a:t>Cluster - Hardware and Fabrics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81679fac6b_0_599"/>
          <p:cNvSpPr txBox="1">
            <a:spLocks noGrp="1"/>
          </p:cNvSpPr>
          <p:nvPr>
            <p:ph type="body" idx="1"/>
          </p:nvPr>
        </p:nvSpPr>
        <p:spPr>
          <a:xfrm>
            <a:off x="262109" y="748602"/>
            <a:ext cx="8726100" cy="36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/>
              <a:t>Clusters need interconnects to carry traffic between the machines or “nodes” forming the cluster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/>
              <a:t>The general term for such an interconnect is “fabric”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/>
              <a:t>Fabrics are typically defined by the type of interconnect used and the type of topology used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/>
              <a:t>While variants of Ethernet remain the most common interconnect used in clusters, especially small/cheap clusters, higher performing clusters use faster interconnects (below)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/>
              <a:t>Topologies vary widely and reflect operator priorities – tradeoffs between performance and reliability (redundancy)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/>
              <a:t>Considerations are path length, latency, fault tolerance, scalability and cost (Chkirbene et al, 2018)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/>
              <a:t>Pathlength and latency impact performance, fault tolerance impacts reliability, and cost reflects complexity</a:t>
            </a:r>
            <a:endParaRPr/>
          </a:p>
          <a:p>
            <a:pPr marL="342900" lvl="0" indent="-2413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/>
          </a:p>
          <a:p>
            <a:pPr marL="342900" lvl="0" indent="-2413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/>
          </a:p>
        </p:txBody>
      </p:sp>
      <p:sp>
        <p:nvSpPr>
          <p:cNvPr id="188" name="Google Shape;188;g281679fac6b_0_599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Clusters - Fabrics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81679fac6b_0_604"/>
          <p:cNvSpPr txBox="1">
            <a:spLocks noGrp="1"/>
          </p:cNvSpPr>
          <p:nvPr>
            <p:ph type="body" idx="1"/>
          </p:nvPr>
        </p:nvSpPr>
        <p:spPr>
          <a:xfrm>
            <a:off x="262100" y="728500"/>
            <a:ext cx="8658300" cy="39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1"/>
              <a:t>Degree of nodes</a:t>
            </a:r>
            <a:r>
              <a:rPr lang="en-US" sz="1800"/>
              <a:t>: the number of ports per server in the data centre. “Flat” topologies have degree = 2, while “Recursive” topologies have degree &gt; 2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1"/>
              <a:t>Scalability</a:t>
            </a:r>
            <a:r>
              <a:rPr lang="en-US" sz="1800"/>
              <a:t>: number of nodes in the topology, good scalability allows incremental increases to large numbers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1"/>
              <a:t>Diameter</a:t>
            </a:r>
            <a:r>
              <a:rPr lang="en-US" sz="1800"/>
              <a:t>: defined as the maximum of the shortest distances between all pairs of nodes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1"/>
              <a:t>Fault tolerance</a:t>
            </a:r>
            <a:r>
              <a:rPr lang="en-US" sz="1800"/>
              <a:t>: continues to operate even in the presence of component failures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1"/>
              <a:t>Average Path Length</a:t>
            </a:r>
            <a:r>
              <a:rPr lang="en-US" sz="1800"/>
              <a:t>: the APL shows the efficiency of the routing algorithms employed in packet transmission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1"/>
              <a:t>Bandwidth</a:t>
            </a:r>
            <a:r>
              <a:rPr lang="en-US" sz="1800"/>
              <a:t>: data transfer rate or throughput from one node to another. One-to-One, One-to-All, One-to-Several and All-to-All bandwidth often employed</a:t>
            </a:r>
            <a:endParaRPr sz="1800"/>
          </a:p>
        </p:txBody>
      </p:sp>
      <p:sp>
        <p:nvSpPr>
          <p:cNvPr id="194" name="Google Shape;194;g281679fac6b_0_604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Comparing Topologies (Chkirbene et al, 2018)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g281679fac6b_0_60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199388" y="784545"/>
            <a:ext cx="4783800" cy="359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281679fac6b_0_609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/>
              <a:t>Comparing Topologies (Chkirbene et al, 2018)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81679fac6b_0_614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Cluster Fabric Topology Example – Fat Tree Model</a:t>
            </a:r>
            <a:endParaRPr/>
          </a:p>
        </p:txBody>
      </p:sp>
      <p:pic>
        <p:nvPicPr>
          <p:cNvPr id="206" name="Google Shape;206;g281679fac6b_0_61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342661" y="782638"/>
            <a:ext cx="6496800" cy="36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281679fac6b_0_614"/>
          <p:cNvSpPr txBox="1"/>
          <p:nvPr/>
        </p:nvSpPr>
        <p:spPr>
          <a:xfrm>
            <a:off x="1194364" y="4383088"/>
            <a:ext cx="5872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core layer routers will be higher performing compared to aggregation and edge layer switches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g281679fac6b_0_62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843509" y="784545"/>
            <a:ext cx="3495600" cy="359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281679fac6b_0_620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/>
              <a:t>Cluster Fabric Topology Example – HyperFlatNet</a:t>
            </a:r>
            <a:endParaRPr sz="2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g281679fac6b_0_62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305014" y="784545"/>
            <a:ext cx="4572600" cy="359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281679fac6b_0_625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/>
              <a:t>Cluster Fabric Topology Example – VacoNet</a:t>
            </a:r>
            <a:endParaRPr sz="2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81679fac6b_0_630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Cluster Fabric Topology Performance – Average Path Length</a:t>
            </a:r>
            <a:endParaRPr/>
          </a:p>
        </p:txBody>
      </p:sp>
      <p:pic>
        <p:nvPicPr>
          <p:cNvPr id="225" name="Google Shape;225;g281679fac6b_0_6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536" y="687315"/>
            <a:ext cx="3596172" cy="37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g281679fac6b_0_6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48754" y="712861"/>
            <a:ext cx="4046031" cy="370168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281679fac6b_0_630"/>
          <p:cNvSpPr txBox="1"/>
          <p:nvPr/>
        </p:nvSpPr>
        <p:spPr>
          <a:xfrm>
            <a:off x="869505" y="3906225"/>
            <a:ext cx="6807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Lower APL is better due to lower cumulative queuing delay across routers/switches - Chkirbene et al, 2018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81679fac6b_0_665"/>
          <p:cNvSpPr txBox="1">
            <a:spLocks noGrp="1"/>
          </p:cNvSpPr>
          <p:nvPr>
            <p:ph type="body" idx="1"/>
          </p:nvPr>
        </p:nvSpPr>
        <p:spPr>
          <a:xfrm>
            <a:off x="340487" y="671093"/>
            <a:ext cx="7449900" cy="388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</a:pPr>
            <a:r>
              <a:rPr lang="en-US" sz="1600" dirty="0"/>
              <a:t>The question asks about cluster network topology. </a:t>
            </a:r>
            <a:endParaRPr sz="1600" dirty="0"/>
          </a:p>
          <a:p>
            <a:pPr marL="45720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</a:pPr>
            <a:r>
              <a:rPr lang="en-US" sz="1600" dirty="0"/>
              <a:t>Given a small cluster with 8 nodes/machines, connected via 1 Gbps links in a ring topology. </a:t>
            </a:r>
            <a:endParaRPr sz="1600" dirty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 dirty="0"/>
              <a:t>For each node, a 2MB MPI message will be sent periodically to all neighboring (adjacent) nodes every 10 seconds to announce the node is alive. 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</a:pPr>
            <a:r>
              <a:rPr lang="en-US" sz="1600" dirty="0"/>
              <a:t>Assumption:</a:t>
            </a:r>
            <a:endParaRPr sz="1600" dirty="0"/>
          </a:p>
          <a:p>
            <a:pPr marL="45720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</a:pPr>
            <a:r>
              <a:rPr lang="en-US" sz="1600" dirty="0"/>
              <a:t>Transmission delay is the major factor, and we assume all the other delays (queuing delay, the processing delay, and propagation delay) between a pair of connected nodes adds up to 0.004s.</a:t>
            </a:r>
            <a:endParaRPr sz="1600" dirty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 dirty="0"/>
              <a:t>For ease of calculations, we assume 1 MB = 1,000,000 bytes, and 1 Gbps = 1,000,000,000 bits per second (bps).</a:t>
            </a:r>
            <a:endParaRPr sz="1600" dirty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 dirty="0"/>
              <a:t>Nodes receiving messages are instant and no reply messages are needed.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</a:pPr>
            <a:r>
              <a:rPr lang="en-US" sz="1600" dirty="0"/>
              <a:t>Which of the following statements are true?</a:t>
            </a:r>
            <a:endParaRPr sz="1600" dirty="0"/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1600" dirty="0"/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1600" dirty="0"/>
          </a:p>
        </p:txBody>
      </p:sp>
      <p:sp>
        <p:nvSpPr>
          <p:cNvPr id="233" name="Google Shape;233;g281679fac6b_0_665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Q3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81679fac6b_0_670"/>
          <p:cNvSpPr txBox="1">
            <a:spLocks noGrp="1"/>
          </p:cNvSpPr>
          <p:nvPr>
            <p:ph type="body" idx="1"/>
          </p:nvPr>
        </p:nvSpPr>
        <p:spPr>
          <a:xfrm>
            <a:off x="262098" y="782125"/>
            <a:ext cx="86961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65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To provide a better estimate on when a node is dead (not alive), we can shorten the message resending period to 0.025s.</a:t>
            </a:r>
            <a:endParaRPr sz="1700"/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To provide a better estimate on when a node is dead (not alive), we can shorten the message resending period to 0.01s.</a:t>
            </a:r>
            <a:endParaRPr sz="1700"/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To provide a better estimate on when a node is dead (not alive), we can shorten the message resending period to 0.01s if message size is decreased to 1MB.</a:t>
            </a:r>
            <a:endParaRPr sz="1700"/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To provide a better estimate on when a node is dead (not alive), we can shorten the message resending period to 0.01s if message size is decreased to 0.5MB.</a:t>
            </a:r>
            <a:endParaRPr sz="1700"/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To provide a better estimate on when a node is dead (not alive), we can shorten the message resending period to 0.017s if the other delays (queuing delay, the processing delay, and propagation delay) between a pair of connected nodes is 0.00001s.</a:t>
            </a:r>
            <a:endParaRPr sz="1700">
              <a:solidFill>
                <a:srgbClr val="FF0000"/>
              </a:solidFill>
            </a:endParaRPr>
          </a:p>
        </p:txBody>
      </p:sp>
      <p:sp>
        <p:nvSpPr>
          <p:cNvPr id="239" name="Google Shape;239;g281679fac6b_0_670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Q3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81679fac6b_0_685"/>
          <p:cNvSpPr txBox="1">
            <a:spLocks noGrp="1"/>
          </p:cNvSpPr>
          <p:nvPr>
            <p:ph type="body" idx="1"/>
          </p:nvPr>
        </p:nvSpPr>
        <p:spPr>
          <a:xfrm>
            <a:off x="262110" y="782128"/>
            <a:ext cx="74499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</a:pPr>
            <a:r>
              <a:rPr lang="en-US" sz="1600"/>
              <a:t>The question asks about cluster network topology. </a:t>
            </a:r>
            <a:endParaRPr sz="1600"/>
          </a:p>
          <a:p>
            <a:pPr marL="45720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Given a small cluster with 6 nodes/machines, connected via 1 Gbps links in a certain topology. </a:t>
            </a:r>
            <a:endParaRPr sz="160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The machine is considered fault tolerant when a 1MB message sending from a node can be received by any (working/alive) nodes in under 0.03 seconds when any 1 link is faulty (disconnected). 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</a:pPr>
            <a:r>
              <a:rPr lang="en-US" sz="1600"/>
              <a:t>Assumption:</a:t>
            </a:r>
            <a:endParaRPr sz="1600"/>
          </a:p>
          <a:p>
            <a:pPr marL="45720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Transmission delay is the major factor, and we assume all the other delays (queuing delay, the processing delay, and propagation delay) between a pair of connected nodes is 0 seconds.</a:t>
            </a:r>
            <a:endParaRPr sz="160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For ease of calculations, we assume 1 MB = 1,000,000 bytes, and 1 Gbps = 1,000,000,000 bits per second (bps).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</a:pPr>
            <a:r>
              <a:rPr lang="en-US" sz="1600"/>
              <a:t>Which of the following statements are true?</a:t>
            </a:r>
            <a:endParaRPr sz="1600"/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1600"/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1600"/>
          </a:p>
        </p:txBody>
      </p:sp>
      <p:sp>
        <p:nvSpPr>
          <p:cNvPr id="245" name="Google Shape;245;g281679fac6b_0_685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Q4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81679fac6b_0_675"/>
          <p:cNvSpPr txBox="1">
            <a:spLocks noGrp="1"/>
          </p:cNvSpPr>
          <p:nvPr>
            <p:ph type="body" idx="1"/>
          </p:nvPr>
        </p:nvSpPr>
        <p:spPr>
          <a:xfrm>
            <a:off x="262098" y="782125"/>
            <a:ext cx="86961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65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If the machines are connected in a line topology, the network is not fault tolerant.</a:t>
            </a:r>
            <a:endParaRPr sz="1700"/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If the machines are connected in a line topology, the network is fault tolerant if the links are upgraded to 10Gbps link.  </a:t>
            </a:r>
            <a:endParaRPr sz="1700"/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If the machines are connected in a binary tree topology, the network is not fault tolerant.  </a:t>
            </a:r>
            <a:endParaRPr sz="1700"/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If the machines are connected in a binary tree topology, the network is fault tolerant if the links are upgraded to 10Gbps link.</a:t>
            </a:r>
            <a:endParaRPr sz="1700"/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If the machines are connected in a ring topology, the network is not fault tolerant.</a:t>
            </a:r>
            <a:endParaRPr sz="1700"/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If the machines are connected in a ring topology, the network is fault tolerant if the links are upgraded to 10Gbps link.</a:t>
            </a:r>
            <a:endParaRPr sz="1700">
              <a:solidFill>
                <a:srgbClr val="FF0000"/>
              </a:solidFill>
            </a:endParaRPr>
          </a:p>
        </p:txBody>
      </p:sp>
      <p:sp>
        <p:nvSpPr>
          <p:cNvPr id="251" name="Google Shape;251;g281679fac6b_0_675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Q4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7"/>
          <p:cNvSpPr txBox="1">
            <a:spLocks noGrp="1"/>
          </p:cNvSpPr>
          <p:nvPr>
            <p:ph type="body" idx="1"/>
          </p:nvPr>
        </p:nvSpPr>
        <p:spPr>
          <a:xfrm>
            <a:off x="274320" y="1887378"/>
            <a:ext cx="4097338" cy="102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</a:pPr>
            <a:r>
              <a:rPr lang="en-US"/>
              <a:t>Summary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8"/>
          <p:cNvSpPr txBox="1">
            <a:spLocks noGrp="1"/>
          </p:cNvSpPr>
          <p:nvPr>
            <p:ph type="body" idx="1"/>
          </p:nvPr>
        </p:nvSpPr>
        <p:spPr>
          <a:xfrm>
            <a:off x="262110" y="782128"/>
            <a:ext cx="8658370" cy="3600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Workshop 6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/>
              <a:t>Cluster Performance</a:t>
            </a:r>
            <a:endParaRPr/>
          </a:p>
          <a:p>
            <a:pPr marL="742950" lvl="1" indent="-3111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Cluster Hardware and Fabrics</a:t>
            </a:r>
            <a:endParaRPr/>
          </a:p>
        </p:txBody>
      </p:sp>
      <p:sp>
        <p:nvSpPr>
          <p:cNvPr id="262" name="Google Shape;262;p88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Summary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E70D43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2000</Words>
  <Application>Microsoft Macintosh PowerPoint</Application>
  <PresentationFormat>On-screen Show (16:9)</PresentationFormat>
  <Paragraphs>157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 Narrow</vt:lpstr>
      <vt:lpstr>Noto Sans Symbols</vt:lpstr>
      <vt:lpstr>Calibri</vt:lpstr>
      <vt:lpstr>Arial</vt:lpstr>
      <vt:lpstr>Custom Design</vt:lpstr>
      <vt:lpstr>1_Custom Design</vt:lpstr>
      <vt:lpstr>1_Custom Design</vt:lpstr>
      <vt:lpstr>3_Custom Design</vt:lpstr>
      <vt:lpstr>Information Technology   FIT3143 Parallel Computing   Semester 2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Carlo Kopp</dc:creator>
  <cp:lastModifiedBy>Terrence Mak</cp:lastModifiedBy>
  <cp:revision>2</cp:revision>
  <dcterms:created xsi:type="dcterms:W3CDTF">2022-10-13T07:44:31Z</dcterms:created>
  <dcterms:modified xsi:type="dcterms:W3CDTF">2026-08-19T10:03:52Z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