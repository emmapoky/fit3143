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 id="2147483656"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Lst>
  <p:sldSz cy="5143500" cx="9144000"/>
  <p:notesSz cx="6858000" cy="9144000"/>
  <p:embeddedFontLst>
    <p:embeddedFont>
      <p:font typeface="Arial Narrow"/>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902">
          <p15:clr>
            <a:srgbClr val="A4A3A4"/>
          </p15:clr>
        </p15:guide>
        <p15:guide id="2" orient="horz" pos="3018">
          <p15:clr>
            <a:srgbClr val="A4A3A4"/>
          </p15:clr>
        </p15:guide>
        <p15:guide id="3" orient="horz" pos="226">
          <p15:clr>
            <a:srgbClr val="A4A3A4"/>
          </p15:clr>
        </p15:guide>
        <p15:guide id="4" orient="horz" pos="681">
          <p15:clr>
            <a:srgbClr val="A4A3A4"/>
          </p15:clr>
        </p15:guide>
        <p15:guide id="5" orient="horz" pos="1277">
          <p15:clr>
            <a:srgbClr val="A4A3A4"/>
          </p15:clr>
        </p15:guide>
        <p15:guide id="6" orient="horz" pos="1457">
          <p15:clr>
            <a:srgbClr val="A4A3A4"/>
          </p15:clr>
        </p15:guide>
        <p15:guide id="7" orient="horz" pos="1575">
          <p15:clr>
            <a:srgbClr val="A4A3A4"/>
          </p15:clr>
        </p15:guide>
        <p15:guide id="8" orient="horz" pos="1749">
          <p15:clr>
            <a:srgbClr val="A4A3A4"/>
          </p15:clr>
        </p15:guide>
        <p15:guide id="9" orient="horz" pos="2480">
          <p15:clr>
            <a:srgbClr val="A4A3A4"/>
          </p15:clr>
        </p15:guide>
        <p15:guide id="10" orient="horz" pos="1153">
          <p15:clr>
            <a:srgbClr val="A4A3A4"/>
          </p15:clr>
        </p15:guide>
        <p15:guide id="11" orient="horz" pos="338">
          <p15:clr>
            <a:srgbClr val="A4A3A4"/>
          </p15:clr>
        </p15:guide>
        <p15:guide id="12" orient="horz" pos="200">
          <p15:clr>
            <a:srgbClr val="A4A3A4"/>
          </p15:clr>
        </p15:guide>
        <p15:guide id="13" orient="horz" pos="2013">
          <p15:clr>
            <a:srgbClr val="A4A3A4"/>
          </p15:clr>
        </p15:guide>
        <p15:guide id="14" orient="horz" pos="532">
          <p15:clr>
            <a:srgbClr val="A4A3A4"/>
          </p15:clr>
        </p15:guide>
        <p15:guide id="15" orient="horz" pos="202">
          <p15:clr>
            <a:srgbClr val="A4A3A4"/>
          </p15:clr>
        </p15:guide>
        <p15:guide id="16" pos="235">
          <p15:clr>
            <a:srgbClr val="A4A3A4"/>
          </p15:clr>
        </p15:guide>
        <p15:guide id="17" pos="263">
          <p15:clr>
            <a:srgbClr val="A4A3A4"/>
          </p15:clr>
        </p15:guide>
      </p15:sldGuideLst>
    </p:ext>
    <p:ext uri="GoogleSlidesCustomDataVersion2">
      <go:slidesCustomData xmlns:go="http://customooxmlschemas.google.com/" r:id="rId76" roundtripDataSignature="AMtx7mhYdQ98Ea4RFOREEr8VR26DjJJs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BC933F-008F-496F-BAA4-78B0700BBBB7}">
  <a:tblStyle styleId="{1DBC933F-008F-496F-BAA4-78B0700BBBB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902" orient="horz"/>
        <p:guide pos="3018" orient="horz"/>
        <p:guide pos="226" orient="horz"/>
        <p:guide pos="681" orient="horz"/>
        <p:guide pos="1277" orient="horz"/>
        <p:guide pos="1457" orient="horz"/>
        <p:guide pos="1575" orient="horz"/>
        <p:guide pos="1749" orient="horz"/>
        <p:guide pos="2480" orient="horz"/>
        <p:guide pos="1153" orient="horz"/>
        <p:guide pos="338" orient="horz"/>
        <p:guide pos="200" orient="horz"/>
        <p:guide pos="2013" orient="horz"/>
        <p:guide pos="532" orient="horz"/>
        <p:guide pos="202" orient="horz"/>
        <p:guide pos="235"/>
        <p:guide pos="263"/>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font" Target="fonts/ArialNarrow-bold.fntdata"/><Relationship Id="rId72" Type="http://schemas.openxmlformats.org/officeDocument/2006/relationships/font" Target="fonts/ArialNarrow-regular.fntdata"/><Relationship Id="rId31" Type="http://schemas.openxmlformats.org/officeDocument/2006/relationships/slide" Target="slides/slide23.xml"/><Relationship Id="rId75" Type="http://schemas.openxmlformats.org/officeDocument/2006/relationships/font" Target="fonts/ArialNarrow-boldItalic.fntdata"/><Relationship Id="rId30" Type="http://schemas.openxmlformats.org/officeDocument/2006/relationships/slide" Target="slides/slide22.xml"/><Relationship Id="rId74" Type="http://schemas.openxmlformats.org/officeDocument/2006/relationships/font" Target="fonts/ArialNarrow-italic.fntdata"/><Relationship Id="rId33" Type="http://schemas.openxmlformats.org/officeDocument/2006/relationships/slide" Target="slides/slide25.xml"/><Relationship Id="rId32" Type="http://schemas.openxmlformats.org/officeDocument/2006/relationships/slide" Target="slides/slide24.xml"/><Relationship Id="rId76" Type="http://customschemas.google.com/relationships/presentationmetadata" Target="metadata"/><Relationship Id="rId35" Type="http://schemas.openxmlformats.org/officeDocument/2006/relationships/slide" Target="slides/slide27.xml"/><Relationship Id="rId34" Type="http://schemas.openxmlformats.org/officeDocument/2006/relationships/slide" Target="slides/slide26.xml"/><Relationship Id="rId71" Type="http://schemas.openxmlformats.org/officeDocument/2006/relationships/slide" Target="slides/slide63.xml"/><Relationship Id="rId70" Type="http://schemas.openxmlformats.org/officeDocument/2006/relationships/slide" Target="slides/slide62.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68" Type="http://schemas.openxmlformats.org/officeDocument/2006/relationships/slide" Target="slides/slide60.xml"/><Relationship Id="rId23" Type="http://schemas.openxmlformats.org/officeDocument/2006/relationships/slide" Target="slides/slide15.xml"/><Relationship Id="rId67" Type="http://schemas.openxmlformats.org/officeDocument/2006/relationships/slide" Target="slides/slide59.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slide" Target="slides/slide61.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 name="Google Shape;4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59d3e3f11_0_2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 name="Google Shape;53;g3f59d3e3f11_0_2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59d3e3f11_0_3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g3f59d3e3f11_0_3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 name="Google Shape;60;g3f59d3e3f11_0_3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754ebd1bb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 name="Google Shape;65;g3f754ebd1bb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754ebd1bb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1" name="Google Shape;71;g3f754ebd1bb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g3f754ebd1bb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754ebd1bb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754ebd1bb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g3f754ebd1bb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754ebd1bb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754ebd1bb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g3f754ebd1bb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754ebd1bb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2" name="Google Shape;92;g3f754ebd1bb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g3f754ebd1bb_0_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754ebd1bb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9" name="Google Shape;99;g3f754ebd1bb_0_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g3f754ebd1bb_0_5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754ebd1bb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f754ebd1bb_0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g3f754ebd1bb_0_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754ebd1bb_0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754ebd1bb_0_7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g3f754ebd1bb_0_7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ac13c8a26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fac13c8a26_1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fac13c8a26_1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754ebd1bb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f754ebd1bb_0_7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g3f754ebd1bb_0_7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ac13c8a26_1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ac13c8a26_1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3fac13c8a26_1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ac13c8a26_1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3fac13c8a26_1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g3fac13c8a26_1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754ebd1bb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f754ebd1bb_0_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3f754ebd1bb_0_8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754ebd1bb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f754ebd1bb_0_9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3f754ebd1bb_0_9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f754ebd1bb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f754ebd1bb_0_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g3f754ebd1bb_0_9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754ebd1bb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f754ebd1bb_0_10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f754ebd1bb_0_10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754ebd1bb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754ebd1bb_0_10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g3f754ebd1bb_0_10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ac13c8a26_1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fac13c8a26_1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g3fac13c8a26_1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754ebd1bb_0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f754ebd1bb_0_1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g3f754ebd1bb_0_1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754ebd1bb_0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f754ebd1bb_0_1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g3f754ebd1bb_0_1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f754ebd1bb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f754ebd1bb_0_1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3f754ebd1bb_0_1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754ebd1bb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f754ebd1bb_0_1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3f754ebd1bb_0_1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f754ebd1bb_0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f754ebd1bb_0_1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g3f754ebd1bb_0_1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f754ebd1bb_0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f754ebd1bb_0_1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3f754ebd1bb_0_15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fac13c8a26_1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fac13c8a26_1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3fac13c8a26_1_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f754ebd1bb_0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f754ebd1bb_0_1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3f754ebd1bb_0_16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754ebd1bb_0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f754ebd1bb_0_1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g3f754ebd1bb_0_17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ac13c8a26_1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fac13c8a26_1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g3fac13c8a26_1_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f754ebd1bb_0_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f754ebd1bb_0_1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f754ebd1bb_0_17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fac13c8a26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fac13c8a26_1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g3fac13c8a26_1_5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fac13c8a26_1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fac13c8a26_1_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g3fac13c8a26_1_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ac13c8a26_1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fac13c8a26_1_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g3fac13c8a26_1_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fac13c8a26_1_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g3fac13c8a26_1_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g3fac13c8a26_1_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f754ebd1bb_0_1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f754ebd1bb_0_1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g3f754ebd1bb_0_18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f754ebd1bb_0_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f754ebd1bb_0_1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g3f754ebd1bb_0_19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f754ebd1bb_0_2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f754ebd1bb_0_20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g3f754ebd1bb_0_20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f754ebd1bb_0_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f754ebd1bb_0_20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g3f754ebd1bb_0_20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754ebd1bb_0_2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f754ebd1bb_0_2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g3f754ebd1bb_0_2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f754ebd1bb_0_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f754ebd1bb_0_2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g3f754ebd1bb_0_2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f754ebd1bb_0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f754ebd1bb_0_2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g3f754ebd1bb_0_2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fac13c8a26_1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g3fac13c8a26_1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g3fac13c8a26_1_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f7887d680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f7887d680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g3f7887d680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f7887d680b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f7887d680b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g3f7887d680b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f7887d680b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f7887d680b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g3f7887d680b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f7887d680b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f7887d680b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g3f7887d680b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f7887d680b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f7887d680b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3f7887d680b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f7887d680b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f7887d680b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g3f7887d680b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fac13c8a26_1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g3fac13c8a26_1_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g3fac13c8a26_1_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f7887d680b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f7887d680b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g3f7887d680b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f7887d680b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f7887d680b_0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g3f7887d680b_0_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f7887d680b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f7887d680b_0_5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g3f7887d680b_0_5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f7887d680b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f7887d680b_0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g3f7887d680b_0_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7887d680b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f7887d680b_0_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g3f7887d680b_0_6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f7887d680b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f7887d680b_0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g3f7887d680b_0_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f7887d680b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f7887d680b_0_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g3f7887d680b_0_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f7887d680b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f7887d680b_0_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g3f7887d680b_0_8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7" name="Google Shape;46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f5977d359e_0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g3f5977d359e_0_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g3f5977d359e_0_2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f7887d680b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9" name="Google Shape;479;g3f7887d680b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f7887d680b_1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g3f7887d680b_1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5" name="Google Shape;485;g3f7887d680b_1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2" name="Shape 12"/>
        <p:cNvGrpSpPr/>
        <p:nvPr/>
      </p:nvGrpSpPr>
      <p:grpSpPr>
        <a:xfrm>
          <a:off x="0" y="0"/>
          <a:ext cx="0" cy="0"/>
          <a:chOff x="0" y="0"/>
          <a:chExt cx="0" cy="0"/>
        </a:xfrm>
      </p:grpSpPr>
      <p:pic>
        <p:nvPicPr>
          <p:cNvPr descr="Logo&#10;&#10;Description automatically generated" id="13" name="Google Shape;13;p10"/>
          <p:cNvPicPr preferRelativeResize="0"/>
          <p:nvPr/>
        </p:nvPicPr>
        <p:blipFill rotWithShape="1">
          <a:blip r:embed="rId2">
            <a:alphaModFix/>
          </a:blip>
          <a:srcRect b="0" l="0" r="0" t="0"/>
          <a:stretch/>
        </p:blipFill>
        <p:spPr>
          <a:xfrm>
            <a:off x="79514" y="70834"/>
            <a:ext cx="2720836" cy="542660"/>
          </a:xfrm>
          <a:prstGeom prst="rect">
            <a:avLst/>
          </a:prstGeom>
          <a:noFill/>
          <a:ln>
            <a:noFill/>
          </a:ln>
        </p:spPr>
      </p:pic>
      <p:sp>
        <p:nvSpPr>
          <p:cNvPr id="14" name="Google Shape;14;p10"/>
          <p:cNvSpPr txBox="1"/>
          <p:nvPr>
            <p:ph type="ctrTitle"/>
          </p:nvPr>
        </p:nvSpPr>
        <p:spPr>
          <a:xfrm>
            <a:off x="114300" y="483338"/>
            <a:ext cx="8915400" cy="2080591"/>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2000"/>
              <a:buFont typeface="Calibri"/>
              <a:buNone/>
              <a:defRPr b="0" i="0" sz="2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 name="Google Shape;15;p10"/>
          <p:cNvSpPr txBox="1"/>
          <p:nvPr>
            <p:ph idx="1" type="subTitle"/>
          </p:nvPr>
        </p:nvSpPr>
        <p:spPr>
          <a:xfrm>
            <a:off x="0" y="3091898"/>
            <a:ext cx="8410575" cy="188967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lvl="1"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lvl="2"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lvl="3"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lvl="4"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9" name="Shape 19"/>
        <p:cNvGrpSpPr/>
        <p:nvPr/>
      </p:nvGrpSpPr>
      <p:grpSpPr>
        <a:xfrm>
          <a:off x="0" y="0"/>
          <a:ext cx="0" cy="0"/>
          <a:chOff x="0" y="0"/>
          <a:chExt cx="0" cy="0"/>
        </a:xfrm>
      </p:grpSpPr>
      <p:sp>
        <p:nvSpPr>
          <p:cNvPr id="20" name="Google Shape;20;p12"/>
          <p:cNvSpPr txBox="1"/>
          <p:nvPr>
            <p:ph idx="1" type="body"/>
          </p:nvPr>
        </p:nvSpPr>
        <p:spPr>
          <a:xfrm>
            <a:off x="262110" y="784545"/>
            <a:ext cx="8658370" cy="3598082"/>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42900" lvl="4" marL="22860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 name="Google Shape;21;p12"/>
          <p:cNvSpPr txBox="1"/>
          <p:nvPr/>
        </p:nvSpPr>
        <p:spPr>
          <a:xfrm>
            <a:off x="4076885" y="4608512"/>
            <a:ext cx="99023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fld id="{00000000-1234-1234-1234-123412341234}" type="slidenum">
              <a:rPr b="0" i="0" lang="en-US" sz="1600" u="none" cap="none" strike="noStrike">
                <a:solidFill>
                  <a:schemeClr val="dk1"/>
                </a:solidFill>
                <a:latin typeface="Arial Narrow"/>
                <a:ea typeface="Arial Narrow"/>
                <a:cs typeface="Arial Narrow"/>
                <a:sym typeface="Arial Narrow"/>
              </a:rPr>
              <a:t>‹#›</a:t>
            </a:fld>
            <a:endParaRPr b="0" i="0" sz="1600" u="none" cap="none" strike="noStrike">
              <a:solidFill>
                <a:schemeClr val="dk1"/>
              </a:solidFill>
              <a:latin typeface="Arial Narrow"/>
              <a:ea typeface="Arial Narrow"/>
              <a:cs typeface="Arial Narrow"/>
              <a:sym typeface="Arial Narrow"/>
            </a:endParaRPr>
          </a:p>
        </p:txBody>
      </p:sp>
      <p:sp>
        <p:nvSpPr>
          <p:cNvPr id="22" name="Google Shape;22;p12"/>
          <p:cNvSpPr txBox="1"/>
          <p:nvPr>
            <p:ph idx="2" type="body"/>
          </p:nvPr>
        </p:nvSpPr>
        <p:spPr>
          <a:xfrm>
            <a:off x="279082" y="119856"/>
            <a:ext cx="8641398" cy="46942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560"/>
              </a:spcBef>
              <a:spcAft>
                <a:spcPts val="0"/>
              </a:spcAft>
              <a:buClr>
                <a:schemeClr val="dk1"/>
              </a:buClr>
              <a:buSzPts val="2800"/>
              <a:buFont typeface="Arial"/>
              <a:buNone/>
              <a:defRPr b="0" i="0" sz="2800" u="none" cap="none" strike="noStrike">
                <a:solidFill>
                  <a:schemeClr val="dk1"/>
                </a:solidFill>
                <a:latin typeface="Arial Narrow"/>
                <a:ea typeface="Arial Narrow"/>
                <a:cs typeface="Arial Narrow"/>
                <a:sym typeface="Arial Narrow"/>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3" name="Shape 23"/>
        <p:cNvGrpSpPr/>
        <p:nvPr/>
      </p:nvGrpSpPr>
      <p:grpSpPr>
        <a:xfrm>
          <a:off x="0" y="0"/>
          <a:ext cx="0" cy="0"/>
          <a:chOff x="0" y="0"/>
          <a:chExt cx="0" cy="0"/>
        </a:xfrm>
      </p:grpSpPr>
      <p:sp>
        <p:nvSpPr>
          <p:cNvPr id="24" name="Google Shape;24;p16"/>
          <p:cNvSpPr txBox="1"/>
          <p:nvPr/>
        </p:nvSpPr>
        <p:spPr>
          <a:xfrm>
            <a:off x="4076885" y="4608512"/>
            <a:ext cx="99023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fld id="{00000000-1234-1234-1234-123412341234}" type="slidenum">
              <a:rPr b="0" i="0" lang="en-US" sz="2400" u="none" cap="none" strike="noStrike">
                <a:solidFill>
                  <a:schemeClr val="dk1"/>
                </a:solidFill>
                <a:latin typeface="Arial Narrow"/>
                <a:ea typeface="Arial Narrow"/>
                <a:cs typeface="Arial Narrow"/>
                <a:sym typeface="Arial Narrow"/>
              </a:rPr>
              <a:t>‹#›</a:t>
            </a:fld>
            <a:endParaRPr b="0" i="0" sz="2400" u="none" cap="none" strike="noStrike">
              <a:solidFill>
                <a:schemeClr val="dk1"/>
              </a:solidFill>
              <a:latin typeface="Arial Narrow"/>
              <a:ea typeface="Arial Narrow"/>
              <a:cs typeface="Arial Narrow"/>
              <a:sym typeface="Arial Narrow"/>
            </a:endParaRPr>
          </a:p>
        </p:txBody>
      </p:sp>
      <p:sp>
        <p:nvSpPr>
          <p:cNvPr id="25" name="Google Shape;25;p16"/>
          <p:cNvSpPr txBox="1"/>
          <p:nvPr>
            <p:ph idx="1" type="body"/>
          </p:nvPr>
        </p:nvSpPr>
        <p:spPr>
          <a:xfrm>
            <a:off x="256066" y="1005931"/>
            <a:ext cx="4038600" cy="3089329"/>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42900" lvl="4" marL="22860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6" name="Google Shape;26;p16"/>
          <p:cNvSpPr txBox="1"/>
          <p:nvPr>
            <p:ph idx="2" type="body"/>
          </p:nvPr>
        </p:nvSpPr>
        <p:spPr>
          <a:xfrm>
            <a:off x="4553746" y="1005931"/>
            <a:ext cx="4038600" cy="3089329"/>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Arial"/>
                <a:ea typeface="Arial"/>
                <a:cs typeface="Arial"/>
                <a:sym typeface="Arial"/>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42900" lvl="4" marL="22860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7" name="Google Shape;27;p16"/>
          <p:cNvSpPr txBox="1"/>
          <p:nvPr>
            <p:ph idx="3" type="body"/>
          </p:nvPr>
        </p:nvSpPr>
        <p:spPr>
          <a:xfrm>
            <a:off x="279082" y="119856"/>
            <a:ext cx="8641398" cy="46942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 name="Shape 28"/>
        <p:cNvGrpSpPr/>
        <p:nvPr/>
      </p:nvGrpSpPr>
      <p:grpSpPr>
        <a:xfrm>
          <a:off x="0" y="0"/>
          <a:ext cx="0" cy="0"/>
          <a:chOff x="0" y="0"/>
          <a:chExt cx="0" cy="0"/>
        </a:xfrm>
      </p:grpSpPr>
      <p:sp>
        <p:nvSpPr>
          <p:cNvPr id="29" name="Google Shape;29;p15"/>
          <p:cNvSpPr txBox="1"/>
          <p:nvPr/>
        </p:nvSpPr>
        <p:spPr>
          <a:xfrm>
            <a:off x="4076885" y="4608512"/>
            <a:ext cx="99023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fld id="{00000000-1234-1234-1234-123412341234}" type="slidenum">
              <a:rPr b="0" i="0" lang="en-US" sz="2400" u="none" cap="none" strike="noStrike">
                <a:solidFill>
                  <a:schemeClr val="dk1"/>
                </a:solidFill>
                <a:latin typeface="Arial Narrow"/>
                <a:ea typeface="Arial Narrow"/>
                <a:cs typeface="Arial Narrow"/>
                <a:sym typeface="Arial Narrow"/>
              </a:rPr>
              <a:t>‹#›</a:t>
            </a:fld>
            <a:endParaRPr b="0" i="0" sz="2400" u="none" cap="none" strike="noStrike">
              <a:solidFill>
                <a:schemeClr val="dk1"/>
              </a:solidFill>
              <a:latin typeface="Arial Narrow"/>
              <a:ea typeface="Arial Narrow"/>
              <a:cs typeface="Arial Narrow"/>
              <a:sym typeface="Arial Narrow"/>
            </a:endParaRPr>
          </a:p>
        </p:txBody>
      </p:sp>
      <p:sp>
        <p:nvSpPr>
          <p:cNvPr id="30" name="Google Shape;30;p15"/>
          <p:cNvSpPr txBox="1"/>
          <p:nvPr>
            <p:ph idx="1" type="body"/>
          </p:nvPr>
        </p:nvSpPr>
        <p:spPr>
          <a:xfrm>
            <a:off x="279082" y="119856"/>
            <a:ext cx="8641398" cy="46942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1" name="Shape 31"/>
        <p:cNvGrpSpPr/>
        <p:nvPr/>
      </p:nvGrpSpPr>
      <p:grpSpPr>
        <a:xfrm>
          <a:off x="0" y="0"/>
          <a:ext cx="0" cy="0"/>
          <a:chOff x="0" y="0"/>
          <a:chExt cx="0" cy="0"/>
        </a:xfrm>
      </p:grpSpPr>
      <p:sp>
        <p:nvSpPr>
          <p:cNvPr id="32" name="Google Shape;32;p17"/>
          <p:cNvSpPr/>
          <p:nvPr>
            <p:ph idx="2" type="pic"/>
          </p:nvPr>
        </p:nvSpPr>
        <p:spPr>
          <a:xfrm>
            <a:off x="3197172" y="996950"/>
            <a:ext cx="5511828" cy="2998993"/>
          </a:xfrm>
          <a:prstGeom prst="rect">
            <a:avLst/>
          </a:prstGeom>
          <a:noFill/>
          <a:ln>
            <a:noFill/>
          </a:ln>
        </p:spPr>
      </p:sp>
      <p:sp>
        <p:nvSpPr>
          <p:cNvPr id="33" name="Google Shape;33;p17"/>
          <p:cNvSpPr txBox="1"/>
          <p:nvPr>
            <p:ph idx="1" type="body"/>
          </p:nvPr>
        </p:nvSpPr>
        <p:spPr>
          <a:xfrm>
            <a:off x="261414" y="996950"/>
            <a:ext cx="2484666" cy="2998993"/>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4" name="Google Shape;34;p17"/>
          <p:cNvSpPr txBox="1"/>
          <p:nvPr/>
        </p:nvSpPr>
        <p:spPr>
          <a:xfrm>
            <a:off x="4076885" y="4608512"/>
            <a:ext cx="99023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fld id="{00000000-1234-1234-1234-123412341234}" type="slidenum">
              <a:rPr b="0" i="0" lang="en-US" sz="2400" u="none" cap="none" strike="noStrike">
                <a:solidFill>
                  <a:schemeClr val="dk1"/>
                </a:solidFill>
                <a:latin typeface="Arial Narrow"/>
                <a:ea typeface="Arial Narrow"/>
                <a:cs typeface="Arial Narrow"/>
                <a:sym typeface="Arial Narrow"/>
              </a:rPr>
              <a:t>‹#›</a:t>
            </a:fld>
            <a:endParaRPr b="0" i="0" sz="2400" u="none" cap="none" strike="noStrike">
              <a:solidFill>
                <a:schemeClr val="dk1"/>
              </a:solidFill>
              <a:latin typeface="Arial Narrow"/>
              <a:ea typeface="Arial Narrow"/>
              <a:cs typeface="Arial Narrow"/>
              <a:sym typeface="Arial Narrow"/>
            </a:endParaRPr>
          </a:p>
        </p:txBody>
      </p:sp>
      <p:sp>
        <p:nvSpPr>
          <p:cNvPr id="35" name="Google Shape;35;p17"/>
          <p:cNvSpPr txBox="1"/>
          <p:nvPr>
            <p:ph idx="3" type="body"/>
          </p:nvPr>
        </p:nvSpPr>
        <p:spPr>
          <a:xfrm>
            <a:off x="279082" y="119856"/>
            <a:ext cx="8641398" cy="46942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6" name="Shape 36"/>
        <p:cNvGrpSpPr/>
        <p:nvPr/>
      </p:nvGrpSpPr>
      <p:grpSpPr>
        <a:xfrm>
          <a:off x="0" y="0"/>
          <a:ext cx="0" cy="0"/>
          <a:chOff x="0" y="0"/>
          <a:chExt cx="0" cy="0"/>
        </a:xfrm>
      </p:grpSpPr>
      <p:sp>
        <p:nvSpPr>
          <p:cNvPr id="37" name="Google Shape;37;p18"/>
          <p:cNvSpPr/>
          <p:nvPr>
            <p:ph idx="2" type="pic"/>
          </p:nvPr>
        </p:nvSpPr>
        <p:spPr>
          <a:xfrm>
            <a:off x="377508" y="1001432"/>
            <a:ext cx="8288662" cy="3063901"/>
          </a:xfrm>
          <a:prstGeom prst="rect">
            <a:avLst/>
          </a:prstGeom>
          <a:noFill/>
          <a:ln>
            <a:noFill/>
          </a:ln>
        </p:spPr>
      </p:sp>
      <p:sp>
        <p:nvSpPr>
          <p:cNvPr id="38" name="Google Shape;38;p18"/>
          <p:cNvSpPr txBox="1"/>
          <p:nvPr/>
        </p:nvSpPr>
        <p:spPr>
          <a:xfrm>
            <a:off x="4076885" y="4608512"/>
            <a:ext cx="99023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fld id="{00000000-1234-1234-1234-123412341234}" type="slidenum">
              <a:rPr b="0" i="0" lang="en-US" sz="2400" u="none" cap="none" strike="noStrike">
                <a:solidFill>
                  <a:schemeClr val="dk1"/>
                </a:solidFill>
                <a:latin typeface="Arial Narrow"/>
                <a:ea typeface="Arial Narrow"/>
                <a:cs typeface="Arial Narrow"/>
                <a:sym typeface="Arial Narrow"/>
              </a:rPr>
              <a:t>‹#›</a:t>
            </a:fld>
            <a:endParaRPr b="0" i="0" sz="2400" u="none" cap="none" strike="noStrike">
              <a:solidFill>
                <a:schemeClr val="dk1"/>
              </a:solidFill>
              <a:latin typeface="Arial Narrow"/>
              <a:ea typeface="Arial Narrow"/>
              <a:cs typeface="Arial Narrow"/>
              <a:sym typeface="Arial Narrow"/>
            </a:endParaRPr>
          </a:p>
        </p:txBody>
      </p:sp>
      <p:sp>
        <p:nvSpPr>
          <p:cNvPr id="39" name="Google Shape;39;p18"/>
          <p:cNvSpPr txBox="1"/>
          <p:nvPr>
            <p:ph idx="1" type="body"/>
          </p:nvPr>
        </p:nvSpPr>
        <p:spPr>
          <a:xfrm>
            <a:off x="279082" y="119856"/>
            <a:ext cx="8641398" cy="46942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Arial Narrow"/>
                <a:ea typeface="Arial Narrow"/>
                <a:cs typeface="Arial Narrow"/>
                <a:sym typeface="Arial Narrow"/>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2" name="Shape 42"/>
        <p:cNvGrpSpPr/>
        <p:nvPr/>
      </p:nvGrpSpPr>
      <p:grpSpPr>
        <a:xfrm>
          <a:off x="0" y="0"/>
          <a:ext cx="0" cy="0"/>
          <a:chOff x="0" y="0"/>
          <a:chExt cx="0" cy="0"/>
        </a:xfrm>
      </p:grpSpPr>
      <p:sp>
        <p:nvSpPr>
          <p:cNvPr id="43" name="Google Shape;43;p14"/>
          <p:cNvSpPr txBox="1"/>
          <p:nvPr>
            <p:ph idx="1" type="body"/>
          </p:nvPr>
        </p:nvSpPr>
        <p:spPr>
          <a:xfrm>
            <a:off x="274320" y="1887378"/>
            <a:ext cx="4097338" cy="10285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600"/>
              </a:spcBef>
              <a:spcAft>
                <a:spcPts val="0"/>
              </a:spcAft>
              <a:buClr>
                <a:srgbClr val="FFFFFF"/>
              </a:buClr>
              <a:buSzPts val="3000"/>
              <a:buFont typeface="Arial"/>
              <a:buNone/>
              <a:defRPr b="0" i="0" sz="3000" u="none" cap="none" strike="noStrike">
                <a:solidFill>
                  <a:srgbClr val="FFFFFF"/>
                </a:solidFill>
                <a:latin typeface="Arial Narrow"/>
                <a:ea typeface="Arial Narrow"/>
                <a:cs typeface="Arial Narrow"/>
                <a:sym typeface="Arial Narrow"/>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image" Target="../media/image5.jpg"/><Relationship Id="rId3" Type="http://schemas.openxmlformats.org/officeDocument/2006/relationships/slideLayout" Target="../slideLayouts/slideLayout1.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slideLayout" Target="../slideLayouts/slideLayout7.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PPT templates-1-widescreen-FINAL.jpg" id="10" name="Google Shape;10;p9"/>
          <p:cNvPicPr preferRelativeResize="0"/>
          <p:nvPr/>
        </p:nvPicPr>
        <p:blipFill rotWithShape="1">
          <a:blip r:embed="rId1">
            <a:alphaModFix/>
          </a:blip>
          <a:srcRect b="0" l="0" r="0" t="0"/>
          <a:stretch/>
        </p:blipFill>
        <p:spPr>
          <a:xfrm>
            <a:off x="0" y="133350"/>
            <a:ext cx="9135879" cy="5143500"/>
          </a:xfrm>
          <a:prstGeom prst="rect">
            <a:avLst/>
          </a:prstGeom>
          <a:noFill/>
          <a:ln>
            <a:noFill/>
          </a:ln>
        </p:spPr>
      </p:pic>
      <p:pic>
        <p:nvPicPr>
          <p:cNvPr descr="A close-up of a computer&#10;&#10;Description automatically generated with low confidence" id="11" name="Google Shape;11;p9"/>
          <p:cNvPicPr preferRelativeResize="0"/>
          <p:nvPr/>
        </p:nvPicPr>
        <p:blipFill rotWithShape="1">
          <a:blip r:embed="rId2">
            <a:alphaModFix/>
          </a:blip>
          <a:srcRect b="0" l="0" r="0" t="0"/>
          <a:stretch/>
        </p:blipFill>
        <p:spPr>
          <a:xfrm>
            <a:off x="-201876" y="-89677"/>
            <a:ext cx="9671808" cy="5431698"/>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pic>
        <p:nvPicPr>
          <p:cNvPr descr="PPT templates-1-widescreen-FINAL-4.jpg" id="17" name="Google Shape;17;p11"/>
          <p:cNvPicPr preferRelativeResize="0"/>
          <p:nvPr/>
        </p:nvPicPr>
        <p:blipFill rotWithShape="1">
          <a:blip r:embed="rId1">
            <a:alphaModFix/>
          </a:blip>
          <a:srcRect b="0" l="0" r="0" t="0"/>
          <a:stretch/>
        </p:blipFill>
        <p:spPr>
          <a:xfrm>
            <a:off x="0" y="0"/>
            <a:ext cx="9135879" cy="5143500"/>
          </a:xfrm>
          <a:prstGeom prst="rect">
            <a:avLst/>
          </a:prstGeom>
          <a:noFill/>
          <a:ln>
            <a:noFill/>
          </a:ln>
        </p:spPr>
      </p:pic>
      <p:sp>
        <p:nvSpPr>
          <p:cNvPr id="18" name="Google Shape;18;p11"/>
          <p:cNvSpPr txBox="1"/>
          <p:nvPr>
            <p:ph idx="12" type="sldNum"/>
          </p:nvPr>
        </p:nvSpPr>
        <p:spPr>
          <a:xfrm>
            <a:off x="4405866" y="4735279"/>
            <a:ext cx="21336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 name="Shape 40"/>
        <p:cNvGrpSpPr/>
        <p:nvPr/>
      </p:nvGrpSpPr>
      <p:grpSpPr>
        <a:xfrm>
          <a:off x="0" y="0"/>
          <a:ext cx="0" cy="0"/>
          <a:chOff x="0" y="0"/>
          <a:chExt cx="0" cy="0"/>
        </a:xfrm>
      </p:grpSpPr>
      <p:pic>
        <p:nvPicPr>
          <p:cNvPr descr="PPT templates-1-widescreen-FINAL-6.jpg" id="41" name="Google Shape;41;p13"/>
          <p:cNvPicPr preferRelativeResize="0"/>
          <p:nvPr/>
        </p:nvPicPr>
        <p:blipFill rotWithShape="1">
          <a:blip r:embed="rId1">
            <a:alphaModFix/>
          </a:blip>
          <a:srcRect b="0" l="0" r="0" t="0"/>
          <a:stretch/>
        </p:blipFill>
        <p:spPr>
          <a:xfrm>
            <a:off x="0" y="0"/>
            <a:ext cx="9135879" cy="51435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7"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www.mcs.anl.gov" TargetMode="External"/><Relationship Id="rId4" Type="http://schemas.openxmlformats.org/officeDocument/2006/relationships/hyperlink" Target="http://www.hpjava.or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hyperlink" Target="https://drive.google.com/drive/folders/1MigNbMRrx_2Knz4rbixxEpyAWmnjK6Ke?usp=sharing" TargetMode="External"/><Relationship Id="rId4" Type="http://schemas.openxmlformats.org/officeDocument/2006/relationships/hyperlink" Target="https://drive.google.com/file/d/1-uOG-lqciasoXSYLIpORX7KbnBNlopT7/view?usp=sharing"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
          <p:cNvSpPr txBox="1"/>
          <p:nvPr>
            <p:ph type="ctrTitle"/>
          </p:nvPr>
        </p:nvSpPr>
        <p:spPr>
          <a:xfrm>
            <a:off x="168442" y="483338"/>
            <a:ext cx="8861258" cy="208059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1"/>
              </a:buClr>
              <a:buSzPts val="1200"/>
              <a:buFont typeface="Arial"/>
              <a:buNone/>
            </a:pPr>
            <a:r>
              <a:rPr b="0" lang="en-US" sz="1200">
                <a:solidFill>
                  <a:schemeClr val="lt1"/>
                </a:solidFill>
                <a:latin typeface="Arial"/>
                <a:ea typeface="Arial"/>
                <a:cs typeface="Arial"/>
                <a:sym typeface="Arial"/>
              </a:rPr>
              <a:t>Information Technology</a:t>
            </a:r>
            <a:br>
              <a:rPr lang="en-US">
                <a:solidFill>
                  <a:schemeClr val="lt1"/>
                </a:solidFill>
                <a:latin typeface="Arial"/>
                <a:ea typeface="Arial"/>
                <a:cs typeface="Arial"/>
                <a:sym typeface="Arial"/>
              </a:rPr>
            </a:br>
            <a:br>
              <a:rPr lang="en-US">
                <a:solidFill>
                  <a:schemeClr val="lt1"/>
                </a:solidFill>
                <a:latin typeface="Arial"/>
                <a:ea typeface="Arial"/>
                <a:cs typeface="Arial"/>
                <a:sym typeface="Arial"/>
              </a:rPr>
            </a:br>
            <a:r>
              <a:rPr lang="en-US">
                <a:solidFill>
                  <a:schemeClr val="lt1"/>
                </a:solidFill>
                <a:latin typeface="Arial"/>
                <a:ea typeface="Arial"/>
                <a:cs typeface="Arial"/>
                <a:sym typeface="Arial"/>
              </a:rPr>
              <a:t> </a:t>
            </a:r>
            <a:r>
              <a:rPr lang="en-US" sz="2800">
                <a:solidFill>
                  <a:schemeClr val="lt1"/>
                </a:solidFill>
                <a:latin typeface="Arial"/>
                <a:ea typeface="Arial"/>
                <a:cs typeface="Arial"/>
                <a:sym typeface="Arial"/>
              </a:rPr>
              <a:t>FIT3143 Parallel Computing </a:t>
            </a:r>
            <a:br>
              <a:rPr lang="en-US">
                <a:solidFill>
                  <a:schemeClr val="lt1"/>
                </a:solidFill>
                <a:latin typeface="Arial"/>
                <a:ea typeface="Arial"/>
                <a:cs typeface="Arial"/>
                <a:sym typeface="Arial"/>
              </a:rPr>
            </a:br>
            <a:r>
              <a:rPr lang="en-US">
                <a:solidFill>
                  <a:schemeClr val="lt1"/>
                </a:solidFill>
                <a:latin typeface="Arial"/>
                <a:ea typeface="Arial"/>
                <a:cs typeface="Arial"/>
                <a:sym typeface="Arial"/>
              </a:rPr>
              <a:t> </a:t>
            </a:r>
            <a:r>
              <a:rPr lang="en-US" sz="2800">
                <a:solidFill>
                  <a:schemeClr val="lt1"/>
                </a:solidFill>
                <a:latin typeface="Arial"/>
                <a:ea typeface="Arial"/>
                <a:cs typeface="Arial"/>
                <a:sym typeface="Arial"/>
              </a:rPr>
              <a:t>Semester 2 2026</a:t>
            </a:r>
            <a:endParaRPr>
              <a:solidFill>
                <a:schemeClr val="lt1"/>
              </a:solidFill>
            </a:endParaRPr>
          </a:p>
        </p:txBody>
      </p:sp>
      <p:sp>
        <p:nvSpPr>
          <p:cNvPr id="50" name="Google Shape;50;p1"/>
          <p:cNvSpPr txBox="1"/>
          <p:nvPr>
            <p:ph idx="1" type="subTitle"/>
          </p:nvPr>
        </p:nvSpPr>
        <p:spPr>
          <a:xfrm>
            <a:off x="325783" y="3041583"/>
            <a:ext cx="8506792" cy="2158053"/>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1"/>
              </a:buClr>
              <a:buSzPts val="2400"/>
              <a:buNone/>
            </a:pPr>
            <a:r>
              <a:rPr b="1" lang="en-US" sz="2400">
                <a:solidFill>
                  <a:schemeClr val="lt1"/>
                </a:solidFill>
                <a:latin typeface="Arial"/>
                <a:ea typeface="Arial"/>
                <a:cs typeface="Arial"/>
                <a:sym typeface="Arial"/>
              </a:rPr>
              <a:t>Applied </a:t>
            </a:r>
            <a:r>
              <a:rPr b="1" lang="en-US" sz="2400">
                <a:solidFill>
                  <a:schemeClr val="lt1"/>
                </a:solidFill>
                <a:latin typeface="Arial"/>
                <a:ea typeface="Arial"/>
                <a:cs typeface="Arial"/>
                <a:sym typeface="Arial"/>
              </a:rPr>
              <a:t>#1 (Week 5)</a:t>
            </a:r>
            <a:endParaRPr/>
          </a:p>
          <a:p>
            <a:pPr indent="0" lvl="0" marL="0" rtl="0" algn="l">
              <a:lnSpc>
                <a:spcPct val="100000"/>
              </a:lnSpc>
              <a:spcBef>
                <a:spcPts val="480"/>
              </a:spcBef>
              <a:spcAft>
                <a:spcPts val="0"/>
              </a:spcAft>
              <a:buClr>
                <a:schemeClr val="lt1"/>
              </a:buClr>
              <a:buSzPts val="2400"/>
              <a:buNone/>
            </a:pPr>
            <a:r>
              <a:rPr b="1" lang="en-US" sz="2400">
                <a:solidFill>
                  <a:schemeClr val="lt1"/>
                </a:solidFill>
                <a:latin typeface="Arial"/>
                <a:ea typeface="Arial"/>
                <a:cs typeface="Arial"/>
                <a:sym typeface="Arial"/>
              </a:rPr>
              <a:t>Parallel Computing In Distributed Memory – Message Passing Library</a:t>
            </a:r>
            <a:endParaRPr b="1" sz="2400">
              <a:solidFill>
                <a:schemeClr val="lt1"/>
              </a:solidFill>
              <a:latin typeface="Arial"/>
              <a:ea typeface="Arial"/>
              <a:cs typeface="Arial"/>
              <a:sym typeface="Arial"/>
            </a:endParaRPr>
          </a:p>
          <a:p>
            <a:pPr indent="0" lvl="0" marL="0" rtl="0" algn="l">
              <a:lnSpc>
                <a:spcPct val="100000"/>
              </a:lnSpc>
              <a:spcBef>
                <a:spcPts val="480"/>
              </a:spcBef>
              <a:spcAft>
                <a:spcPts val="0"/>
              </a:spcAft>
              <a:buClr>
                <a:schemeClr val="lt1"/>
              </a:buClr>
              <a:buSzPts val="2400"/>
              <a:buNone/>
            </a:pPr>
            <a:r>
              <a:t/>
            </a:r>
            <a:endParaRPr b="1" sz="2400">
              <a:solidFill>
                <a:schemeClr val="lt1"/>
              </a:solidFill>
              <a:latin typeface="Arial"/>
              <a:ea typeface="Arial"/>
              <a:cs typeface="Arial"/>
              <a:sym typeface="Arial"/>
            </a:endParaRPr>
          </a:p>
          <a:p>
            <a:pPr indent="0" lvl="0" marL="0" rtl="0" algn="l">
              <a:lnSpc>
                <a:spcPct val="100000"/>
              </a:lnSpc>
              <a:spcBef>
                <a:spcPts val="280"/>
              </a:spcBef>
              <a:spcAft>
                <a:spcPts val="0"/>
              </a:spcAft>
              <a:buClr>
                <a:schemeClr val="dk1"/>
              </a:buClr>
              <a:buSzPts val="1400"/>
              <a:buNone/>
            </a:pPr>
            <a:r>
              <a:t/>
            </a:r>
            <a:endParaRPr>
              <a:solidFill>
                <a:schemeClr val="lt1"/>
              </a:solidFill>
              <a:latin typeface="Arial"/>
              <a:ea typeface="Arial"/>
              <a:cs typeface="Arial"/>
              <a:sym typeface="Arial"/>
            </a:endParaRPr>
          </a:p>
          <a:p>
            <a:pPr indent="0" lvl="0" marL="0" rtl="0" algn="l">
              <a:lnSpc>
                <a:spcPct val="100000"/>
              </a:lnSpc>
              <a:spcBef>
                <a:spcPts val="280"/>
              </a:spcBef>
              <a:spcAft>
                <a:spcPts val="0"/>
              </a:spcAft>
              <a:buClr>
                <a:schemeClr val="lt1"/>
              </a:buClr>
              <a:buSzPts val="1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g3f59d3e3f11_0_249"/>
          <p:cNvSpPr txBox="1"/>
          <p:nvPr>
            <p:ph idx="1" type="body"/>
          </p:nvPr>
        </p:nvSpPr>
        <p:spPr>
          <a:xfrm>
            <a:off x="262110" y="833886"/>
            <a:ext cx="8658300" cy="3548700"/>
          </a:xfrm>
          <a:prstGeom prst="rect">
            <a:avLst/>
          </a:prstGeom>
          <a:noFill/>
          <a:ln>
            <a:noFill/>
          </a:ln>
        </p:spPr>
        <p:txBody>
          <a:bodyPr anchorCtr="0" anchor="t" bIns="45700" lIns="91425" spcFirstLastPara="1" rIns="91425" wrap="square" tIns="45700">
            <a:noAutofit/>
          </a:bodyPr>
          <a:lstStyle/>
          <a:p>
            <a:pPr indent="-457200" lvl="0" marL="482600" rtl="0" algn="l">
              <a:lnSpc>
                <a:spcPct val="100000"/>
              </a:lnSpc>
              <a:spcBef>
                <a:spcPts val="400"/>
              </a:spcBef>
              <a:spcAft>
                <a:spcPts val="0"/>
              </a:spcAft>
              <a:buSzPts val="2000"/>
              <a:buFont typeface="Arial"/>
              <a:buAutoNum type="arabicPeriod"/>
            </a:pPr>
            <a:r>
              <a:rPr b="1" lang="en-US" sz="2000"/>
              <a:t>Message Passing Interface (MPI)</a:t>
            </a:r>
            <a:r>
              <a:rPr b="1" lang="en-US" sz="2000"/>
              <a:t> (60 m</a:t>
            </a:r>
            <a:r>
              <a:rPr b="1" lang="en-US" sz="1850"/>
              <a:t>inutes)</a:t>
            </a:r>
            <a:endParaRPr b="1" sz="2000"/>
          </a:p>
          <a:p>
            <a:pPr indent="-457200" lvl="0" marL="457200" rtl="0" algn="l">
              <a:lnSpc>
                <a:spcPct val="100000"/>
              </a:lnSpc>
              <a:spcBef>
                <a:spcPts val="600"/>
              </a:spcBef>
              <a:spcAft>
                <a:spcPts val="0"/>
              </a:spcAft>
              <a:buSzPts val="2000"/>
              <a:buFont typeface="Arial"/>
              <a:buAutoNum type="arabicPeriod" startAt="2"/>
            </a:pPr>
            <a:r>
              <a:rPr b="1" lang="en-US" sz="2000"/>
              <a:t>Practice questions (30 minutes)</a:t>
            </a:r>
            <a:endParaRPr b="1" sz="2000"/>
          </a:p>
          <a:p>
            <a:pPr indent="-457200" lvl="0" marL="457200" rtl="0" algn="l">
              <a:lnSpc>
                <a:spcPct val="100000"/>
              </a:lnSpc>
              <a:spcBef>
                <a:spcPts val="600"/>
              </a:spcBef>
              <a:spcAft>
                <a:spcPts val="0"/>
              </a:spcAft>
              <a:buSzPts val="2000"/>
              <a:buAutoNum type="arabicPeriod" startAt="2"/>
            </a:pPr>
            <a:r>
              <a:rPr b="1" lang="en-US" sz="2000"/>
              <a:t>Week 6 - Applied Tasks overview (15 minutes)</a:t>
            </a:r>
            <a:endParaRPr b="1" sz="2000"/>
          </a:p>
          <a:p>
            <a:pPr indent="0" lvl="0" marL="0" rtl="0" algn="l">
              <a:lnSpc>
                <a:spcPct val="100000"/>
              </a:lnSpc>
              <a:spcBef>
                <a:spcPts val="400"/>
              </a:spcBef>
              <a:spcAft>
                <a:spcPts val="0"/>
              </a:spcAft>
              <a:buNone/>
            </a:pPr>
            <a:r>
              <a:t/>
            </a:r>
            <a:endParaRPr sz="2100"/>
          </a:p>
        </p:txBody>
      </p:sp>
      <p:sp>
        <p:nvSpPr>
          <p:cNvPr id="56" name="Google Shape;56;g3f59d3e3f11_0_249"/>
          <p:cNvSpPr txBox="1"/>
          <p:nvPr>
            <p:ph idx="2" type="body"/>
          </p:nvPr>
        </p:nvSpPr>
        <p:spPr>
          <a:xfrm>
            <a:off x="279082" y="119856"/>
            <a:ext cx="8641500" cy="46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800"/>
              <a:buNone/>
            </a:pPr>
            <a:r>
              <a:rPr lang="en-US"/>
              <a:t>Overview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g3f59d3e3f11_0_382"/>
          <p:cNvSpPr txBox="1"/>
          <p:nvPr>
            <p:ph idx="1" type="body"/>
          </p:nvPr>
        </p:nvSpPr>
        <p:spPr>
          <a:xfrm>
            <a:off x="274320" y="1887378"/>
            <a:ext cx="6987300" cy="102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FFFF"/>
              </a:buClr>
              <a:buSzPts val="3000"/>
              <a:buFont typeface="Arial"/>
              <a:buNone/>
            </a:pPr>
            <a:r>
              <a:rPr lang="en-US"/>
              <a:t>Message Passing Interface (MPI)</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g3f754ebd1bb_0_6"/>
          <p:cNvSpPr txBox="1"/>
          <p:nvPr>
            <p:ph idx="1" type="body"/>
          </p:nvPr>
        </p:nvSpPr>
        <p:spPr>
          <a:xfrm>
            <a:off x="262110" y="833886"/>
            <a:ext cx="8658300" cy="3548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None/>
            </a:pPr>
            <a:r>
              <a:rPr b="1" lang="en-US" sz="1800"/>
              <a:t>M P I = Message Passing Interface </a:t>
            </a:r>
            <a:endParaRPr b="1" sz="1800"/>
          </a:p>
          <a:p>
            <a:pPr indent="0" lvl="0" marL="0" rtl="0" algn="l">
              <a:lnSpc>
                <a:spcPct val="100000"/>
              </a:lnSpc>
              <a:spcBef>
                <a:spcPts val="400"/>
              </a:spcBef>
              <a:spcAft>
                <a:spcPts val="0"/>
              </a:spcAft>
              <a:buNone/>
            </a:pPr>
            <a:r>
              <a:t/>
            </a:r>
            <a:endParaRPr b="1" sz="1800"/>
          </a:p>
          <a:p>
            <a:pPr indent="0" lvl="0" marL="0" rtl="0" algn="l">
              <a:lnSpc>
                <a:spcPct val="100000"/>
              </a:lnSpc>
              <a:spcBef>
                <a:spcPts val="400"/>
              </a:spcBef>
              <a:spcAft>
                <a:spcPts val="0"/>
              </a:spcAft>
              <a:buNone/>
            </a:pPr>
            <a:r>
              <a:rPr lang="en-US" sz="1800"/>
              <a:t>MPI is a specification for the developers and users of message passing libraries. By itself, </a:t>
            </a:r>
            <a:r>
              <a:rPr b="1" i="1" lang="en-US" sz="1800" u="sng">
                <a:solidFill>
                  <a:srgbClr val="FF0000"/>
                </a:solidFill>
              </a:rPr>
              <a:t>it is NOT a library</a:t>
            </a:r>
            <a:r>
              <a:rPr lang="en-US" sz="1800"/>
              <a:t> - but rather the </a:t>
            </a:r>
            <a:r>
              <a:rPr i="1" lang="en-US" sz="1800">
                <a:solidFill>
                  <a:srgbClr val="B45F06"/>
                </a:solidFill>
                <a:highlight>
                  <a:schemeClr val="lt1"/>
                </a:highlight>
              </a:rPr>
              <a:t>specification</a:t>
            </a:r>
            <a:r>
              <a:rPr lang="en-US" sz="1800"/>
              <a:t> of what such a library should be. </a:t>
            </a:r>
            <a:endParaRPr sz="1800"/>
          </a:p>
          <a:p>
            <a:pPr indent="0" lvl="0" marL="0" rtl="0" algn="l">
              <a:lnSpc>
                <a:spcPct val="100000"/>
              </a:lnSpc>
              <a:spcBef>
                <a:spcPts val="1000"/>
              </a:spcBef>
              <a:spcAft>
                <a:spcPts val="0"/>
              </a:spcAft>
              <a:buNone/>
            </a:pPr>
            <a:r>
              <a:rPr lang="en-US" sz="1800"/>
              <a:t>Simply stated, the goal of the Message Passing Interface is to provide a widely used standard for writing message passing programs. The interface attempts to be </a:t>
            </a:r>
            <a:endParaRPr sz="1800"/>
          </a:p>
          <a:p>
            <a:pPr indent="-342900" lvl="0" marL="457200" rtl="0" algn="l">
              <a:lnSpc>
                <a:spcPct val="100000"/>
              </a:lnSpc>
              <a:spcBef>
                <a:spcPts val="400"/>
              </a:spcBef>
              <a:spcAft>
                <a:spcPts val="0"/>
              </a:spcAft>
              <a:buSzPts val="1800"/>
              <a:buChar char="▪"/>
            </a:pPr>
            <a:r>
              <a:rPr lang="en-US" sz="1800"/>
              <a:t>practical </a:t>
            </a:r>
            <a:endParaRPr sz="1800"/>
          </a:p>
          <a:p>
            <a:pPr indent="-342900" lvl="0" marL="457200" rtl="0" algn="l">
              <a:lnSpc>
                <a:spcPct val="100000"/>
              </a:lnSpc>
              <a:spcBef>
                <a:spcPts val="0"/>
              </a:spcBef>
              <a:spcAft>
                <a:spcPts val="0"/>
              </a:spcAft>
              <a:buSzPts val="1800"/>
              <a:buChar char="▪"/>
            </a:pPr>
            <a:r>
              <a:rPr lang="en-US" sz="1800"/>
              <a:t>portable </a:t>
            </a:r>
            <a:endParaRPr sz="1800"/>
          </a:p>
          <a:p>
            <a:pPr indent="-342900" lvl="0" marL="457200" rtl="0" algn="l">
              <a:lnSpc>
                <a:spcPct val="100000"/>
              </a:lnSpc>
              <a:spcBef>
                <a:spcPts val="0"/>
              </a:spcBef>
              <a:spcAft>
                <a:spcPts val="0"/>
              </a:spcAft>
              <a:buSzPts val="1800"/>
              <a:buChar char="▪"/>
            </a:pPr>
            <a:r>
              <a:rPr lang="en-US" sz="1800"/>
              <a:t>efficient </a:t>
            </a:r>
            <a:endParaRPr sz="1800"/>
          </a:p>
          <a:p>
            <a:pPr indent="-342900" lvl="0" marL="457200" rtl="0" algn="l">
              <a:lnSpc>
                <a:spcPct val="100000"/>
              </a:lnSpc>
              <a:spcBef>
                <a:spcPts val="0"/>
              </a:spcBef>
              <a:spcAft>
                <a:spcPts val="0"/>
              </a:spcAft>
              <a:buSzPts val="1800"/>
              <a:buChar char="▪"/>
            </a:pPr>
            <a:r>
              <a:rPr lang="en-US" sz="1800"/>
              <a:t>flexible </a:t>
            </a:r>
            <a:endParaRPr sz="1800"/>
          </a:p>
          <a:p>
            <a:pPr indent="0" lvl="0" marL="0" rtl="0" algn="l">
              <a:lnSpc>
                <a:spcPct val="100000"/>
              </a:lnSpc>
              <a:spcBef>
                <a:spcPts val="400"/>
              </a:spcBef>
              <a:spcAft>
                <a:spcPts val="0"/>
              </a:spcAft>
              <a:buNone/>
            </a:pPr>
            <a:r>
              <a:t/>
            </a:r>
            <a:endParaRPr b="1" sz="1800"/>
          </a:p>
          <a:p>
            <a:pPr indent="0" lvl="0" marL="0" rtl="0" algn="l">
              <a:lnSpc>
                <a:spcPct val="100000"/>
              </a:lnSpc>
              <a:spcBef>
                <a:spcPts val="400"/>
              </a:spcBef>
              <a:spcAft>
                <a:spcPts val="0"/>
              </a:spcAft>
              <a:buNone/>
            </a:pPr>
            <a:r>
              <a:t/>
            </a:r>
            <a:endParaRPr b="1" sz="1800"/>
          </a:p>
        </p:txBody>
      </p:sp>
      <p:sp>
        <p:nvSpPr>
          <p:cNvPr id="68" name="Google Shape;68;g3f754ebd1bb_0_6"/>
          <p:cNvSpPr txBox="1"/>
          <p:nvPr>
            <p:ph idx="2" type="body"/>
          </p:nvPr>
        </p:nvSpPr>
        <p:spPr>
          <a:xfrm>
            <a:off x="279082" y="119856"/>
            <a:ext cx="8641500" cy="46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800"/>
              <a:buNone/>
            </a:pPr>
            <a:r>
              <a:rPr b="1" lang="en-US"/>
              <a:t>What is MPI</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3f754ebd1bb_0_17"/>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336550" lvl="0" marL="457200" rtl="0" algn="l">
              <a:spcBef>
                <a:spcPts val="480"/>
              </a:spcBef>
              <a:spcAft>
                <a:spcPts val="0"/>
              </a:spcAft>
              <a:buSzPts val="1700"/>
              <a:buChar char="▪"/>
            </a:pPr>
            <a:r>
              <a:rPr b="1" lang="en-US" sz="1700"/>
              <a:t>Standardization </a:t>
            </a:r>
            <a:r>
              <a:rPr lang="en-US" sz="1700"/>
              <a:t>- Supported on all major platforms and also many specialised HPC systems. (Practically has replaced all previous message passing libraries) </a:t>
            </a:r>
            <a:endParaRPr sz="1700"/>
          </a:p>
          <a:p>
            <a:pPr indent="-336550" lvl="0" marL="457200" rtl="0" algn="l">
              <a:spcBef>
                <a:spcPts val="1000"/>
              </a:spcBef>
              <a:spcAft>
                <a:spcPts val="0"/>
              </a:spcAft>
              <a:buSzPts val="1700"/>
              <a:buChar char="▪"/>
            </a:pPr>
            <a:r>
              <a:rPr b="1" lang="en-US" sz="1700"/>
              <a:t>Portability </a:t>
            </a:r>
            <a:r>
              <a:rPr lang="en-US" sz="1700"/>
              <a:t>- Minimum (to none) need to modify your source code when you port your application to a different platform compliant with MPI (standard). </a:t>
            </a:r>
            <a:endParaRPr sz="1700"/>
          </a:p>
          <a:p>
            <a:pPr indent="-336550" lvl="0" marL="457200" rtl="0" algn="l">
              <a:spcBef>
                <a:spcPts val="1000"/>
              </a:spcBef>
              <a:spcAft>
                <a:spcPts val="0"/>
              </a:spcAft>
              <a:buSzPts val="1700"/>
              <a:buChar char="▪"/>
            </a:pPr>
            <a:r>
              <a:rPr b="1" lang="en-US" sz="1700"/>
              <a:t>Performance Opportunities </a:t>
            </a:r>
            <a:r>
              <a:rPr lang="en-US" sz="1700"/>
              <a:t>- Vendor implementations can exploit native hardware features to optimize performance. </a:t>
            </a:r>
            <a:endParaRPr sz="1700"/>
          </a:p>
          <a:p>
            <a:pPr indent="-336550" lvl="0" marL="457200" rtl="0" algn="l">
              <a:spcBef>
                <a:spcPts val="1000"/>
              </a:spcBef>
              <a:spcAft>
                <a:spcPts val="0"/>
              </a:spcAft>
              <a:buSzPts val="1700"/>
              <a:buChar char="▪"/>
            </a:pPr>
            <a:r>
              <a:rPr b="1" lang="en-US" sz="1700"/>
              <a:t>Functionality </a:t>
            </a:r>
            <a:r>
              <a:rPr lang="en-US" sz="1700"/>
              <a:t>- About 128 functions/routines in MPI 1.3, finalised in 2008. By 2026, MPI has reached 5.0. </a:t>
            </a:r>
            <a:endParaRPr sz="1700"/>
          </a:p>
          <a:p>
            <a:pPr indent="-336550" lvl="0" marL="457200" rtl="0" algn="l">
              <a:spcBef>
                <a:spcPts val="1000"/>
              </a:spcBef>
              <a:spcAft>
                <a:spcPts val="0"/>
              </a:spcAft>
              <a:buSzPts val="1700"/>
              <a:buChar char="▪"/>
            </a:pPr>
            <a:r>
              <a:rPr b="1" lang="en-US" sz="1700"/>
              <a:t>Availability </a:t>
            </a:r>
            <a:r>
              <a:rPr lang="en-US" sz="1700"/>
              <a:t>- A </a:t>
            </a:r>
            <a:r>
              <a:rPr lang="en-US" sz="1700" u="sng">
                <a:solidFill>
                  <a:srgbClr val="FF0000"/>
                </a:solidFill>
              </a:rPr>
              <a:t>variety</a:t>
            </a:r>
            <a:r>
              <a:rPr lang="en-US" sz="1700"/>
              <a:t> of implementations on the standard are available (vendor and public domain implementations). </a:t>
            </a:r>
            <a:endParaRPr sz="1700"/>
          </a:p>
          <a:p>
            <a:pPr indent="0" lvl="0" marL="457200" rtl="0" algn="l">
              <a:spcBef>
                <a:spcPts val="1000"/>
              </a:spcBef>
              <a:spcAft>
                <a:spcPts val="1000"/>
              </a:spcAft>
              <a:buNone/>
            </a:pPr>
            <a:r>
              <a:rPr lang="en-US" sz="1700"/>
              <a:t>(For Applied/Lab assessment: </a:t>
            </a:r>
            <a:r>
              <a:rPr i="1" lang="en-US" sz="1700" u="sng">
                <a:solidFill>
                  <a:srgbClr val="FF0000"/>
                </a:solidFill>
              </a:rPr>
              <a:t>OpenMPI library implementations</a:t>
            </a:r>
            <a:r>
              <a:rPr lang="en-US" sz="1700"/>
              <a:t>)</a:t>
            </a:r>
            <a:endParaRPr sz="1700"/>
          </a:p>
        </p:txBody>
      </p:sp>
      <p:sp>
        <p:nvSpPr>
          <p:cNvPr id="75" name="Google Shape;75;g3f754ebd1bb_0_17"/>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Reasons for Using MPI</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g3f754ebd1bb_0_24"/>
          <p:cNvSpPr txBox="1"/>
          <p:nvPr>
            <p:ph idx="1" type="body"/>
          </p:nvPr>
        </p:nvSpPr>
        <p:spPr>
          <a:xfrm>
            <a:off x="185701" y="701225"/>
            <a:ext cx="8658300" cy="3948600"/>
          </a:xfrm>
          <a:prstGeom prst="rect">
            <a:avLst/>
          </a:prstGeom>
        </p:spPr>
        <p:txBody>
          <a:bodyPr anchorCtr="0" anchor="t" bIns="45700" lIns="91425" spcFirstLastPara="1" rIns="91425" wrap="square" tIns="45700">
            <a:noAutofit/>
          </a:bodyPr>
          <a:lstStyle/>
          <a:p>
            <a:pPr indent="-336550" lvl="0" marL="457200" rtl="0" algn="l">
              <a:spcBef>
                <a:spcPts val="480"/>
              </a:spcBef>
              <a:spcAft>
                <a:spcPts val="0"/>
              </a:spcAft>
              <a:buSzPts val="1700"/>
              <a:buChar char="▪"/>
            </a:pPr>
            <a:r>
              <a:rPr lang="en-US" sz="1700"/>
              <a:t>MPI supports almost any popular distributed memory parallel programming model.</a:t>
            </a:r>
            <a:endParaRPr sz="1700"/>
          </a:p>
          <a:p>
            <a:pPr indent="-336550" lvl="0" marL="457200" rtl="0" algn="l">
              <a:spcBef>
                <a:spcPts val="1000"/>
              </a:spcBef>
              <a:spcAft>
                <a:spcPts val="0"/>
              </a:spcAft>
              <a:buSzPts val="1700"/>
              <a:buChar char="▪"/>
            </a:pPr>
            <a:r>
              <a:rPr lang="en-US" sz="1700"/>
              <a:t>MPI can also be used to implement/support many shared memory models. </a:t>
            </a:r>
            <a:endParaRPr sz="1700"/>
          </a:p>
          <a:p>
            <a:pPr indent="-336550" lvl="0" marL="457200" rtl="0" algn="l">
              <a:spcBef>
                <a:spcPts val="1000"/>
              </a:spcBef>
              <a:spcAft>
                <a:spcPts val="0"/>
              </a:spcAft>
              <a:buSzPts val="1700"/>
              <a:buChar char="▪"/>
            </a:pPr>
            <a:r>
              <a:rPr lang="en-US" sz="1700"/>
              <a:t>Hardware platforms: </a:t>
            </a:r>
            <a:endParaRPr sz="1700"/>
          </a:p>
          <a:p>
            <a:pPr indent="-336550" lvl="1" marL="914400" rtl="0" algn="l">
              <a:spcBef>
                <a:spcPts val="0"/>
              </a:spcBef>
              <a:spcAft>
                <a:spcPts val="0"/>
              </a:spcAft>
              <a:buSzPts val="1700"/>
              <a:buChar char="–"/>
            </a:pPr>
            <a:r>
              <a:rPr lang="en-US" sz="1700"/>
              <a:t>Distributed Memory: Primarily targeted for distributed memory systems. </a:t>
            </a:r>
            <a:endParaRPr sz="1700"/>
          </a:p>
          <a:p>
            <a:pPr indent="0" lvl="0" marL="914400" rtl="0" algn="l">
              <a:spcBef>
                <a:spcPts val="480"/>
              </a:spcBef>
              <a:spcAft>
                <a:spcPts val="0"/>
              </a:spcAft>
              <a:buNone/>
            </a:pPr>
            <a:r>
              <a:t/>
            </a:r>
            <a:endParaRPr sz="1700"/>
          </a:p>
          <a:p>
            <a:pPr indent="-336550" lvl="1" marL="914400" rtl="0" algn="l">
              <a:spcBef>
                <a:spcPts val="400"/>
              </a:spcBef>
              <a:spcAft>
                <a:spcPts val="0"/>
              </a:spcAft>
              <a:buSzPts val="1700"/>
              <a:buChar char="–"/>
            </a:pPr>
            <a:r>
              <a:rPr lang="en-US" sz="1700"/>
              <a:t>Shared Memory: As shared memory systems became more popular (SMP / NUMA architectures), MPI implementations for these platforms appeared. </a:t>
            </a:r>
            <a:endParaRPr sz="1700"/>
          </a:p>
          <a:p>
            <a:pPr indent="0" lvl="0" marL="914400" rtl="0" algn="l">
              <a:spcBef>
                <a:spcPts val="480"/>
              </a:spcBef>
              <a:spcAft>
                <a:spcPts val="0"/>
              </a:spcAft>
              <a:buNone/>
            </a:pPr>
            <a:r>
              <a:t/>
            </a:r>
            <a:endParaRPr sz="1700"/>
          </a:p>
          <a:p>
            <a:pPr indent="-336550" lvl="1" marL="914400" rtl="0" algn="l">
              <a:spcBef>
                <a:spcPts val="400"/>
              </a:spcBef>
              <a:spcAft>
                <a:spcPts val="0"/>
              </a:spcAft>
              <a:buSzPts val="1700"/>
              <a:buChar char="–"/>
            </a:pPr>
            <a:r>
              <a:rPr lang="en-US" sz="1700"/>
              <a:t>Hybrid: MPI supports most common hybrid architecture (massively parallel machines, SMP clusters, workstation clusters and heterogeneous networks,  etc).</a:t>
            </a:r>
            <a:endParaRPr sz="1700"/>
          </a:p>
        </p:txBody>
      </p:sp>
      <p:sp>
        <p:nvSpPr>
          <p:cNvPr id="82" name="Google Shape;82;g3f754ebd1bb_0_24"/>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Programming Model</a:t>
            </a:r>
            <a:endParaRPr b="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f754ebd1bb_0_31"/>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342900" lvl="0" marL="457200" rtl="0" algn="l">
              <a:spcBef>
                <a:spcPts val="480"/>
              </a:spcBef>
              <a:spcAft>
                <a:spcPts val="0"/>
              </a:spcAft>
              <a:buSzPts val="1800"/>
              <a:buChar char="▪"/>
            </a:pPr>
            <a:r>
              <a:rPr lang="en-US" sz="1800"/>
              <a:t>All parallelism is explicit!</a:t>
            </a:r>
            <a:endParaRPr sz="1800"/>
          </a:p>
          <a:p>
            <a:pPr indent="0" lvl="0" marL="457200" rtl="0" algn="l">
              <a:spcBef>
                <a:spcPts val="480"/>
              </a:spcBef>
              <a:spcAft>
                <a:spcPts val="0"/>
              </a:spcAft>
              <a:buNone/>
            </a:pPr>
            <a:r>
              <a:t/>
            </a:r>
            <a:endParaRPr sz="1800"/>
          </a:p>
          <a:p>
            <a:pPr indent="-342900" lvl="0" marL="457200" rtl="0" algn="l">
              <a:spcBef>
                <a:spcPts val="480"/>
              </a:spcBef>
              <a:spcAft>
                <a:spcPts val="0"/>
              </a:spcAft>
              <a:buSzPts val="1800"/>
              <a:buChar char="▪"/>
            </a:pPr>
            <a:r>
              <a:rPr i="1" lang="en-US" sz="1800" u="sng">
                <a:solidFill>
                  <a:srgbClr val="FF0000"/>
                </a:solidFill>
              </a:rPr>
              <a:t>The programmer is responsible</a:t>
            </a:r>
            <a:r>
              <a:rPr lang="en-US" sz="1800"/>
              <a:t> for correctly identifying parallelism and implementing parallel algorithms using MPI constructs. </a:t>
            </a:r>
            <a:endParaRPr sz="1800"/>
          </a:p>
          <a:p>
            <a:pPr indent="0" lvl="0" marL="0" rtl="0" algn="l">
              <a:spcBef>
                <a:spcPts val="480"/>
              </a:spcBef>
              <a:spcAft>
                <a:spcPts val="0"/>
              </a:spcAft>
              <a:buNone/>
            </a:pPr>
            <a:r>
              <a:t/>
            </a:r>
            <a:endParaRPr sz="1800"/>
          </a:p>
          <a:p>
            <a:pPr indent="-342900" lvl="0" marL="457200" rtl="0" algn="l">
              <a:spcBef>
                <a:spcPts val="480"/>
              </a:spcBef>
              <a:spcAft>
                <a:spcPts val="0"/>
              </a:spcAft>
              <a:buSzPts val="1800"/>
              <a:buChar char="▪"/>
            </a:pPr>
            <a:r>
              <a:rPr lang="en-US" sz="1800"/>
              <a:t>Early</a:t>
            </a:r>
            <a:r>
              <a:rPr lang="en-US" sz="1800"/>
              <a:t> version (MPI-1): </a:t>
            </a:r>
            <a:endParaRPr sz="1800"/>
          </a:p>
          <a:p>
            <a:pPr indent="-342900" lvl="1" marL="914400" rtl="0" algn="l">
              <a:spcBef>
                <a:spcPts val="0"/>
              </a:spcBef>
              <a:spcAft>
                <a:spcPts val="0"/>
              </a:spcAft>
              <a:buSzPts val="1800"/>
              <a:buChar char="–"/>
            </a:pPr>
            <a:r>
              <a:rPr lang="en-US" sz="1800"/>
              <a:t>N</a:t>
            </a:r>
            <a:r>
              <a:rPr lang="en-US" sz="1800"/>
              <a:t>umber of tasks dedicated to run a parallel program is static, i.e., new tasks can not be dynamically spawned during run time. </a:t>
            </a:r>
            <a:endParaRPr sz="1800"/>
          </a:p>
          <a:p>
            <a:pPr indent="0" lvl="0" marL="457200" rtl="0" algn="l">
              <a:spcBef>
                <a:spcPts val="480"/>
              </a:spcBef>
              <a:spcAft>
                <a:spcPts val="0"/>
              </a:spcAft>
              <a:buNone/>
            </a:pPr>
            <a:r>
              <a:t/>
            </a:r>
            <a:endParaRPr sz="1800"/>
          </a:p>
        </p:txBody>
      </p:sp>
      <p:sp>
        <p:nvSpPr>
          <p:cNvPr id="89" name="Google Shape;89;g3f754ebd1bb_0_31"/>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Programming Model</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f754ebd1bb_0_39"/>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330200" lvl="0" marL="457200" rtl="0" algn="l">
              <a:spcBef>
                <a:spcPts val="480"/>
              </a:spcBef>
              <a:spcAft>
                <a:spcPts val="0"/>
              </a:spcAft>
              <a:buSzPts val="1600"/>
              <a:buChar char="▪"/>
            </a:pPr>
            <a:r>
              <a:rPr lang="en-US" sz="1600"/>
              <a:t>MPI is native to ANSI C</a:t>
            </a:r>
            <a:endParaRPr sz="1600"/>
          </a:p>
          <a:p>
            <a:pPr indent="-330200" lvl="1" marL="914400" rtl="0" algn="l">
              <a:spcBef>
                <a:spcPts val="0"/>
              </a:spcBef>
              <a:spcAft>
                <a:spcPts val="0"/>
              </a:spcAft>
              <a:buSzPts val="1600"/>
              <a:buChar char="–"/>
            </a:pPr>
            <a:r>
              <a:rPr lang="en-US" sz="1600"/>
              <a:t>C++ and Java bindings are available</a:t>
            </a:r>
            <a:endParaRPr sz="1600"/>
          </a:p>
          <a:p>
            <a:pPr indent="-330200" lvl="2" marL="1371600" rtl="0" algn="l">
              <a:spcBef>
                <a:spcPts val="0"/>
              </a:spcBef>
              <a:spcAft>
                <a:spcPts val="0"/>
              </a:spcAft>
              <a:buSzPts val="1600"/>
              <a:buChar char="▪"/>
            </a:pPr>
            <a:r>
              <a:rPr lang="en-US" sz="1600"/>
              <a:t>MPI C++ classes – </a:t>
            </a:r>
            <a:r>
              <a:rPr lang="en-US" sz="1600" u="sng">
                <a:solidFill>
                  <a:schemeClr val="hlink"/>
                </a:solidFill>
                <a:hlinkClick r:id="rId3"/>
              </a:rPr>
              <a:t>www.mcs.anl.gov</a:t>
            </a:r>
            <a:endParaRPr sz="1600"/>
          </a:p>
          <a:p>
            <a:pPr indent="-330200" lvl="2" marL="1371600" rtl="0" algn="l">
              <a:spcBef>
                <a:spcPts val="0"/>
              </a:spcBef>
              <a:spcAft>
                <a:spcPts val="0"/>
              </a:spcAft>
              <a:buSzPts val="1600"/>
              <a:buChar char="▪"/>
            </a:pPr>
            <a:r>
              <a:rPr lang="en-US" sz="1600"/>
              <a:t>mpiJava API – </a:t>
            </a:r>
            <a:r>
              <a:rPr lang="en-US" sz="1600" u="sng">
                <a:solidFill>
                  <a:schemeClr val="hlink"/>
                </a:solidFill>
                <a:hlinkClick r:id="rId4"/>
              </a:rPr>
              <a:t>www.hpjava.org</a:t>
            </a:r>
            <a:endParaRPr sz="1600"/>
          </a:p>
          <a:p>
            <a:pPr indent="-330200" lvl="0" marL="457200" rtl="0" algn="l">
              <a:spcBef>
                <a:spcPts val="0"/>
              </a:spcBef>
              <a:spcAft>
                <a:spcPts val="0"/>
              </a:spcAft>
              <a:buSzPts val="1600"/>
              <a:buChar char="▪"/>
            </a:pPr>
            <a:r>
              <a:rPr lang="en-US" sz="1600"/>
              <a:t>Make sure you check your </a:t>
            </a:r>
            <a:r>
              <a:rPr i="1" lang="en-US" sz="1600" u="sng">
                <a:solidFill>
                  <a:srgbClr val="FF0000"/>
                </a:solidFill>
              </a:rPr>
              <a:t>MPI versions and implementation libraries</a:t>
            </a:r>
            <a:r>
              <a:rPr lang="en-US" sz="1600"/>
              <a:t>!</a:t>
            </a:r>
            <a:endParaRPr sz="1600"/>
          </a:p>
          <a:p>
            <a:pPr indent="-330200" lvl="0" marL="457200" rtl="0" algn="l">
              <a:spcBef>
                <a:spcPts val="0"/>
              </a:spcBef>
              <a:spcAft>
                <a:spcPts val="0"/>
              </a:spcAft>
              <a:buSzPts val="1600"/>
              <a:buChar char="▪"/>
            </a:pPr>
            <a:r>
              <a:rPr lang="en-US" sz="1600"/>
              <a:t>MPI - C</a:t>
            </a:r>
            <a:endParaRPr sz="1600"/>
          </a:p>
          <a:p>
            <a:pPr indent="-330200" lvl="1" marL="914400" rtl="0" algn="l">
              <a:spcBef>
                <a:spcPts val="0"/>
              </a:spcBef>
              <a:spcAft>
                <a:spcPts val="0"/>
              </a:spcAft>
              <a:buSzPts val="1600"/>
              <a:buChar char="–"/>
            </a:pPr>
            <a:r>
              <a:rPr lang="en-US" sz="1600"/>
              <a:t>Header File: </a:t>
            </a:r>
            <a:endParaRPr sz="1600"/>
          </a:p>
          <a:p>
            <a:pPr indent="-330200" lvl="2" marL="1371600" rtl="0" algn="l">
              <a:spcBef>
                <a:spcPts val="0"/>
              </a:spcBef>
              <a:spcAft>
                <a:spcPts val="0"/>
              </a:spcAft>
              <a:buSzPts val="1600"/>
              <a:buChar char="▪"/>
            </a:pPr>
            <a:r>
              <a:rPr lang="en-US" sz="1600"/>
              <a:t>Required for all programs/routines which make MPI library calls.</a:t>
            </a:r>
            <a:endParaRPr sz="1600"/>
          </a:p>
          <a:p>
            <a:pPr indent="0" lvl="0" marL="1371600" rtl="0" algn="l">
              <a:spcBef>
                <a:spcPts val="480"/>
              </a:spcBef>
              <a:spcAft>
                <a:spcPts val="0"/>
              </a:spcAft>
              <a:buNone/>
            </a:pPr>
            <a:r>
              <a:rPr lang="en-US" sz="1600">
                <a:latin typeface="Courier New"/>
                <a:ea typeface="Courier New"/>
                <a:cs typeface="Courier New"/>
                <a:sym typeface="Courier New"/>
              </a:rPr>
              <a:t>#include "mpi.h" </a:t>
            </a:r>
            <a:endParaRPr sz="1600">
              <a:latin typeface="Courier New"/>
              <a:ea typeface="Courier New"/>
              <a:cs typeface="Courier New"/>
              <a:sym typeface="Courier New"/>
            </a:endParaRPr>
          </a:p>
          <a:p>
            <a:pPr indent="0" lvl="0" marL="1371600" rtl="0" algn="l">
              <a:spcBef>
                <a:spcPts val="480"/>
              </a:spcBef>
              <a:spcAft>
                <a:spcPts val="0"/>
              </a:spcAft>
              <a:buNone/>
            </a:pPr>
            <a:r>
              <a:rPr lang="en-US" sz="1600"/>
              <a:t>Or</a:t>
            </a:r>
            <a:endParaRPr sz="1600"/>
          </a:p>
          <a:p>
            <a:pPr indent="0" lvl="0" marL="1371600" rtl="0" algn="l">
              <a:spcBef>
                <a:spcPts val="480"/>
              </a:spcBef>
              <a:spcAft>
                <a:spcPts val="0"/>
              </a:spcAft>
              <a:buNone/>
            </a:pPr>
            <a:r>
              <a:rPr lang="en-US" sz="1600">
                <a:latin typeface="Courier New"/>
                <a:ea typeface="Courier New"/>
                <a:cs typeface="Courier New"/>
                <a:sym typeface="Courier New"/>
              </a:rPr>
              <a:t>#include &lt;mpi.h&gt;</a:t>
            </a:r>
            <a:endParaRPr sz="1600"/>
          </a:p>
          <a:p>
            <a:pPr indent="0" lvl="0" marL="0" rtl="0" algn="l">
              <a:spcBef>
                <a:spcPts val="480"/>
              </a:spcBef>
              <a:spcAft>
                <a:spcPts val="0"/>
              </a:spcAft>
              <a:buNone/>
            </a:pPr>
            <a:r>
              <a:t/>
            </a:r>
            <a:endParaRPr sz="1600"/>
          </a:p>
          <a:p>
            <a:pPr indent="0" lvl="0" marL="0" rtl="0" algn="l">
              <a:spcBef>
                <a:spcPts val="480"/>
              </a:spcBef>
              <a:spcAft>
                <a:spcPts val="0"/>
              </a:spcAft>
              <a:buNone/>
            </a:pPr>
            <a:r>
              <a:t/>
            </a:r>
            <a:endParaRPr sz="1600"/>
          </a:p>
        </p:txBody>
      </p:sp>
      <p:sp>
        <p:nvSpPr>
          <p:cNvPr id="96" name="Google Shape;96;g3f754ebd1bb_0_39"/>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Getting Started</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f754ebd1bb_0_55"/>
          <p:cNvSpPr txBox="1"/>
          <p:nvPr>
            <p:ph idx="2" type="body"/>
          </p:nvPr>
        </p:nvSpPr>
        <p:spPr>
          <a:xfrm>
            <a:off x="219650"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General MPI Program Structure</a:t>
            </a:r>
            <a:endParaRPr b="1"/>
          </a:p>
        </p:txBody>
      </p:sp>
      <p:pic>
        <p:nvPicPr>
          <p:cNvPr id="103" name="Google Shape;103;g3f754ebd1bb_0_55"/>
          <p:cNvPicPr preferRelativeResize="0"/>
          <p:nvPr/>
        </p:nvPicPr>
        <p:blipFill rotWithShape="1">
          <a:blip r:embed="rId3">
            <a:alphaModFix/>
          </a:blip>
          <a:srcRect b="951" l="0" r="0" t="0"/>
          <a:stretch/>
        </p:blipFill>
        <p:spPr>
          <a:xfrm>
            <a:off x="360631" y="776640"/>
            <a:ext cx="3192699" cy="3598199"/>
          </a:xfrm>
          <a:prstGeom prst="rect">
            <a:avLst/>
          </a:prstGeom>
          <a:noFill/>
          <a:ln>
            <a:noFill/>
          </a:ln>
        </p:spPr>
      </p:pic>
      <p:pic>
        <p:nvPicPr>
          <p:cNvPr id="104" name="Google Shape;104;g3f754ebd1bb_0_55"/>
          <p:cNvPicPr preferRelativeResize="0"/>
          <p:nvPr/>
        </p:nvPicPr>
        <p:blipFill>
          <a:blip r:embed="rId4">
            <a:alphaModFix/>
          </a:blip>
          <a:stretch>
            <a:fillRect/>
          </a:stretch>
        </p:blipFill>
        <p:spPr>
          <a:xfrm>
            <a:off x="279681" y="746960"/>
            <a:ext cx="3354616" cy="3632599"/>
          </a:xfrm>
          <a:prstGeom prst="rect">
            <a:avLst/>
          </a:prstGeom>
          <a:noFill/>
          <a:ln>
            <a:noFill/>
          </a:ln>
        </p:spPr>
      </p:pic>
      <p:sp>
        <p:nvSpPr>
          <p:cNvPr id="105" name="Google Shape;105;g3f754ebd1bb_0_55"/>
          <p:cNvSpPr/>
          <p:nvPr/>
        </p:nvSpPr>
        <p:spPr>
          <a:xfrm>
            <a:off x="4021575" y="1767275"/>
            <a:ext cx="4896000" cy="2483400"/>
          </a:xfrm>
          <a:prstGeom prst="roundRect">
            <a:avLst>
              <a:gd fmla="val 16667" name="adj"/>
            </a:avLst>
          </a:prstGeom>
          <a:solidFill>
            <a:srgbClr val="FFE599"/>
          </a:solidFill>
          <a:ln>
            <a:noFill/>
          </a:ln>
        </p:spPr>
        <p:txBody>
          <a:bodyPr anchorCtr="0" anchor="ctr" bIns="91425" lIns="91425" spcFirstLastPara="1" rIns="91425" wrap="square" tIns="91425">
            <a:noAutofit/>
          </a:bodyPr>
          <a:lstStyle/>
          <a:p>
            <a:pPr indent="0" lvl="0" marL="0" rtl="0" algn="l">
              <a:spcBef>
                <a:spcPts val="480"/>
              </a:spcBef>
              <a:spcAft>
                <a:spcPts val="0"/>
              </a:spcAft>
              <a:buNone/>
            </a:pPr>
            <a:r>
              <a:rPr lang="en-US">
                <a:solidFill>
                  <a:schemeClr val="dk1"/>
                </a:solidFill>
              </a:rPr>
              <a:t>Format of MPI Calls: </a:t>
            </a:r>
            <a:endParaRPr>
              <a:solidFill>
                <a:schemeClr val="dk1"/>
              </a:solidFill>
            </a:endParaRPr>
          </a:p>
          <a:p>
            <a:pPr indent="-317500" lvl="0" marL="457200" rtl="0" algn="l">
              <a:spcBef>
                <a:spcPts val="480"/>
              </a:spcBef>
              <a:spcAft>
                <a:spcPts val="0"/>
              </a:spcAft>
              <a:buSzPts val="1400"/>
              <a:buChar char="●"/>
            </a:pPr>
            <a:r>
              <a:rPr lang="en-US">
                <a:solidFill>
                  <a:schemeClr val="dk1"/>
                </a:solidFill>
              </a:rPr>
              <a:t>Format: rc = MPI_Xxxxx(parameter, ... ) </a:t>
            </a:r>
            <a:endParaRPr>
              <a:solidFill>
                <a:schemeClr val="dk1"/>
              </a:solidFill>
            </a:endParaRPr>
          </a:p>
          <a:p>
            <a:pPr indent="-317500" lvl="0" marL="457200" rtl="0" algn="l">
              <a:spcBef>
                <a:spcPts val="480"/>
              </a:spcBef>
              <a:spcAft>
                <a:spcPts val="0"/>
              </a:spcAft>
              <a:buSzPts val="1400"/>
              <a:buChar char="●"/>
            </a:pPr>
            <a:r>
              <a:rPr lang="en-US">
                <a:solidFill>
                  <a:schemeClr val="dk1"/>
                </a:solidFill>
              </a:rPr>
              <a:t>Example: rc = MPI_Bsend(&amp;buf,count,type,dest,tag,comm) </a:t>
            </a:r>
            <a:endParaRPr>
              <a:solidFill>
                <a:schemeClr val="dk1"/>
              </a:solidFill>
            </a:endParaRPr>
          </a:p>
          <a:p>
            <a:pPr indent="-317500" lvl="0" marL="457200" rtl="0" algn="l">
              <a:spcBef>
                <a:spcPts val="480"/>
              </a:spcBef>
              <a:spcAft>
                <a:spcPts val="0"/>
              </a:spcAft>
              <a:buSzPts val="1400"/>
              <a:buChar char="●"/>
            </a:pPr>
            <a:r>
              <a:rPr lang="en-US">
                <a:solidFill>
                  <a:schemeClr val="dk1"/>
                </a:solidFill>
              </a:rPr>
              <a:t>Error code: rc value is set to MPI_SUCCESS if successful </a:t>
            </a:r>
            <a:endParaRPr>
              <a:solidFill>
                <a:srgbClr val="393938"/>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f754ebd1bb_0_63"/>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342900" lvl="0" marL="457200" rtl="0" algn="l">
              <a:spcBef>
                <a:spcPts val="480"/>
              </a:spcBef>
              <a:spcAft>
                <a:spcPts val="0"/>
              </a:spcAft>
              <a:buSzPts val="1800"/>
              <a:buAutoNum type="arabicPeriod"/>
            </a:pPr>
            <a:r>
              <a:rPr b="1" lang="en-US" sz="1800"/>
              <a:t>Create </a:t>
            </a:r>
            <a:r>
              <a:rPr lang="en-US" sz="1800"/>
              <a:t>Source Code File: hello.c</a:t>
            </a:r>
            <a:endParaRPr sz="1800"/>
          </a:p>
          <a:p>
            <a:pPr indent="0" lvl="0" marL="0" rtl="0" algn="l">
              <a:spcBef>
                <a:spcPts val="480"/>
              </a:spcBef>
              <a:spcAft>
                <a:spcPts val="0"/>
              </a:spcAft>
              <a:buNone/>
            </a:pPr>
            <a:r>
              <a:rPr lang="en-US" sz="1000">
                <a:latin typeface="Courier New"/>
                <a:ea typeface="Courier New"/>
                <a:cs typeface="Courier New"/>
                <a:sym typeface="Courier New"/>
              </a:rPr>
              <a:t>#include &lt;stdio.h&gt; </a:t>
            </a:r>
            <a:endParaRPr sz="1000">
              <a:latin typeface="Courier New"/>
              <a:ea typeface="Courier New"/>
              <a:cs typeface="Courier New"/>
              <a:sym typeface="Courier New"/>
            </a:endParaRPr>
          </a:p>
          <a:p>
            <a:pPr indent="0" lvl="0" marL="0" rtl="0" algn="l">
              <a:spcBef>
                <a:spcPts val="480"/>
              </a:spcBef>
              <a:spcAft>
                <a:spcPts val="0"/>
              </a:spcAft>
              <a:buNone/>
            </a:pPr>
            <a:r>
              <a:rPr lang="en-US" sz="1000">
                <a:solidFill>
                  <a:srgbClr val="FF0000"/>
                </a:solidFill>
                <a:latin typeface="Courier New"/>
                <a:ea typeface="Courier New"/>
                <a:cs typeface="Courier New"/>
                <a:sym typeface="Courier New"/>
              </a:rPr>
              <a:t>#include &lt;mpi.h&gt; </a:t>
            </a:r>
            <a:endParaRPr sz="1000">
              <a:solidFill>
                <a:srgbClr val="FF0000"/>
              </a:solidFill>
              <a:latin typeface="Courier New"/>
              <a:ea typeface="Courier New"/>
              <a:cs typeface="Courier New"/>
              <a:sym typeface="Courier New"/>
            </a:endParaRPr>
          </a:p>
          <a:p>
            <a:pPr indent="0" lvl="0" marL="0" rtl="0" algn="l">
              <a:spcBef>
                <a:spcPts val="480"/>
              </a:spcBef>
              <a:spcAft>
                <a:spcPts val="0"/>
              </a:spcAft>
              <a:buNone/>
            </a:pPr>
            <a:r>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int main(int argc, char *argv[])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int numprocs, rank, namelen;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char processor_name[MPI_MAX_PROCESSOR_NAME];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a:t>
            </a:r>
            <a:r>
              <a:rPr lang="en-US" sz="1000">
                <a:solidFill>
                  <a:srgbClr val="FF0000"/>
                </a:solidFill>
                <a:latin typeface="Courier New"/>
                <a:ea typeface="Courier New"/>
                <a:cs typeface="Courier New"/>
                <a:sym typeface="Courier New"/>
              </a:rPr>
              <a:t>MPI_</a:t>
            </a:r>
            <a:r>
              <a:rPr lang="en-US" sz="1000">
                <a:latin typeface="Courier New"/>
                <a:ea typeface="Courier New"/>
                <a:cs typeface="Courier New"/>
                <a:sym typeface="Courier New"/>
              </a:rPr>
              <a:t>Init(&amp;argc, &amp;argv);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a:t>
            </a:r>
            <a:r>
              <a:rPr lang="en-US" sz="1000">
                <a:solidFill>
                  <a:srgbClr val="FF0000"/>
                </a:solidFill>
                <a:latin typeface="Courier New"/>
                <a:ea typeface="Courier New"/>
                <a:cs typeface="Courier New"/>
                <a:sym typeface="Courier New"/>
              </a:rPr>
              <a:t>MPI_</a:t>
            </a:r>
            <a:r>
              <a:rPr lang="en-US" sz="1000">
                <a:latin typeface="Courier New"/>
                <a:ea typeface="Courier New"/>
                <a:cs typeface="Courier New"/>
                <a:sym typeface="Courier New"/>
              </a:rPr>
              <a:t>Comm_size(</a:t>
            </a:r>
            <a:r>
              <a:rPr lang="en-US" sz="1000">
                <a:solidFill>
                  <a:srgbClr val="FF0000"/>
                </a:solidFill>
                <a:latin typeface="Courier New"/>
                <a:ea typeface="Courier New"/>
                <a:cs typeface="Courier New"/>
                <a:sym typeface="Courier New"/>
              </a:rPr>
              <a:t>MPI_</a:t>
            </a:r>
            <a:r>
              <a:rPr lang="en-US" sz="1000">
                <a:latin typeface="Courier New"/>
                <a:ea typeface="Courier New"/>
                <a:cs typeface="Courier New"/>
                <a:sym typeface="Courier New"/>
              </a:rPr>
              <a:t>COMM_WORLD, &amp;numprocs);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a:t>
            </a:r>
            <a:r>
              <a:rPr lang="en-US" sz="1000">
                <a:solidFill>
                  <a:srgbClr val="FF0000"/>
                </a:solidFill>
                <a:latin typeface="Courier New"/>
                <a:ea typeface="Courier New"/>
                <a:cs typeface="Courier New"/>
                <a:sym typeface="Courier New"/>
              </a:rPr>
              <a:t>MPI_</a:t>
            </a:r>
            <a:r>
              <a:rPr lang="en-US" sz="1000">
                <a:latin typeface="Courier New"/>
                <a:ea typeface="Courier New"/>
                <a:cs typeface="Courier New"/>
                <a:sym typeface="Courier New"/>
              </a:rPr>
              <a:t>Comm_rank(</a:t>
            </a:r>
            <a:r>
              <a:rPr lang="en-US" sz="1000">
                <a:solidFill>
                  <a:srgbClr val="FF0000"/>
                </a:solidFill>
                <a:latin typeface="Courier New"/>
                <a:ea typeface="Courier New"/>
                <a:cs typeface="Courier New"/>
                <a:sym typeface="Courier New"/>
              </a:rPr>
              <a:t>MPI_</a:t>
            </a:r>
            <a:r>
              <a:rPr lang="en-US" sz="1000">
                <a:latin typeface="Courier New"/>
                <a:ea typeface="Courier New"/>
                <a:cs typeface="Courier New"/>
                <a:sym typeface="Courier New"/>
              </a:rPr>
              <a:t>COMM_WORLD, &amp;rank);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a:t>
            </a:r>
            <a:r>
              <a:rPr lang="en-US" sz="1000">
                <a:solidFill>
                  <a:srgbClr val="FF0000"/>
                </a:solidFill>
                <a:latin typeface="Courier New"/>
                <a:ea typeface="Courier New"/>
                <a:cs typeface="Courier New"/>
                <a:sym typeface="Courier New"/>
              </a:rPr>
              <a:t>MPI_</a:t>
            </a:r>
            <a:r>
              <a:rPr lang="en-US" sz="1000">
                <a:latin typeface="Courier New"/>
                <a:ea typeface="Courier New"/>
                <a:cs typeface="Courier New"/>
                <a:sym typeface="Courier New"/>
              </a:rPr>
              <a:t>Get_processor_name(processor_name, &amp;namelen);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printf("Process %d on %s out of %d\n", rank, processor_name, numprocs);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a:t>
            </a:r>
            <a:r>
              <a:rPr lang="en-US" sz="1000">
                <a:solidFill>
                  <a:srgbClr val="FF0000"/>
                </a:solidFill>
                <a:latin typeface="Courier New"/>
                <a:ea typeface="Courier New"/>
                <a:cs typeface="Courier New"/>
                <a:sym typeface="Courier New"/>
              </a:rPr>
              <a:t>MPI_</a:t>
            </a:r>
            <a:r>
              <a:rPr lang="en-US" sz="1000">
                <a:latin typeface="Courier New"/>
                <a:ea typeface="Courier New"/>
                <a:cs typeface="Courier New"/>
                <a:sym typeface="Courier New"/>
              </a:rPr>
              <a:t>Finalize();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a:t>
            </a:r>
            <a:endParaRPr sz="1800"/>
          </a:p>
          <a:p>
            <a:pPr indent="0" lvl="0" marL="0" rtl="0" algn="l">
              <a:spcBef>
                <a:spcPts val="480"/>
              </a:spcBef>
              <a:spcAft>
                <a:spcPts val="0"/>
              </a:spcAft>
              <a:buNone/>
            </a:pPr>
            <a:r>
              <a:t/>
            </a:r>
            <a:endParaRPr sz="1800"/>
          </a:p>
        </p:txBody>
      </p:sp>
      <p:sp>
        <p:nvSpPr>
          <p:cNvPr id="112" name="Google Shape;112;g3f754ebd1bb_0_63"/>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MPI’s “Hello World”</a:t>
            </a:r>
            <a:endParaRPr b="1"/>
          </a:p>
        </p:txBody>
      </p:sp>
      <p:sp>
        <p:nvSpPr>
          <p:cNvPr id="113" name="Google Shape;113;g3f754ebd1bb_0_63"/>
          <p:cNvSpPr txBox="1"/>
          <p:nvPr/>
        </p:nvSpPr>
        <p:spPr>
          <a:xfrm>
            <a:off x="4778225" y="708375"/>
            <a:ext cx="4110900" cy="800400"/>
          </a:xfrm>
          <a:prstGeom prst="rect">
            <a:avLst/>
          </a:prstGeom>
          <a:noFill/>
          <a:ln>
            <a:noFill/>
          </a:ln>
        </p:spPr>
        <p:txBody>
          <a:bodyPr anchorCtr="0" anchor="t" bIns="91425" lIns="91425" spcFirstLastPara="1" rIns="91425" wrap="square" tIns="91425">
            <a:spAutoFit/>
          </a:bodyPr>
          <a:lstStyle/>
          <a:p>
            <a:pPr indent="0" lvl="0" marL="0" rtl="0" algn="l">
              <a:spcBef>
                <a:spcPts val="480"/>
              </a:spcBef>
              <a:spcAft>
                <a:spcPts val="0"/>
              </a:spcAft>
              <a:buNone/>
            </a:pPr>
            <a:r>
              <a:rPr lang="en-US" sz="1800">
                <a:solidFill>
                  <a:schemeClr val="dk1"/>
                </a:solidFill>
              </a:rPr>
              <a:t>2. </a:t>
            </a:r>
            <a:r>
              <a:rPr b="1" lang="en-US" sz="1800">
                <a:solidFill>
                  <a:schemeClr val="dk1"/>
                </a:solidFill>
              </a:rPr>
              <a:t>Compile</a:t>
            </a:r>
            <a:r>
              <a:rPr lang="en-US" sz="1800">
                <a:solidFill>
                  <a:schemeClr val="dk1"/>
                </a:solidFill>
              </a:rPr>
              <a:t>: mpicc hello.c –o hello-mp</a:t>
            </a:r>
            <a:endParaRPr sz="1800">
              <a:solidFill>
                <a:schemeClr val="dk1"/>
              </a:solidFill>
            </a:endParaRPr>
          </a:p>
          <a:p>
            <a:pPr indent="0" lvl="0" marL="0" rtl="0" algn="l">
              <a:spcBef>
                <a:spcPts val="480"/>
              </a:spcBef>
              <a:spcAft>
                <a:spcPts val="0"/>
              </a:spcAft>
              <a:buNone/>
            </a:pPr>
            <a:r>
              <a:rPr lang="en-US" sz="1800">
                <a:solidFill>
                  <a:schemeClr val="dk1"/>
                </a:solidFill>
              </a:rPr>
              <a:t>3. </a:t>
            </a:r>
            <a:r>
              <a:rPr b="1" lang="en-US" sz="1800">
                <a:solidFill>
                  <a:schemeClr val="dk1"/>
                </a:solidFill>
              </a:rPr>
              <a:t>Execute</a:t>
            </a:r>
            <a:r>
              <a:rPr lang="en-US" sz="1800">
                <a:solidFill>
                  <a:schemeClr val="dk1"/>
                </a:solidFill>
              </a:rPr>
              <a:t>: mpirun -np 2 hello-mp</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f754ebd1bb_0_71"/>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355600" lvl="0" marL="457200" rtl="0" algn="l">
              <a:spcBef>
                <a:spcPts val="480"/>
              </a:spcBef>
              <a:spcAft>
                <a:spcPts val="0"/>
              </a:spcAft>
              <a:buSzPts val="2000"/>
              <a:buChar char="▪"/>
            </a:pPr>
            <a:r>
              <a:rPr lang="en-US" sz="2000"/>
              <a:t>MPI uses objects called communicators and groups to define which collection of processes may communicate with each other. </a:t>
            </a:r>
            <a:endParaRPr sz="2000"/>
          </a:p>
          <a:p>
            <a:pPr indent="0" lvl="0" marL="457200" rtl="0" algn="l">
              <a:spcBef>
                <a:spcPts val="480"/>
              </a:spcBef>
              <a:spcAft>
                <a:spcPts val="0"/>
              </a:spcAft>
              <a:buNone/>
            </a:pPr>
            <a:r>
              <a:t/>
            </a:r>
            <a:endParaRPr sz="2000"/>
          </a:p>
          <a:p>
            <a:pPr indent="-355600" lvl="0" marL="457200" rtl="0" algn="l">
              <a:spcBef>
                <a:spcPts val="480"/>
              </a:spcBef>
              <a:spcAft>
                <a:spcPts val="0"/>
              </a:spcAft>
              <a:buSzPts val="2000"/>
              <a:buChar char="▪"/>
            </a:pPr>
            <a:r>
              <a:rPr lang="en-US" sz="2000"/>
              <a:t>Most MPI routines require you to specify a communicator (in the argument list). </a:t>
            </a:r>
            <a:endParaRPr sz="2000"/>
          </a:p>
          <a:p>
            <a:pPr indent="0" lvl="0" marL="457200" rtl="0" algn="l">
              <a:spcBef>
                <a:spcPts val="480"/>
              </a:spcBef>
              <a:spcAft>
                <a:spcPts val="0"/>
              </a:spcAft>
              <a:buNone/>
            </a:pPr>
            <a:r>
              <a:t/>
            </a:r>
            <a:endParaRPr sz="2000"/>
          </a:p>
          <a:p>
            <a:pPr indent="-355600" lvl="0" marL="457200" rtl="0" algn="l">
              <a:spcBef>
                <a:spcPts val="480"/>
              </a:spcBef>
              <a:spcAft>
                <a:spcPts val="0"/>
              </a:spcAft>
              <a:buSzPts val="2000"/>
              <a:buChar char="▪"/>
            </a:pPr>
            <a:r>
              <a:rPr b="1" lang="en-US" sz="2000">
                <a:solidFill>
                  <a:srgbClr val="FF0000"/>
                </a:solidFill>
              </a:rPr>
              <a:t>MPI_COMM_WORLD</a:t>
            </a:r>
            <a:r>
              <a:rPr lang="en-US" sz="2000"/>
              <a:t> is the predefined communicator that includes all of your MPI processes. </a:t>
            </a:r>
            <a:endParaRPr sz="2000"/>
          </a:p>
          <a:p>
            <a:pPr indent="0" lvl="0" marL="457200" rtl="0" algn="l">
              <a:spcBef>
                <a:spcPts val="480"/>
              </a:spcBef>
              <a:spcAft>
                <a:spcPts val="0"/>
              </a:spcAft>
              <a:buNone/>
            </a:pPr>
            <a:r>
              <a:rPr lang="en-US" sz="2000"/>
              <a:t>(We will cover different </a:t>
            </a:r>
            <a:r>
              <a:rPr lang="en-US" sz="2000"/>
              <a:t>communicators and groups later</a:t>
            </a:r>
            <a:r>
              <a:rPr lang="en-US" sz="2000"/>
              <a:t>)</a:t>
            </a:r>
            <a:endParaRPr sz="2000"/>
          </a:p>
          <a:p>
            <a:pPr indent="0" lvl="0" marL="0" rtl="0" algn="l">
              <a:spcBef>
                <a:spcPts val="480"/>
              </a:spcBef>
              <a:spcAft>
                <a:spcPts val="0"/>
              </a:spcAft>
              <a:buNone/>
            </a:pPr>
            <a:r>
              <a:t/>
            </a:r>
            <a:endParaRPr sz="2000"/>
          </a:p>
          <a:p>
            <a:pPr indent="0" lvl="0" marL="0" rtl="0" algn="l">
              <a:spcBef>
                <a:spcPts val="480"/>
              </a:spcBef>
              <a:spcAft>
                <a:spcPts val="0"/>
              </a:spcAft>
              <a:buNone/>
            </a:pPr>
            <a:r>
              <a:t/>
            </a:r>
            <a:endParaRPr sz="2000"/>
          </a:p>
        </p:txBody>
      </p:sp>
      <p:sp>
        <p:nvSpPr>
          <p:cNvPr id="120" name="Google Shape;120;g3f754ebd1bb_0_71"/>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Communicators and Groups</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fac13c8a26_1_1"/>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342900" lvl="0" marL="457200" rtl="0" algn="l">
              <a:spcBef>
                <a:spcPts val="480"/>
              </a:spcBef>
              <a:spcAft>
                <a:spcPts val="0"/>
              </a:spcAft>
              <a:buSzPts val="1800"/>
              <a:buAutoNum type="arabicPeriod"/>
            </a:pPr>
            <a:r>
              <a:rPr b="1" lang="en-US" sz="1800"/>
              <a:t>Create </a:t>
            </a:r>
            <a:r>
              <a:rPr lang="en-US" sz="1800"/>
              <a:t>Source Code File: hello.c</a:t>
            </a:r>
            <a:endParaRPr sz="1800"/>
          </a:p>
          <a:p>
            <a:pPr indent="0" lvl="0" marL="0" rtl="0" algn="l">
              <a:spcBef>
                <a:spcPts val="480"/>
              </a:spcBef>
              <a:spcAft>
                <a:spcPts val="0"/>
              </a:spcAft>
              <a:buNone/>
            </a:pPr>
            <a:r>
              <a:rPr lang="en-US" sz="1000">
                <a:latin typeface="Courier New"/>
                <a:ea typeface="Courier New"/>
                <a:cs typeface="Courier New"/>
                <a:sym typeface="Courier New"/>
              </a:rPr>
              <a:t>#include &lt;stdio.h&gt;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#include &lt;mpi.h&gt; </a:t>
            </a:r>
            <a:endParaRPr sz="1000">
              <a:latin typeface="Courier New"/>
              <a:ea typeface="Courier New"/>
              <a:cs typeface="Courier New"/>
              <a:sym typeface="Courier New"/>
            </a:endParaRPr>
          </a:p>
          <a:p>
            <a:pPr indent="0" lvl="0" marL="0" rtl="0" algn="l">
              <a:spcBef>
                <a:spcPts val="480"/>
              </a:spcBef>
              <a:spcAft>
                <a:spcPts val="0"/>
              </a:spcAft>
              <a:buNone/>
            </a:pPr>
            <a:r>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int main(int argc, char *argv[])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int numprocs, rank, namelen;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char processor_name[MPI_MAX_PROCESSOR_NAME];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MPI_Init(&amp;argc, &amp;argv);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MPI_Comm_size(</a:t>
            </a:r>
            <a:r>
              <a:rPr b="1" lang="en-US" sz="1000">
                <a:solidFill>
                  <a:srgbClr val="FF0000"/>
                </a:solidFill>
                <a:latin typeface="Courier New"/>
                <a:ea typeface="Courier New"/>
                <a:cs typeface="Courier New"/>
                <a:sym typeface="Courier New"/>
              </a:rPr>
              <a:t>MPI_COMM_WORLD</a:t>
            </a:r>
            <a:r>
              <a:rPr lang="en-US" sz="1000">
                <a:latin typeface="Courier New"/>
                <a:ea typeface="Courier New"/>
                <a:cs typeface="Courier New"/>
                <a:sym typeface="Courier New"/>
              </a:rPr>
              <a:t>, &amp;numprocs);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MPI_Comm_rank(</a:t>
            </a:r>
            <a:r>
              <a:rPr b="1" lang="en-US" sz="1000">
                <a:solidFill>
                  <a:srgbClr val="FF0000"/>
                </a:solidFill>
                <a:latin typeface="Courier New"/>
                <a:ea typeface="Courier New"/>
                <a:cs typeface="Courier New"/>
                <a:sym typeface="Courier New"/>
              </a:rPr>
              <a:t>MPI_COMM_WORLD</a:t>
            </a:r>
            <a:r>
              <a:rPr lang="en-US" sz="1000">
                <a:latin typeface="Courier New"/>
                <a:ea typeface="Courier New"/>
                <a:cs typeface="Courier New"/>
                <a:sym typeface="Courier New"/>
              </a:rPr>
              <a:t>, &amp;rank);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MPI_Get_processor_name(processor_name, &amp;namelen);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printf("Process %d on %s out of %d\n", rank, processor_name, numprocs);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MPI_Finalize();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a:t>
            </a:r>
            <a:endParaRPr sz="1800"/>
          </a:p>
          <a:p>
            <a:pPr indent="0" lvl="0" marL="0" rtl="0" algn="l">
              <a:spcBef>
                <a:spcPts val="480"/>
              </a:spcBef>
              <a:spcAft>
                <a:spcPts val="0"/>
              </a:spcAft>
              <a:buNone/>
            </a:pPr>
            <a:r>
              <a:t/>
            </a:r>
            <a:endParaRPr sz="1800"/>
          </a:p>
        </p:txBody>
      </p:sp>
      <p:sp>
        <p:nvSpPr>
          <p:cNvPr id="127" name="Google Shape;127;g3fac13c8a26_1_1"/>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MPI’s “Hello World”</a:t>
            </a:r>
            <a:endParaRPr b="1"/>
          </a:p>
        </p:txBody>
      </p:sp>
      <p:sp>
        <p:nvSpPr>
          <p:cNvPr id="128" name="Google Shape;128;g3fac13c8a26_1_1"/>
          <p:cNvSpPr txBox="1"/>
          <p:nvPr/>
        </p:nvSpPr>
        <p:spPr>
          <a:xfrm>
            <a:off x="4778225" y="708375"/>
            <a:ext cx="4110900" cy="800400"/>
          </a:xfrm>
          <a:prstGeom prst="rect">
            <a:avLst/>
          </a:prstGeom>
          <a:noFill/>
          <a:ln>
            <a:noFill/>
          </a:ln>
        </p:spPr>
        <p:txBody>
          <a:bodyPr anchorCtr="0" anchor="t" bIns="91425" lIns="91425" spcFirstLastPara="1" rIns="91425" wrap="square" tIns="91425">
            <a:spAutoFit/>
          </a:bodyPr>
          <a:lstStyle/>
          <a:p>
            <a:pPr indent="0" lvl="0" marL="0" rtl="0" algn="l">
              <a:spcBef>
                <a:spcPts val="480"/>
              </a:spcBef>
              <a:spcAft>
                <a:spcPts val="0"/>
              </a:spcAft>
              <a:buNone/>
            </a:pPr>
            <a:r>
              <a:rPr lang="en-US" sz="1800">
                <a:solidFill>
                  <a:schemeClr val="dk1"/>
                </a:solidFill>
              </a:rPr>
              <a:t>2. </a:t>
            </a:r>
            <a:r>
              <a:rPr b="1" lang="en-US" sz="1800">
                <a:solidFill>
                  <a:schemeClr val="dk1"/>
                </a:solidFill>
              </a:rPr>
              <a:t>Compile</a:t>
            </a:r>
            <a:r>
              <a:rPr lang="en-US" sz="1800">
                <a:solidFill>
                  <a:schemeClr val="dk1"/>
                </a:solidFill>
              </a:rPr>
              <a:t>: mpicc hello.c –o hello-mp</a:t>
            </a:r>
            <a:endParaRPr sz="1800">
              <a:solidFill>
                <a:schemeClr val="dk1"/>
              </a:solidFill>
            </a:endParaRPr>
          </a:p>
          <a:p>
            <a:pPr indent="0" lvl="0" marL="0" rtl="0" algn="l">
              <a:spcBef>
                <a:spcPts val="480"/>
              </a:spcBef>
              <a:spcAft>
                <a:spcPts val="0"/>
              </a:spcAft>
              <a:buNone/>
            </a:pPr>
            <a:r>
              <a:rPr lang="en-US" sz="1800">
                <a:solidFill>
                  <a:schemeClr val="dk1"/>
                </a:solidFill>
              </a:rPr>
              <a:t>3. </a:t>
            </a:r>
            <a:r>
              <a:rPr b="1" lang="en-US" sz="1800">
                <a:solidFill>
                  <a:schemeClr val="dk1"/>
                </a:solidFill>
              </a:rPr>
              <a:t>Execute</a:t>
            </a:r>
            <a:r>
              <a:rPr lang="en-US" sz="1800">
                <a:solidFill>
                  <a:schemeClr val="dk1"/>
                </a:solidFill>
              </a:rPr>
              <a:t>: mpirun -np 2 hello-mp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f754ebd1bb_0_77"/>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349250" lvl="0" marL="457200" rtl="0" algn="l">
              <a:spcBef>
                <a:spcPts val="480"/>
              </a:spcBef>
              <a:spcAft>
                <a:spcPts val="0"/>
              </a:spcAft>
              <a:buSzPts val="1900"/>
              <a:buChar char="▪"/>
            </a:pPr>
            <a:r>
              <a:rPr lang="en-US" sz="1900"/>
              <a:t>E</a:t>
            </a:r>
            <a:r>
              <a:rPr lang="en-US" sz="1900"/>
              <a:t>very process has its own </a:t>
            </a:r>
            <a:r>
              <a:rPr i="1" lang="en-US" sz="1900">
                <a:solidFill>
                  <a:srgbClr val="FF0000"/>
                </a:solidFill>
              </a:rPr>
              <a:t>unique, integer identifier</a:t>
            </a:r>
            <a:r>
              <a:rPr lang="en-US" sz="1900"/>
              <a:t> (called rank) associated with every communicator. </a:t>
            </a:r>
            <a:endParaRPr sz="1900"/>
          </a:p>
          <a:p>
            <a:pPr indent="0" lvl="0" marL="457200" rtl="0" algn="l">
              <a:spcBef>
                <a:spcPts val="480"/>
              </a:spcBef>
              <a:spcAft>
                <a:spcPts val="0"/>
              </a:spcAft>
              <a:buNone/>
            </a:pPr>
            <a:r>
              <a:t/>
            </a:r>
            <a:endParaRPr sz="1900"/>
          </a:p>
          <a:p>
            <a:pPr indent="-349250" lvl="0" marL="457200" rtl="0" algn="l">
              <a:spcBef>
                <a:spcPts val="480"/>
              </a:spcBef>
              <a:spcAft>
                <a:spcPts val="0"/>
              </a:spcAft>
              <a:buSzPts val="1900"/>
              <a:buChar char="▪"/>
            </a:pPr>
            <a:r>
              <a:rPr lang="en-US" sz="1900"/>
              <a:t>Ranks are contiguous and begin at zero. Ranks</a:t>
            </a:r>
            <a:r>
              <a:rPr lang="en-US" sz="1900"/>
              <a:t> across communicators may not be unique, i.e., a process may have many different identifiers.</a:t>
            </a:r>
            <a:endParaRPr sz="1900"/>
          </a:p>
          <a:p>
            <a:pPr indent="0" lvl="0" marL="457200" rtl="0" algn="l">
              <a:spcBef>
                <a:spcPts val="480"/>
              </a:spcBef>
              <a:spcAft>
                <a:spcPts val="0"/>
              </a:spcAft>
              <a:buNone/>
            </a:pPr>
            <a:r>
              <a:t/>
            </a:r>
            <a:endParaRPr sz="1900"/>
          </a:p>
          <a:p>
            <a:pPr indent="-349250" lvl="0" marL="457200" rtl="0" algn="l">
              <a:spcBef>
                <a:spcPts val="480"/>
              </a:spcBef>
              <a:spcAft>
                <a:spcPts val="0"/>
              </a:spcAft>
              <a:buSzPts val="1900"/>
              <a:buChar char="▪"/>
            </a:pPr>
            <a:r>
              <a:rPr lang="en-US" sz="1900"/>
              <a:t>Rank sometimes will also be called "task ID". </a:t>
            </a:r>
            <a:endParaRPr sz="1900"/>
          </a:p>
          <a:p>
            <a:pPr indent="0" lvl="0" marL="0" rtl="0" algn="l">
              <a:spcBef>
                <a:spcPts val="480"/>
              </a:spcBef>
              <a:spcAft>
                <a:spcPts val="0"/>
              </a:spcAft>
              <a:buNone/>
            </a:pPr>
            <a:r>
              <a:t/>
            </a:r>
            <a:endParaRPr sz="1900"/>
          </a:p>
          <a:p>
            <a:pPr indent="-349250" lvl="0" marL="457200" rtl="0" algn="l">
              <a:spcBef>
                <a:spcPts val="480"/>
              </a:spcBef>
              <a:spcAft>
                <a:spcPts val="0"/>
              </a:spcAft>
              <a:buSzPts val="1900"/>
              <a:buChar char="▪"/>
            </a:pPr>
            <a:r>
              <a:rPr lang="en-US" sz="1900"/>
              <a:t>Used by programmers to specify the source and destination of messages. Often used to control program execution (if rank == 0 do MPI_Send() ). </a:t>
            </a:r>
            <a:endParaRPr sz="1900"/>
          </a:p>
          <a:p>
            <a:pPr indent="0" lvl="0" marL="0" rtl="0" algn="l">
              <a:spcBef>
                <a:spcPts val="480"/>
              </a:spcBef>
              <a:spcAft>
                <a:spcPts val="0"/>
              </a:spcAft>
              <a:buNone/>
            </a:pPr>
            <a:r>
              <a:t/>
            </a:r>
            <a:endParaRPr sz="1900"/>
          </a:p>
          <a:p>
            <a:pPr indent="0" lvl="0" marL="0" rtl="0" algn="l">
              <a:spcBef>
                <a:spcPts val="480"/>
              </a:spcBef>
              <a:spcAft>
                <a:spcPts val="0"/>
              </a:spcAft>
              <a:buNone/>
            </a:pPr>
            <a:r>
              <a:t/>
            </a:r>
            <a:endParaRPr sz="1900"/>
          </a:p>
          <a:p>
            <a:pPr indent="0" lvl="0" marL="0" rtl="0" algn="l">
              <a:spcBef>
                <a:spcPts val="480"/>
              </a:spcBef>
              <a:spcAft>
                <a:spcPts val="0"/>
              </a:spcAft>
              <a:buNone/>
            </a:pPr>
            <a:r>
              <a:t/>
            </a:r>
            <a:endParaRPr sz="1900"/>
          </a:p>
        </p:txBody>
      </p:sp>
      <p:sp>
        <p:nvSpPr>
          <p:cNvPr id="135" name="Google Shape;135;g3f754ebd1bb_0_77"/>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Communicators and Groups (Rank)</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fac13c8a26_1_15"/>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342900" lvl="0" marL="457200" rtl="0" algn="l">
              <a:spcBef>
                <a:spcPts val="480"/>
              </a:spcBef>
              <a:spcAft>
                <a:spcPts val="0"/>
              </a:spcAft>
              <a:buSzPts val="1800"/>
              <a:buAutoNum type="arabicPeriod"/>
            </a:pPr>
            <a:r>
              <a:rPr b="1" lang="en-US" sz="1800"/>
              <a:t>Create </a:t>
            </a:r>
            <a:r>
              <a:rPr lang="en-US" sz="1800"/>
              <a:t>Source Code File: hello.c</a:t>
            </a:r>
            <a:endParaRPr sz="1800"/>
          </a:p>
          <a:p>
            <a:pPr indent="0" lvl="0" marL="0" rtl="0" algn="l">
              <a:spcBef>
                <a:spcPts val="480"/>
              </a:spcBef>
              <a:spcAft>
                <a:spcPts val="0"/>
              </a:spcAft>
              <a:buNone/>
            </a:pPr>
            <a:r>
              <a:rPr lang="en-US" sz="1000">
                <a:latin typeface="Courier New"/>
                <a:ea typeface="Courier New"/>
                <a:cs typeface="Courier New"/>
                <a:sym typeface="Courier New"/>
              </a:rPr>
              <a:t>#include &lt;stdio.h&gt;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#include &lt;mpi.h&gt; </a:t>
            </a:r>
            <a:endParaRPr sz="1000">
              <a:latin typeface="Courier New"/>
              <a:ea typeface="Courier New"/>
              <a:cs typeface="Courier New"/>
              <a:sym typeface="Courier New"/>
            </a:endParaRPr>
          </a:p>
          <a:p>
            <a:pPr indent="0" lvl="0" marL="0" rtl="0" algn="l">
              <a:spcBef>
                <a:spcPts val="480"/>
              </a:spcBef>
              <a:spcAft>
                <a:spcPts val="0"/>
              </a:spcAft>
              <a:buNone/>
            </a:pPr>
            <a:r>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int main(int argc, char *argv[])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int numprocs, rank, namelen;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char processor_name[MPI_MAX_PROCESSOR_NAME];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MPI_Init(&amp;argc, &amp;argv);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MPI_Comm_size(MPI_COMM_WORLD, &amp;numprocs);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a:t>
            </a:r>
            <a:r>
              <a:rPr b="1" lang="en-US" sz="1000">
                <a:solidFill>
                  <a:srgbClr val="FF0000"/>
                </a:solidFill>
                <a:latin typeface="Courier New"/>
                <a:ea typeface="Courier New"/>
                <a:cs typeface="Courier New"/>
                <a:sym typeface="Courier New"/>
              </a:rPr>
              <a:t>MPI_Comm_rank(MPI_COMM_WORLD, &amp;rank); </a:t>
            </a:r>
            <a:endParaRPr b="1" sz="1000">
              <a:solidFill>
                <a:srgbClr val="FF0000"/>
              </a:solidFill>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MPI_Get_processor_name(processor_name, &amp;namelen);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printf("Process %d on %s out of %d\n", rank, processor_name, numprocs);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MPI_Finalize(); </a:t>
            </a:r>
            <a:endParaRPr sz="1000">
              <a:latin typeface="Courier New"/>
              <a:ea typeface="Courier New"/>
              <a:cs typeface="Courier New"/>
              <a:sym typeface="Courier New"/>
            </a:endParaRPr>
          </a:p>
          <a:p>
            <a:pPr indent="0" lvl="0" marL="0" rtl="0" algn="l">
              <a:spcBef>
                <a:spcPts val="480"/>
              </a:spcBef>
              <a:spcAft>
                <a:spcPts val="0"/>
              </a:spcAft>
              <a:buNone/>
            </a:pPr>
            <a:r>
              <a:rPr lang="en-US" sz="1000">
                <a:latin typeface="Courier New"/>
                <a:ea typeface="Courier New"/>
                <a:cs typeface="Courier New"/>
                <a:sym typeface="Courier New"/>
              </a:rPr>
              <a:t>} </a:t>
            </a:r>
            <a:endParaRPr sz="1800"/>
          </a:p>
          <a:p>
            <a:pPr indent="0" lvl="0" marL="0" rtl="0" algn="l">
              <a:spcBef>
                <a:spcPts val="480"/>
              </a:spcBef>
              <a:spcAft>
                <a:spcPts val="0"/>
              </a:spcAft>
              <a:buNone/>
            </a:pPr>
            <a:r>
              <a:t/>
            </a:r>
            <a:endParaRPr sz="1800"/>
          </a:p>
        </p:txBody>
      </p:sp>
      <p:sp>
        <p:nvSpPr>
          <p:cNvPr id="142" name="Google Shape;142;g3fac13c8a26_1_15"/>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MPI’s “Hello World”</a:t>
            </a:r>
            <a:endParaRPr b="1"/>
          </a:p>
        </p:txBody>
      </p:sp>
      <p:sp>
        <p:nvSpPr>
          <p:cNvPr id="143" name="Google Shape;143;g3fac13c8a26_1_15"/>
          <p:cNvSpPr txBox="1"/>
          <p:nvPr/>
        </p:nvSpPr>
        <p:spPr>
          <a:xfrm>
            <a:off x="4778225" y="708375"/>
            <a:ext cx="4110900" cy="800400"/>
          </a:xfrm>
          <a:prstGeom prst="rect">
            <a:avLst/>
          </a:prstGeom>
          <a:noFill/>
          <a:ln>
            <a:noFill/>
          </a:ln>
        </p:spPr>
        <p:txBody>
          <a:bodyPr anchorCtr="0" anchor="t" bIns="91425" lIns="91425" spcFirstLastPara="1" rIns="91425" wrap="square" tIns="91425">
            <a:spAutoFit/>
          </a:bodyPr>
          <a:lstStyle/>
          <a:p>
            <a:pPr indent="0" lvl="0" marL="0" rtl="0" algn="l">
              <a:spcBef>
                <a:spcPts val="480"/>
              </a:spcBef>
              <a:spcAft>
                <a:spcPts val="0"/>
              </a:spcAft>
              <a:buNone/>
            </a:pPr>
            <a:r>
              <a:rPr lang="en-US" sz="1800">
                <a:solidFill>
                  <a:schemeClr val="dk1"/>
                </a:solidFill>
              </a:rPr>
              <a:t>2. </a:t>
            </a:r>
            <a:r>
              <a:rPr b="1" lang="en-US" sz="1800">
                <a:solidFill>
                  <a:schemeClr val="dk1"/>
                </a:solidFill>
              </a:rPr>
              <a:t>Compile</a:t>
            </a:r>
            <a:r>
              <a:rPr lang="en-US" sz="1800">
                <a:solidFill>
                  <a:schemeClr val="dk1"/>
                </a:solidFill>
              </a:rPr>
              <a:t>: mpicc hello.c –o hello-mp</a:t>
            </a:r>
            <a:endParaRPr sz="1800">
              <a:solidFill>
                <a:schemeClr val="dk1"/>
              </a:solidFill>
            </a:endParaRPr>
          </a:p>
          <a:p>
            <a:pPr indent="0" lvl="0" marL="0" rtl="0" algn="l">
              <a:spcBef>
                <a:spcPts val="480"/>
              </a:spcBef>
              <a:spcAft>
                <a:spcPts val="0"/>
              </a:spcAft>
              <a:buNone/>
            </a:pPr>
            <a:r>
              <a:rPr lang="en-US" sz="1800">
                <a:solidFill>
                  <a:schemeClr val="dk1"/>
                </a:solidFill>
              </a:rPr>
              <a:t>3. </a:t>
            </a:r>
            <a:r>
              <a:rPr b="1" lang="en-US" sz="1800">
                <a:solidFill>
                  <a:schemeClr val="dk1"/>
                </a:solidFill>
              </a:rPr>
              <a:t>Execute</a:t>
            </a:r>
            <a:r>
              <a:rPr lang="en-US" sz="1800">
                <a:solidFill>
                  <a:schemeClr val="dk1"/>
                </a:solidFill>
              </a:rPr>
              <a:t>: mpirun -np 2 hello-mp</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fac13c8a26_1_27"/>
          <p:cNvSpPr txBox="1"/>
          <p:nvPr>
            <p:ph idx="1" type="body"/>
          </p:nvPr>
        </p:nvSpPr>
        <p:spPr>
          <a:xfrm>
            <a:off x="274320" y="1887378"/>
            <a:ext cx="6987300" cy="102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FFFF"/>
              </a:buClr>
              <a:buSzPts val="3000"/>
              <a:buFont typeface="Arial"/>
              <a:buNone/>
            </a:pPr>
            <a:r>
              <a:rPr lang="en-US"/>
              <a:t>Basic MPI functions</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f754ebd1bb_0_83"/>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solidFill>
                  <a:srgbClr val="0B5394"/>
                </a:solidFill>
              </a:rPr>
              <a:t>MPI_Init</a:t>
            </a:r>
            <a:r>
              <a:rPr lang="en-US" sz="1400">
                <a:solidFill>
                  <a:srgbClr val="0B5394"/>
                </a:solidFill>
              </a:rPr>
              <a:t> </a:t>
            </a:r>
            <a:endParaRPr sz="1400">
              <a:solidFill>
                <a:srgbClr val="0B5394"/>
              </a:solidFill>
            </a:endParaRPr>
          </a:p>
          <a:p>
            <a:pPr indent="0" lvl="0" marL="0" rtl="0" algn="l">
              <a:spcBef>
                <a:spcPts val="480"/>
              </a:spcBef>
              <a:spcAft>
                <a:spcPts val="0"/>
              </a:spcAft>
              <a:buNone/>
            </a:pPr>
            <a:r>
              <a:rPr lang="en-US" sz="1400"/>
              <a:t>Initializes the MPI execution environment. This function must be called in every MPI program, must be called before any other MPI functions and must be called only once in an MPI program. For C programs, MPI_Init may be used to pass the command line arguments to all processes, although this is not required by the standard and is implementation dependent.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rPr lang="en-US" sz="1400"/>
              <a:t>	</a:t>
            </a:r>
            <a:r>
              <a:rPr b="1" lang="en-US" sz="1400"/>
              <a:t>MPI_Init (&amp;argc, &amp;argv) </a:t>
            </a:r>
            <a:br>
              <a:rPr lang="en-US" sz="1400"/>
            </a:br>
            <a:r>
              <a:rPr lang="en-US" sz="1400"/>
              <a:t> </a:t>
            </a:r>
            <a:endParaRPr sz="1400"/>
          </a:p>
          <a:p>
            <a:pPr indent="0" lvl="0" marL="0" rtl="0" algn="l">
              <a:spcBef>
                <a:spcPts val="480"/>
              </a:spcBef>
              <a:spcAft>
                <a:spcPts val="0"/>
              </a:spcAft>
              <a:buNone/>
            </a:pPr>
            <a:r>
              <a:rPr b="1" lang="en-US" sz="1400">
                <a:solidFill>
                  <a:srgbClr val="0B5394"/>
                </a:solidFill>
              </a:rPr>
              <a:t>MPI_Comm_size </a:t>
            </a:r>
            <a:endParaRPr b="1" sz="1400">
              <a:solidFill>
                <a:srgbClr val="0B5394"/>
              </a:solidFill>
            </a:endParaRPr>
          </a:p>
          <a:p>
            <a:pPr indent="0" lvl="0" marL="0" rtl="0" algn="l">
              <a:spcBef>
                <a:spcPts val="480"/>
              </a:spcBef>
              <a:spcAft>
                <a:spcPts val="0"/>
              </a:spcAft>
              <a:buNone/>
            </a:pPr>
            <a:r>
              <a:rPr lang="en-US" sz="1400"/>
              <a:t>Determines the number of processes in the group associated with a communicator. Generally used within the communicator MPI_COMM_WORLD to determine the number of processes being used by your application. </a:t>
            </a:r>
            <a:endParaRPr sz="1400"/>
          </a:p>
          <a:p>
            <a:pPr indent="0" lvl="0" marL="0" rtl="0" algn="l">
              <a:spcBef>
                <a:spcPts val="480"/>
              </a:spcBef>
              <a:spcAft>
                <a:spcPts val="0"/>
              </a:spcAft>
              <a:buNone/>
            </a:pPr>
            <a:r>
              <a:rPr lang="en-US" sz="1400"/>
              <a:t>	</a:t>
            </a:r>
            <a:endParaRPr sz="1400"/>
          </a:p>
          <a:p>
            <a:pPr indent="0" lvl="0" marL="0" rtl="0" algn="l">
              <a:spcBef>
                <a:spcPts val="480"/>
              </a:spcBef>
              <a:spcAft>
                <a:spcPts val="0"/>
              </a:spcAft>
              <a:buNone/>
            </a:pPr>
            <a:r>
              <a:rPr lang="en-US" sz="1400"/>
              <a:t>	</a:t>
            </a:r>
            <a:r>
              <a:rPr b="1" lang="en-US" sz="1400"/>
              <a:t>MPI_Comm_size (comm, &amp;size)</a:t>
            </a:r>
            <a:r>
              <a:rPr lang="en-US" sz="1400"/>
              <a:t> </a:t>
            </a:r>
            <a:endParaRPr sz="1400"/>
          </a:p>
          <a:p>
            <a:pPr indent="0" lvl="0" marL="0" rtl="0" algn="l">
              <a:spcBef>
                <a:spcPts val="480"/>
              </a:spcBef>
              <a:spcAft>
                <a:spcPts val="0"/>
              </a:spcAft>
              <a:buNone/>
            </a:pPr>
            <a:r>
              <a:t/>
            </a:r>
            <a:endParaRPr sz="1400"/>
          </a:p>
        </p:txBody>
      </p:sp>
      <p:sp>
        <p:nvSpPr>
          <p:cNvPr id="156" name="Google Shape;156;g3f754ebd1bb_0_83"/>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Environment Management Routines</a:t>
            </a:r>
            <a:endParaRPr b="1"/>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f754ebd1bb_0_90"/>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solidFill>
                  <a:srgbClr val="0B5394"/>
                </a:solidFill>
              </a:rPr>
              <a:t>MPI_Comm_rank </a:t>
            </a:r>
            <a:endParaRPr b="1" sz="1400">
              <a:solidFill>
                <a:srgbClr val="0B5394"/>
              </a:solidFill>
            </a:endParaRPr>
          </a:p>
          <a:p>
            <a:pPr indent="0" lvl="0" marL="0" rtl="0" algn="l">
              <a:spcBef>
                <a:spcPts val="480"/>
              </a:spcBef>
              <a:spcAft>
                <a:spcPts val="0"/>
              </a:spcAft>
              <a:buNone/>
            </a:pPr>
            <a:r>
              <a:rPr lang="en-US" sz="1400"/>
              <a:t>Determines the rank of the calling process within the communicator. Initially, each process will be assigned a unique integer rank between 0 and number of processors - 1 within the communicator MPI_COMM_WORLD. This rank is often referred to as a task ID. </a:t>
            </a:r>
            <a:endParaRPr sz="1400"/>
          </a:p>
          <a:p>
            <a:pPr indent="0" lvl="0" marL="0" rtl="0" algn="l">
              <a:spcBef>
                <a:spcPts val="480"/>
              </a:spcBef>
              <a:spcAft>
                <a:spcPts val="0"/>
              </a:spcAft>
              <a:buNone/>
            </a:pPr>
            <a:r>
              <a:rPr lang="en-US" sz="1400"/>
              <a:t>	</a:t>
            </a:r>
            <a:endParaRPr sz="1400"/>
          </a:p>
          <a:p>
            <a:pPr indent="0" lvl="0" marL="0" rtl="0" algn="l">
              <a:spcBef>
                <a:spcPts val="480"/>
              </a:spcBef>
              <a:spcAft>
                <a:spcPts val="0"/>
              </a:spcAft>
              <a:buNone/>
            </a:pPr>
            <a:r>
              <a:rPr lang="en-US" sz="1400"/>
              <a:t>	</a:t>
            </a:r>
            <a:r>
              <a:rPr b="1" lang="en-US" sz="1400"/>
              <a:t>MPI_Comm_rank (comm, &amp;rank) </a:t>
            </a:r>
            <a:br>
              <a:rPr lang="en-US" sz="1400"/>
            </a:br>
            <a:endParaRPr sz="1400"/>
          </a:p>
          <a:p>
            <a:pPr indent="0" lvl="0" marL="0" rtl="0" algn="l">
              <a:spcBef>
                <a:spcPts val="480"/>
              </a:spcBef>
              <a:spcAft>
                <a:spcPts val="0"/>
              </a:spcAft>
              <a:buNone/>
            </a:pPr>
            <a:r>
              <a:rPr b="1" lang="en-US" sz="1400">
                <a:solidFill>
                  <a:srgbClr val="0B5394"/>
                </a:solidFill>
              </a:rPr>
              <a:t>MPI_Abort </a:t>
            </a:r>
            <a:endParaRPr b="1" sz="1400">
              <a:solidFill>
                <a:srgbClr val="0B5394"/>
              </a:solidFill>
            </a:endParaRPr>
          </a:p>
          <a:p>
            <a:pPr indent="0" lvl="0" marL="0" rtl="0" algn="l">
              <a:spcBef>
                <a:spcPts val="480"/>
              </a:spcBef>
              <a:spcAft>
                <a:spcPts val="0"/>
              </a:spcAft>
              <a:buNone/>
            </a:pPr>
            <a:r>
              <a:rPr lang="en-US" sz="1400"/>
              <a:t>Terminates all MPI processes associated with the communicator. In most MPI implementations it terminates ALL processes regardless of the communicator specified. </a:t>
            </a:r>
            <a:endParaRPr sz="1400"/>
          </a:p>
          <a:p>
            <a:pPr indent="0" lvl="0" marL="0" rtl="0" algn="l">
              <a:spcBef>
                <a:spcPts val="480"/>
              </a:spcBef>
              <a:spcAft>
                <a:spcPts val="0"/>
              </a:spcAft>
              <a:buNone/>
            </a:pPr>
            <a:r>
              <a:rPr lang="en-US" sz="1400"/>
              <a:t>	</a:t>
            </a:r>
            <a:endParaRPr sz="1400"/>
          </a:p>
          <a:p>
            <a:pPr indent="0" lvl="0" marL="0" rtl="0" algn="l">
              <a:spcBef>
                <a:spcPts val="480"/>
              </a:spcBef>
              <a:spcAft>
                <a:spcPts val="0"/>
              </a:spcAft>
              <a:buNone/>
            </a:pPr>
            <a:r>
              <a:rPr b="1" lang="en-US" sz="1400"/>
              <a:t>	MPI_Abort (comm, errorcode)</a:t>
            </a:r>
            <a:br>
              <a:rPr lang="en-US" sz="1400"/>
            </a:b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p:txBody>
      </p:sp>
      <p:sp>
        <p:nvSpPr>
          <p:cNvPr id="163" name="Google Shape;163;g3f754ebd1bb_0_90"/>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Environment Management Routines</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f754ebd1bb_0_96"/>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solidFill>
                  <a:srgbClr val="0B5394"/>
                </a:solidFill>
              </a:rPr>
              <a:t>MPI_Get_processor_name </a:t>
            </a:r>
            <a:endParaRPr b="1" sz="1400">
              <a:solidFill>
                <a:srgbClr val="0B5394"/>
              </a:solidFill>
            </a:endParaRPr>
          </a:p>
          <a:p>
            <a:pPr indent="0" lvl="0" marL="0" rtl="0" algn="l">
              <a:spcBef>
                <a:spcPts val="480"/>
              </a:spcBef>
              <a:spcAft>
                <a:spcPts val="0"/>
              </a:spcAft>
              <a:buNone/>
            </a:pPr>
            <a:r>
              <a:rPr lang="en-US" sz="1400"/>
              <a:t>Returns the processor name. Also returns the length of the name. The buffer for "name" must be at least MPI_MAX_PROCESSOR_NAME characters in size. What is returned into "name" is implementation dependent - may not be the same as the output of the "hostname" or "host" shell commands.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rPr lang="en-US" sz="1400"/>
              <a:t>	</a:t>
            </a:r>
            <a:r>
              <a:rPr b="1" lang="en-US" sz="1400"/>
              <a:t>MPI_Get_processor_name (&amp;name, &amp;resultlength)</a:t>
            </a:r>
            <a:br>
              <a:rPr lang="en-US" sz="1400"/>
            </a:br>
            <a:endParaRPr sz="1400"/>
          </a:p>
          <a:p>
            <a:pPr indent="0" lvl="0" marL="0" rtl="0" algn="l">
              <a:spcBef>
                <a:spcPts val="480"/>
              </a:spcBef>
              <a:spcAft>
                <a:spcPts val="0"/>
              </a:spcAft>
              <a:buNone/>
            </a:pPr>
            <a:r>
              <a:rPr b="1" lang="en-US" sz="1400">
                <a:solidFill>
                  <a:srgbClr val="0B5394"/>
                </a:solidFill>
              </a:rPr>
              <a:t>MPI_Initialized </a:t>
            </a:r>
            <a:endParaRPr b="1" sz="1400">
              <a:solidFill>
                <a:srgbClr val="0B5394"/>
              </a:solidFill>
            </a:endParaRPr>
          </a:p>
          <a:p>
            <a:pPr indent="0" lvl="0" marL="0" rtl="0" algn="l">
              <a:spcBef>
                <a:spcPts val="480"/>
              </a:spcBef>
              <a:spcAft>
                <a:spcPts val="0"/>
              </a:spcAft>
              <a:buNone/>
            </a:pPr>
            <a:r>
              <a:rPr lang="en-US" sz="1400"/>
              <a:t>Indicates whether MPI_Init has been called - returns flag as either logical true (1) or false(0). MPI requires that MPI_Init be called once and only once by each process. This may pose a problem for modules that want to use MPI and are prepared to call MPI_Init if necessary. MPI_Initialized solves this problem. </a:t>
            </a:r>
            <a:endParaRPr sz="1400"/>
          </a:p>
          <a:p>
            <a:pPr indent="0" lvl="0" marL="0" rtl="0" algn="l">
              <a:spcBef>
                <a:spcPts val="480"/>
              </a:spcBef>
              <a:spcAft>
                <a:spcPts val="0"/>
              </a:spcAft>
              <a:buNone/>
            </a:pPr>
            <a:r>
              <a:rPr lang="en-US" sz="1400"/>
              <a:t>		</a:t>
            </a:r>
            <a:endParaRPr sz="1400"/>
          </a:p>
          <a:p>
            <a:pPr indent="0" lvl="0" marL="0" rtl="0" algn="l">
              <a:spcBef>
                <a:spcPts val="480"/>
              </a:spcBef>
              <a:spcAft>
                <a:spcPts val="0"/>
              </a:spcAft>
              <a:buNone/>
            </a:pPr>
            <a:r>
              <a:rPr b="1" lang="en-US" sz="1400"/>
              <a:t>	MPI_Initialized (&amp;flag) </a:t>
            </a:r>
            <a:br>
              <a:rPr lang="en-US" sz="1400"/>
            </a:br>
            <a:endParaRPr sz="1400"/>
          </a:p>
          <a:p>
            <a:pPr indent="0" lvl="0" marL="0" rtl="0" algn="l">
              <a:spcBef>
                <a:spcPts val="480"/>
              </a:spcBef>
              <a:spcAft>
                <a:spcPts val="0"/>
              </a:spcAft>
              <a:buNone/>
            </a:pPr>
            <a:r>
              <a:t/>
            </a:r>
            <a:endParaRPr sz="1400"/>
          </a:p>
        </p:txBody>
      </p:sp>
      <p:sp>
        <p:nvSpPr>
          <p:cNvPr id="170" name="Google Shape;170;g3f754ebd1bb_0_96"/>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Environment Management Routines</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f754ebd1bb_0_103"/>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500">
                <a:solidFill>
                  <a:srgbClr val="0B5394"/>
                </a:solidFill>
              </a:rPr>
              <a:t>MPI_Wtime</a:t>
            </a:r>
            <a:r>
              <a:rPr lang="en-US" sz="1500">
                <a:solidFill>
                  <a:srgbClr val="0B5394"/>
                </a:solidFill>
              </a:rPr>
              <a:t> </a:t>
            </a:r>
            <a:endParaRPr sz="1500">
              <a:solidFill>
                <a:srgbClr val="0B5394"/>
              </a:solidFill>
            </a:endParaRPr>
          </a:p>
          <a:p>
            <a:pPr indent="0" lvl="0" marL="0" rtl="0" algn="l">
              <a:spcBef>
                <a:spcPts val="480"/>
              </a:spcBef>
              <a:spcAft>
                <a:spcPts val="0"/>
              </a:spcAft>
              <a:buNone/>
            </a:pPr>
            <a:r>
              <a:rPr lang="en-US" sz="1500"/>
              <a:t>Returns an </a:t>
            </a:r>
            <a:r>
              <a:rPr i="1" lang="en-US" sz="1500" u="sng">
                <a:solidFill>
                  <a:srgbClr val="FF0000"/>
                </a:solidFill>
              </a:rPr>
              <a:t>elapsed wall clock time</a:t>
            </a:r>
            <a:r>
              <a:rPr lang="en-US" sz="1500"/>
              <a:t> in seconds (double precision) on the calling processor. </a:t>
            </a:r>
            <a:endParaRPr sz="1500"/>
          </a:p>
          <a:p>
            <a:pPr indent="0" lvl="0" marL="0" rtl="0" algn="l">
              <a:spcBef>
                <a:spcPts val="480"/>
              </a:spcBef>
              <a:spcAft>
                <a:spcPts val="0"/>
              </a:spcAft>
              <a:buNone/>
            </a:pPr>
            <a:r>
              <a:rPr lang="en-US" sz="1500"/>
              <a:t>	</a:t>
            </a:r>
            <a:r>
              <a:rPr b="1" lang="en-US" sz="1500"/>
              <a:t>MPI_Wtime ()</a:t>
            </a:r>
            <a:br>
              <a:rPr lang="en-US" sz="1500"/>
            </a:br>
            <a:r>
              <a:rPr lang="en-US" sz="1500"/>
              <a:t> </a:t>
            </a:r>
            <a:endParaRPr sz="1500"/>
          </a:p>
          <a:p>
            <a:pPr indent="0" lvl="0" marL="0" rtl="0" algn="l">
              <a:spcBef>
                <a:spcPts val="480"/>
              </a:spcBef>
              <a:spcAft>
                <a:spcPts val="0"/>
              </a:spcAft>
              <a:buNone/>
            </a:pPr>
            <a:r>
              <a:rPr b="1" lang="en-US" sz="1500">
                <a:solidFill>
                  <a:srgbClr val="0B5394"/>
                </a:solidFill>
              </a:rPr>
              <a:t>MPI_Wtick </a:t>
            </a:r>
            <a:endParaRPr b="1" sz="1500">
              <a:solidFill>
                <a:srgbClr val="0B5394"/>
              </a:solidFill>
            </a:endParaRPr>
          </a:p>
          <a:p>
            <a:pPr indent="0" lvl="0" marL="0" rtl="0" algn="l">
              <a:spcBef>
                <a:spcPts val="480"/>
              </a:spcBef>
              <a:spcAft>
                <a:spcPts val="0"/>
              </a:spcAft>
              <a:buNone/>
            </a:pPr>
            <a:r>
              <a:rPr lang="en-US" sz="1500"/>
              <a:t>Returns the resolution in seconds (double precision) of MPI_Wtime. </a:t>
            </a:r>
            <a:endParaRPr sz="1500"/>
          </a:p>
          <a:p>
            <a:pPr indent="0" lvl="0" marL="0" rtl="0" algn="l">
              <a:spcBef>
                <a:spcPts val="480"/>
              </a:spcBef>
              <a:spcAft>
                <a:spcPts val="0"/>
              </a:spcAft>
              <a:buNone/>
            </a:pPr>
            <a:r>
              <a:rPr lang="en-US" sz="1500"/>
              <a:t>	</a:t>
            </a:r>
            <a:r>
              <a:rPr b="1" lang="en-US" sz="1500"/>
              <a:t>MPI_Wtick ()</a:t>
            </a:r>
            <a:br>
              <a:rPr lang="en-US" sz="1500"/>
            </a:br>
            <a:r>
              <a:rPr lang="en-US" sz="1500"/>
              <a:t> </a:t>
            </a:r>
            <a:endParaRPr sz="1500"/>
          </a:p>
          <a:p>
            <a:pPr indent="0" lvl="0" marL="0" rtl="0" algn="l">
              <a:spcBef>
                <a:spcPts val="480"/>
              </a:spcBef>
              <a:spcAft>
                <a:spcPts val="0"/>
              </a:spcAft>
              <a:buNone/>
            </a:pPr>
            <a:r>
              <a:rPr b="1" lang="en-US" sz="1500">
                <a:solidFill>
                  <a:srgbClr val="0B5394"/>
                </a:solidFill>
              </a:rPr>
              <a:t>MPI_Finalize </a:t>
            </a:r>
            <a:endParaRPr b="1" sz="1500">
              <a:solidFill>
                <a:srgbClr val="0B5394"/>
              </a:solidFill>
            </a:endParaRPr>
          </a:p>
          <a:p>
            <a:pPr indent="0" lvl="0" marL="0" rtl="0" algn="l">
              <a:spcBef>
                <a:spcPts val="480"/>
              </a:spcBef>
              <a:spcAft>
                <a:spcPts val="0"/>
              </a:spcAft>
              <a:buNone/>
            </a:pPr>
            <a:r>
              <a:rPr lang="en-US" sz="1500"/>
              <a:t>Terminates the MPI execution environment. This function should be the last MPI routine called in every MPI program - no other MPI routines may be called after it. </a:t>
            </a:r>
            <a:endParaRPr sz="1500"/>
          </a:p>
          <a:p>
            <a:pPr indent="0" lvl="0" marL="0" rtl="0" algn="l">
              <a:spcBef>
                <a:spcPts val="480"/>
              </a:spcBef>
              <a:spcAft>
                <a:spcPts val="0"/>
              </a:spcAft>
              <a:buNone/>
            </a:pPr>
            <a:r>
              <a:rPr lang="en-US" sz="1500"/>
              <a:t>	</a:t>
            </a:r>
            <a:r>
              <a:rPr b="1" lang="en-US" sz="1500"/>
              <a:t>MPI_Finalize ()</a:t>
            </a:r>
            <a:endParaRPr b="1" sz="1500"/>
          </a:p>
        </p:txBody>
      </p:sp>
      <p:sp>
        <p:nvSpPr>
          <p:cNvPr id="177" name="Google Shape;177;g3f754ebd1bb_0_103"/>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Environment Management Routines</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f754ebd1bb_0_109"/>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lnSpc>
                <a:spcPct val="115000"/>
              </a:lnSpc>
              <a:spcBef>
                <a:spcPts val="400"/>
              </a:spcBef>
              <a:spcAft>
                <a:spcPts val="0"/>
              </a:spcAft>
              <a:buClr>
                <a:schemeClr val="dk1"/>
              </a:buClr>
              <a:buSzPts val="1100"/>
              <a:buFont typeface="Arial"/>
              <a:buNone/>
            </a:pPr>
            <a:r>
              <a:rPr b="1" lang="en-US" sz="1000">
                <a:solidFill>
                  <a:srgbClr val="393938"/>
                </a:solidFill>
                <a:latin typeface="Courier New"/>
                <a:ea typeface="Courier New"/>
                <a:cs typeface="Courier New"/>
                <a:sym typeface="Courier New"/>
              </a:rPr>
              <a:t>#include "mpi.h"</a:t>
            </a:r>
            <a:endParaRPr b="1" sz="1000">
              <a:solidFill>
                <a:srgbClr val="393938"/>
              </a:solidFill>
              <a:latin typeface="Courier New"/>
              <a:ea typeface="Courier New"/>
              <a:cs typeface="Courier New"/>
              <a:sym typeface="Courier New"/>
            </a:endParaRPr>
          </a:p>
          <a:p>
            <a:pPr indent="0" lvl="0" marL="0" rtl="0" algn="l">
              <a:lnSpc>
                <a:spcPct val="115000"/>
              </a:lnSpc>
              <a:spcBef>
                <a:spcPts val="400"/>
              </a:spcBef>
              <a:spcAft>
                <a:spcPts val="0"/>
              </a:spcAft>
              <a:buClr>
                <a:schemeClr val="dk1"/>
              </a:buClr>
              <a:buSzPts val="1100"/>
              <a:buFont typeface="Arial"/>
              <a:buNone/>
            </a:pPr>
            <a:r>
              <a:rPr b="1" lang="en-US" sz="1000">
                <a:solidFill>
                  <a:srgbClr val="393938"/>
                </a:solidFill>
                <a:latin typeface="Courier New"/>
                <a:ea typeface="Courier New"/>
                <a:cs typeface="Courier New"/>
                <a:sym typeface="Courier New"/>
              </a:rPr>
              <a:t>#include &lt;stdio.h&gt;</a:t>
            </a:r>
            <a:endParaRPr b="1" sz="1000">
              <a:solidFill>
                <a:srgbClr val="393938"/>
              </a:solidFill>
              <a:latin typeface="Courier New"/>
              <a:ea typeface="Courier New"/>
              <a:cs typeface="Courier New"/>
              <a:sym typeface="Courier New"/>
            </a:endParaRPr>
          </a:p>
          <a:p>
            <a:pPr indent="0" lvl="0" marL="0" rtl="0" algn="l">
              <a:lnSpc>
                <a:spcPct val="115000"/>
              </a:lnSpc>
              <a:spcBef>
                <a:spcPts val="400"/>
              </a:spcBef>
              <a:spcAft>
                <a:spcPts val="0"/>
              </a:spcAft>
              <a:buClr>
                <a:schemeClr val="dk1"/>
              </a:buClr>
              <a:buSzPts val="1100"/>
              <a:buFont typeface="Arial"/>
              <a:buNone/>
            </a:pPr>
            <a:r>
              <a:rPr b="1" lang="en-US" sz="1000">
                <a:solidFill>
                  <a:srgbClr val="393938"/>
                </a:solidFill>
                <a:latin typeface="Courier New"/>
                <a:ea typeface="Courier New"/>
                <a:cs typeface="Courier New"/>
                <a:sym typeface="Courier New"/>
              </a:rPr>
              <a:t>int main(int argc, char *argv[])</a:t>
            </a:r>
            <a:endParaRPr b="1" sz="1000">
              <a:solidFill>
                <a:srgbClr val="393938"/>
              </a:solidFill>
              <a:latin typeface="Courier New"/>
              <a:ea typeface="Courier New"/>
              <a:cs typeface="Courier New"/>
              <a:sym typeface="Courier New"/>
            </a:endParaRPr>
          </a:p>
          <a:p>
            <a:pPr indent="0" lvl="0" marL="0" rtl="0" algn="l">
              <a:lnSpc>
                <a:spcPct val="115000"/>
              </a:lnSpc>
              <a:spcBef>
                <a:spcPts val="400"/>
              </a:spcBef>
              <a:spcAft>
                <a:spcPts val="0"/>
              </a:spcAft>
              <a:buClr>
                <a:schemeClr val="dk1"/>
              </a:buClr>
              <a:buSzPts val="1100"/>
              <a:buFont typeface="Arial"/>
              <a:buNone/>
            </a:pPr>
            <a:r>
              <a:rPr b="1" lang="en-US" sz="1000">
                <a:solidFill>
                  <a:srgbClr val="393938"/>
                </a:solidFill>
                <a:latin typeface="Courier New"/>
                <a:ea typeface="Courier New"/>
                <a:cs typeface="Courier New"/>
                <a:sym typeface="Courier New"/>
              </a:rPr>
              <a:t>{</a:t>
            </a:r>
            <a:endParaRPr b="1" sz="1000">
              <a:solidFill>
                <a:srgbClr val="393938"/>
              </a:solidFill>
              <a:latin typeface="Courier New"/>
              <a:ea typeface="Courier New"/>
              <a:cs typeface="Courier New"/>
              <a:sym typeface="Courier New"/>
            </a:endParaRPr>
          </a:p>
          <a:p>
            <a:pPr indent="0" lvl="0" marL="0" rtl="0" algn="l">
              <a:lnSpc>
                <a:spcPct val="115000"/>
              </a:lnSpc>
              <a:spcBef>
                <a:spcPts val="400"/>
              </a:spcBef>
              <a:spcAft>
                <a:spcPts val="0"/>
              </a:spcAft>
              <a:buClr>
                <a:schemeClr val="dk1"/>
              </a:buClr>
              <a:buSzPts val="1100"/>
              <a:buFont typeface="Arial"/>
              <a:buNone/>
            </a:pPr>
            <a:r>
              <a:rPr b="1" lang="en-US" sz="1000">
                <a:solidFill>
                  <a:srgbClr val="393938"/>
                </a:solidFill>
                <a:latin typeface="Courier New"/>
                <a:ea typeface="Courier New"/>
                <a:cs typeface="Courier New"/>
                <a:sym typeface="Courier New"/>
              </a:rPr>
              <a:t>   int numtasks, rank, rc;</a:t>
            </a:r>
            <a:endParaRPr b="1" sz="1000">
              <a:solidFill>
                <a:srgbClr val="393938"/>
              </a:solidFill>
              <a:latin typeface="Courier New"/>
              <a:ea typeface="Courier New"/>
              <a:cs typeface="Courier New"/>
              <a:sym typeface="Courier New"/>
            </a:endParaRPr>
          </a:p>
          <a:p>
            <a:pPr indent="0" lvl="0" marL="0" rtl="0" algn="l">
              <a:lnSpc>
                <a:spcPct val="115000"/>
              </a:lnSpc>
              <a:spcBef>
                <a:spcPts val="400"/>
              </a:spcBef>
              <a:spcAft>
                <a:spcPts val="0"/>
              </a:spcAft>
              <a:buClr>
                <a:schemeClr val="dk1"/>
              </a:buClr>
              <a:buSzPts val="1100"/>
              <a:buFont typeface="Arial"/>
              <a:buNone/>
            </a:pPr>
            <a:r>
              <a:rPr b="1" lang="en-US" sz="1000">
                <a:solidFill>
                  <a:srgbClr val="393938"/>
                </a:solidFill>
                <a:latin typeface="Courier New"/>
                <a:ea typeface="Courier New"/>
                <a:cs typeface="Courier New"/>
                <a:sym typeface="Courier New"/>
              </a:rPr>
              <a:t>   rc = MPI_Init(&amp;argc,&amp;argv);</a:t>
            </a:r>
            <a:endParaRPr b="1" sz="1000">
              <a:solidFill>
                <a:srgbClr val="393938"/>
              </a:solidFill>
              <a:latin typeface="Courier New"/>
              <a:ea typeface="Courier New"/>
              <a:cs typeface="Courier New"/>
              <a:sym typeface="Courier New"/>
            </a:endParaRPr>
          </a:p>
          <a:p>
            <a:pPr indent="0" lvl="0" marL="0" rtl="0" algn="l">
              <a:lnSpc>
                <a:spcPct val="115000"/>
              </a:lnSpc>
              <a:spcBef>
                <a:spcPts val="400"/>
              </a:spcBef>
              <a:spcAft>
                <a:spcPts val="0"/>
              </a:spcAft>
              <a:buClr>
                <a:schemeClr val="dk1"/>
              </a:buClr>
              <a:buSzPts val="1100"/>
              <a:buFont typeface="Arial"/>
              <a:buNone/>
            </a:pPr>
            <a:r>
              <a:rPr b="1" lang="en-US" sz="1000">
                <a:solidFill>
                  <a:srgbClr val="393938"/>
                </a:solidFill>
                <a:latin typeface="Courier New"/>
                <a:ea typeface="Courier New"/>
                <a:cs typeface="Courier New"/>
                <a:sym typeface="Courier New"/>
              </a:rPr>
              <a:t>   if (rc != MPI_SUCCESS)</a:t>
            </a:r>
            <a:endParaRPr b="1" sz="1000">
              <a:solidFill>
                <a:srgbClr val="393938"/>
              </a:solidFill>
              <a:latin typeface="Courier New"/>
              <a:ea typeface="Courier New"/>
              <a:cs typeface="Courier New"/>
              <a:sym typeface="Courier New"/>
            </a:endParaRPr>
          </a:p>
          <a:p>
            <a:pPr indent="0" lvl="0" marL="0" rtl="0" algn="l">
              <a:lnSpc>
                <a:spcPct val="115000"/>
              </a:lnSpc>
              <a:spcBef>
                <a:spcPts val="400"/>
              </a:spcBef>
              <a:spcAft>
                <a:spcPts val="0"/>
              </a:spcAft>
              <a:buNone/>
            </a:pPr>
            <a:r>
              <a:rPr b="1" lang="en-US" sz="1000">
                <a:solidFill>
                  <a:srgbClr val="393938"/>
                </a:solidFill>
                <a:latin typeface="Courier New"/>
                <a:ea typeface="Courier New"/>
                <a:cs typeface="Courier New"/>
                <a:sym typeface="Courier New"/>
              </a:rPr>
              <a:t>  {  printf ("Error starting MPI program. Terminating.\n");      </a:t>
            </a:r>
            <a:endParaRPr b="1" sz="1000">
              <a:solidFill>
                <a:srgbClr val="393938"/>
              </a:solidFill>
              <a:latin typeface="Courier New"/>
              <a:ea typeface="Courier New"/>
              <a:cs typeface="Courier New"/>
              <a:sym typeface="Courier New"/>
            </a:endParaRPr>
          </a:p>
          <a:p>
            <a:pPr indent="0" lvl="0" marL="0" rtl="0" algn="l">
              <a:lnSpc>
                <a:spcPct val="115000"/>
              </a:lnSpc>
              <a:spcBef>
                <a:spcPts val="400"/>
              </a:spcBef>
              <a:spcAft>
                <a:spcPts val="0"/>
              </a:spcAft>
              <a:buClr>
                <a:schemeClr val="dk1"/>
              </a:buClr>
              <a:buSzPts val="1100"/>
              <a:buFont typeface="Arial"/>
              <a:buNone/>
            </a:pPr>
            <a:r>
              <a:rPr b="1" lang="en-US" sz="1000">
                <a:solidFill>
                  <a:srgbClr val="393938"/>
                </a:solidFill>
                <a:latin typeface="Courier New"/>
                <a:ea typeface="Courier New"/>
                <a:cs typeface="Courier New"/>
                <a:sym typeface="Courier New"/>
              </a:rPr>
              <a:t>     MPI_Abort(MPI_COMM_WORLD, rc);</a:t>
            </a:r>
            <a:endParaRPr b="1" sz="1000">
              <a:solidFill>
                <a:srgbClr val="393938"/>
              </a:solidFill>
              <a:latin typeface="Courier New"/>
              <a:ea typeface="Courier New"/>
              <a:cs typeface="Courier New"/>
              <a:sym typeface="Courier New"/>
            </a:endParaRPr>
          </a:p>
          <a:p>
            <a:pPr indent="0" lvl="0" marL="0" rtl="0" algn="l">
              <a:lnSpc>
                <a:spcPct val="115000"/>
              </a:lnSpc>
              <a:spcBef>
                <a:spcPts val="400"/>
              </a:spcBef>
              <a:spcAft>
                <a:spcPts val="0"/>
              </a:spcAft>
              <a:buClr>
                <a:schemeClr val="dk1"/>
              </a:buClr>
              <a:buSzPts val="1100"/>
              <a:buFont typeface="Arial"/>
              <a:buNone/>
            </a:pPr>
            <a:r>
              <a:rPr b="1" lang="en-US" sz="1000">
                <a:solidFill>
                  <a:srgbClr val="393938"/>
                </a:solidFill>
                <a:latin typeface="Courier New"/>
                <a:ea typeface="Courier New"/>
                <a:cs typeface="Courier New"/>
                <a:sym typeface="Courier New"/>
              </a:rPr>
              <a:t>  }</a:t>
            </a:r>
            <a:endParaRPr b="1" sz="1000">
              <a:solidFill>
                <a:srgbClr val="393938"/>
              </a:solidFill>
              <a:latin typeface="Courier New"/>
              <a:ea typeface="Courier New"/>
              <a:cs typeface="Courier New"/>
              <a:sym typeface="Courier New"/>
            </a:endParaRPr>
          </a:p>
          <a:p>
            <a:pPr indent="0" lvl="0" marL="0" rtl="0" algn="l">
              <a:lnSpc>
                <a:spcPct val="115000"/>
              </a:lnSpc>
              <a:spcBef>
                <a:spcPts val="400"/>
              </a:spcBef>
              <a:spcAft>
                <a:spcPts val="0"/>
              </a:spcAft>
              <a:buClr>
                <a:schemeClr val="dk1"/>
              </a:buClr>
              <a:buSzPts val="1100"/>
              <a:buFont typeface="Arial"/>
              <a:buNone/>
            </a:pPr>
            <a:r>
              <a:rPr b="1" lang="en-US" sz="1000">
                <a:solidFill>
                  <a:srgbClr val="393938"/>
                </a:solidFill>
                <a:latin typeface="Courier New"/>
                <a:ea typeface="Courier New"/>
                <a:cs typeface="Courier New"/>
                <a:sym typeface="Courier New"/>
              </a:rPr>
              <a:t>   MPI_Comm_size(MPI_COMM_WORLD,&amp;numtasks);	</a:t>
            </a:r>
            <a:endParaRPr b="1" sz="1000">
              <a:solidFill>
                <a:srgbClr val="393938"/>
              </a:solidFill>
              <a:latin typeface="Courier New"/>
              <a:ea typeface="Courier New"/>
              <a:cs typeface="Courier New"/>
              <a:sym typeface="Courier New"/>
            </a:endParaRPr>
          </a:p>
          <a:p>
            <a:pPr indent="0" lvl="0" marL="0" rtl="0" algn="l">
              <a:lnSpc>
                <a:spcPct val="115000"/>
              </a:lnSpc>
              <a:spcBef>
                <a:spcPts val="400"/>
              </a:spcBef>
              <a:spcAft>
                <a:spcPts val="0"/>
              </a:spcAft>
              <a:buClr>
                <a:schemeClr val="dk1"/>
              </a:buClr>
              <a:buSzPts val="1100"/>
              <a:buFont typeface="Arial"/>
              <a:buNone/>
            </a:pPr>
            <a:r>
              <a:rPr b="1" lang="en-US" sz="1000">
                <a:solidFill>
                  <a:srgbClr val="393938"/>
                </a:solidFill>
                <a:latin typeface="Courier New"/>
                <a:ea typeface="Courier New"/>
                <a:cs typeface="Courier New"/>
                <a:sym typeface="Courier New"/>
              </a:rPr>
              <a:t>   MPI_Comm_rank(MPI_COMM_WORLD,&amp;rank);</a:t>
            </a:r>
            <a:endParaRPr b="1" sz="1000">
              <a:solidFill>
                <a:srgbClr val="393938"/>
              </a:solidFill>
              <a:latin typeface="Courier New"/>
              <a:ea typeface="Courier New"/>
              <a:cs typeface="Courier New"/>
              <a:sym typeface="Courier New"/>
            </a:endParaRPr>
          </a:p>
          <a:p>
            <a:pPr indent="0" lvl="0" marL="0" rtl="0" algn="l">
              <a:lnSpc>
                <a:spcPct val="115000"/>
              </a:lnSpc>
              <a:spcBef>
                <a:spcPts val="400"/>
              </a:spcBef>
              <a:spcAft>
                <a:spcPts val="0"/>
              </a:spcAft>
              <a:buClr>
                <a:schemeClr val="dk1"/>
              </a:buClr>
              <a:buSzPts val="1100"/>
              <a:buFont typeface="Arial"/>
              <a:buNone/>
            </a:pPr>
            <a:r>
              <a:rPr b="1" lang="en-US" sz="1000">
                <a:solidFill>
                  <a:srgbClr val="393938"/>
                </a:solidFill>
                <a:latin typeface="Courier New"/>
                <a:ea typeface="Courier New"/>
                <a:cs typeface="Courier New"/>
                <a:sym typeface="Courier New"/>
              </a:rPr>
              <a:t>   printf ("Number of tasks= %d My rank= %d\n", numtasks,rank);</a:t>
            </a:r>
            <a:endParaRPr b="1" sz="1000">
              <a:solidFill>
                <a:srgbClr val="393938"/>
              </a:solidFill>
              <a:latin typeface="Courier New"/>
              <a:ea typeface="Courier New"/>
              <a:cs typeface="Courier New"/>
              <a:sym typeface="Courier New"/>
            </a:endParaRPr>
          </a:p>
          <a:p>
            <a:pPr indent="0" lvl="0" marL="0" rtl="0" algn="l">
              <a:lnSpc>
                <a:spcPct val="115000"/>
              </a:lnSpc>
              <a:spcBef>
                <a:spcPts val="400"/>
              </a:spcBef>
              <a:spcAft>
                <a:spcPts val="0"/>
              </a:spcAft>
              <a:buClr>
                <a:schemeClr val="dk1"/>
              </a:buClr>
              <a:buSzPts val="1100"/>
              <a:buFont typeface="Arial"/>
              <a:buNone/>
            </a:pPr>
            <a:r>
              <a:rPr b="1" lang="en-US" sz="1000">
                <a:solidFill>
                  <a:srgbClr val="393938"/>
                </a:solidFill>
                <a:latin typeface="Courier New"/>
                <a:ea typeface="Courier New"/>
                <a:cs typeface="Courier New"/>
                <a:sym typeface="Courier New"/>
              </a:rPr>
              <a:t> </a:t>
            </a:r>
            <a:endParaRPr b="1" sz="1000">
              <a:solidFill>
                <a:srgbClr val="393938"/>
              </a:solidFill>
              <a:latin typeface="Courier New"/>
              <a:ea typeface="Courier New"/>
              <a:cs typeface="Courier New"/>
              <a:sym typeface="Courier New"/>
            </a:endParaRPr>
          </a:p>
          <a:p>
            <a:pPr indent="0" lvl="0" marL="0" rtl="0" algn="l">
              <a:lnSpc>
                <a:spcPct val="115000"/>
              </a:lnSpc>
              <a:spcBef>
                <a:spcPts val="400"/>
              </a:spcBef>
              <a:spcAft>
                <a:spcPts val="0"/>
              </a:spcAft>
              <a:buClr>
                <a:schemeClr val="dk1"/>
              </a:buClr>
              <a:buSzPts val="1100"/>
              <a:buFont typeface="Arial"/>
              <a:buNone/>
            </a:pPr>
            <a:r>
              <a:rPr b="1" lang="en-US" sz="1000">
                <a:solidFill>
                  <a:srgbClr val="393938"/>
                </a:solidFill>
                <a:latin typeface="Courier New"/>
                <a:ea typeface="Courier New"/>
                <a:cs typeface="Courier New"/>
                <a:sym typeface="Courier New"/>
              </a:rPr>
              <a:t>   /******* do some work *******/ </a:t>
            </a:r>
            <a:endParaRPr b="1" sz="1000">
              <a:solidFill>
                <a:srgbClr val="393938"/>
              </a:solidFill>
              <a:latin typeface="Courier New"/>
              <a:ea typeface="Courier New"/>
              <a:cs typeface="Courier New"/>
              <a:sym typeface="Courier New"/>
            </a:endParaRPr>
          </a:p>
          <a:p>
            <a:pPr indent="0" lvl="0" marL="0" rtl="0" algn="l">
              <a:lnSpc>
                <a:spcPct val="115000"/>
              </a:lnSpc>
              <a:spcBef>
                <a:spcPts val="400"/>
              </a:spcBef>
              <a:spcAft>
                <a:spcPts val="0"/>
              </a:spcAft>
              <a:buClr>
                <a:schemeClr val="dk1"/>
              </a:buClr>
              <a:buSzPts val="1100"/>
              <a:buFont typeface="Arial"/>
              <a:buNone/>
            </a:pPr>
            <a:r>
              <a:rPr b="1" lang="en-US" sz="1000">
                <a:solidFill>
                  <a:srgbClr val="393938"/>
                </a:solidFill>
                <a:latin typeface="Courier New"/>
                <a:ea typeface="Courier New"/>
                <a:cs typeface="Courier New"/>
                <a:sym typeface="Courier New"/>
              </a:rPr>
              <a:t>   MPI_Finalize();</a:t>
            </a:r>
            <a:endParaRPr b="1" sz="1000">
              <a:solidFill>
                <a:srgbClr val="393938"/>
              </a:solidFill>
              <a:latin typeface="Courier New"/>
              <a:ea typeface="Courier New"/>
              <a:cs typeface="Courier New"/>
              <a:sym typeface="Courier New"/>
            </a:endParaRPr>
          </a:p>
          <a:p>
            <a:pPr indent="0" lvl="0" marL="0" rtl="0" algn="l">
              <a:lnSpc>
                <a:spcPct val="115000"/>
              </a:lnSpc>
              <a:spcBef>
                <a:spcPts val="400"/>
              </a:spcBef>
              <a:spcAft>
                <a:spcPts val="0"/>
              </a:spcAft>
              <a:buClr>
                <a:schemeClr val="dk1"/>
              </a:buClr>
              <a:buSzPts val="1100"/>
              <a:buFont typeface="Arial"/>
              <a:buNone/>
            </a:pPr>
            <a:r>
              <a:rPr b="1" lang="en-US" sz="1000">
                <a:solidFill>
                  <a:srgbClr val="393938"/>
                </a:solidFill>
                <a:latin typeface="Courier New"/>
                <a:ea typeface="Courier New"/>
                <a:cs typeface="Courier New"/>
                <a:sym typeface="Courier New"/>
              </a:rPr>
              <a:t>}</a:t>
            </a:r>
            <a:endParaRPr b="1" sz="1000">
              <a:solidFill>
                <a:srgbClr val="393938"/>
              </a:solidFill>
              <a:latin typeface="Courier New"/>
              <a:ea typeface="Courier New"/>
              <a:cs typeface="Courier New"/>
              <a:sym typeface="Courier New"/>
            </a:endParaRPr>
          </a:p>
          <a:p>
            <a:pPr indent="0" lvl="0" marL="0" rtl="0" algn="l">
              <a:spcBef>
                <a:spcPts val="480"/>
              </a:spcBef>
              <a:spcAft>
                <a:spcPts val="0"/>
              </a:spcAft>
              <a:buNone/>
            </a:pPr>
            <a:r>
              <a:t/>
            </a:r>
            <a:endParaRPr>
              <a:latin typeface="Courier New"/>
              <a:ea typeface="Courier New"/>
              <a:cs typeface="Courier New"/>
              <a:sym typeface="Courier New"/>
            </a:endParaRPr>
          </a:p>
        </p:txBody>
      </p:sp>
      <p:sp>
        <p:nvSpPr>
          <p:cNvPr id="184" name="Google Shape;184;g3f754ebd1bb_0_109"/>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Environment Management Routines Example</a:t>
            </a:r>
            <a:endParaRPr b="1"/>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fac13c8a26_1_32"/>
          <p:cNvSpPr txBox="1"/>
          <p:nvPr>
            <p:ph idx="1" type="body"/>
          </p:nvPr>
        </p:nvSpPr>
        <p:spPr>
          <a:xfrm>
            <a:off x="274320" y="1887378"/>
            <a:ext cx="6987300" cy="102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FFFF"/>
              </a:buClr>
              <a:buSzPts val="3000"/>
              <a:buFont typeface="Arial"/>
              <a:buNone/>
            </a:pPr>
            <a:r>
              <a:rPr lang="en-US"/>
              <a:t>MPI Point-to-Point Communication</a:t>
            </a:r>
            <a:endParaRPr sz="2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f754ebd1bb_0_116"/>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50"/>
              <a:t>General Concepts</a:t>
            </a:r>
            <a:endParaRPr b="1" sz="1450"/>
          </a:p>
          <a:p>
            <a:pPr indent="-320675" lvl="0" marL="457200" rtl="0" algn="l">
              <a:spcBef>
                <a:spcPts val="480"/>
              </a:spcBef>
              <a:spcAft>
                <a:spcPts val="0"/>
              </a:spcAft>
              <a:buSzPts val="1450"/>
              <a:buChar char="▪"/>
            </a:pPr>
            <a:r>
              <a:rPr b="1" lang="en-US" sz="1450"/>
              <a:t>Types of Point-to-Point Operations: </a:t>
            </a:r>
            <a:endParaRPr b="1" sz="1450"/>
          </a:p>
          <a:p>
            <a:pPr indent="-320675" lvl="1" marL="914400" rtl="0" algn="l">
              <a:spcBef>
                <a:spcPts val="0"/>
              </a:spcBef>
              <a:spcAft>
                <a:spcPts val="0"/>
              </a:spcAft>
              <a:buSzPts val="1450"/>
              <a:buChar char="–"/>
            </a:pPr>
            <a:r>
              <a:rPr lang="en-US" sz="1450"/>
              <a:t>Message passing between </a:t>
            </a:r>
            <a:r>
              <a:rPr i="1" lang="en-US" sz="1450" u="sng">
                <a:solidFill>
                  <a:srgbClr val="FF0000"/>
                </a:solidFill>
              </a:rPr>
              <a:t>two different</a:t>
            </a:r>
            <a:r>
              <a:rPr lang="en-US" sz="1450"/>
              <a:t> MPI tasks (process). One task is performing a send operation and the other task is performing a matching receive operation. </a:t>
            </a:r>
            <a:endParaRPr sz="1450"/>
          </a:p>
          <a:p>
            <a:pPr indent="0" lvl="0" marL="914400" rtl="0" algn="l">
              <a:spcBef>
                <a:spcPts val="480"/>
              </a:spcBef>
              <a:spcAft>
                <a:spcPts val="0"/>
              </a:spcAft>
              <a:buNone/>
            </a:pPr>
            <a:r>
              <a:t/>
            </a:r>
            <a:endParaRPr sz="1450"/>
          </a:p>
          <a:p>
            <a:pPr indent="-320675" lvl="1" marL="914400" rtl="0" algn="l">
              <a:spcBef>
                <a:spcPts val="400"/>
              </a:spcBef>
              <a:spcAft>
                <a:spcPts val="0"/>
              </a:spcAft>
              <a:buSzPts val="1450"/>
              <a:buChar char="–"/>
            </a:pPr>
            <a:r>
              <a:rPr lang="en-US" sz="1450"/>
              <a:t>Different types of send and receive routines for different purposes:</a:t>
            </a:r>
            <a:endParaRPr sz="1450"/>
          </a:p>
          <a:p>
            <a:pPr indent="-320675" lvl="2" marL="1371600" rtl="0" algn="l">
              <a:spcBef>
                <a:spcPts val="0"/>
              </a:spcBef>
              <a:spcAft>
                <a:spcPts val="0"/>
              </a:spcAft>
              <a:buClr>
                <a:srgbClr val="FF0000"/>
              </a:buClr>
              <a:buSzPts val="1450"/>
              <a:buChar char="▪"/>
            </a:pPr>
            <a:r>
              <a:rPr lang="en-US" sz="1450">
                <a:solidFill>
                  <a:srgbClr val="FF0000"/>
                </a:solidFill>
              </a:rPr>
              <a:t>Synchronous</a:t>
            </a:r>
            <a:endParaRPr sz="1450">
              <a:solidFill>
                <a:srgbClr val="FF0000"/>
              </a:solidFill>
            </a:endParaRPr>
          </a:p>
          <a:p>
            <a:pPr indent="-320675" lvl="2" marL="1371600" rtl="0" algn="l">
              <a:spcBef>
                <a:spcPts val="0"/>
              </a:spcBef>
              <a:spcAft>
                <a:spcPts val="0"/>
              </a:spcAft>
              <a:buClr>
                <a:srgbClr val="FF0000"/>
              </a:buClr>
              <a:buSzPts val="1450"/>
              <a:buChar char="▪"/>
            </a:pPr>
            <a:r>
              <a:rPr lang="en-US" sz="1450">
                <a:solidFill>
                  <a:srgbClr val="FF0000"/>
                </a:solidFill>
              </a:rPr>
              <a:t>Blocking </a:t>
            </a:r>
            <a:endParaRPr sz="1450">
              <a:solidFill>
                <a:srgbClr val="FF0000"/>
              </a:solidFill>
            </a:endParaRPr>
          </a:p>
          <a:p>
            <a:pPr indent="-320675" lvl="2" marL="1371600" rtl="0" algn="l">
              <a:spcBef>
                <a:spcPts val="0"/>
              </a:spcBef>
              <a:spcAft>
                <a:spcPts val="0"/>
              </a:spcAft>
              <a:buSzPts val="1450"/>
              <a:buChar char="▪"/>
            </a:pPr>
            <a:r>
              <a:rPr lang="en-US" sz="1450"/>
              <a:t>Non-blocking </a:t>
            </a:r>
            <a:endParaRPr sz="1450"/>
          </a:p>
          <a:p>
            <a:pPr indent="-320675" lvl="2" marL="1371600" rtl="0" algn="l">
              <a:spcBef>
                <a:spcPts val="0"/>
              </a:spcBef>
              <a:spcAft>
                <a:spcPts val="0"/>
              </a:spcAft>
              <a:buSzPts val="1450"/>
              <a:buChar char="▪"/>
            </a:pPr>
            <a:r>
              <a:rPr lang="en-US" sz="1450"/>
              <a:t>Buffered </a:t>
            </a:r>
            <a:endParaRPr sz="1450"/>
          </a:p>
          <a:p>
            <a:pPr indent="-320675" lvl="2" marL="1371600" rtl="0" algn="l">
              <a:spcBef>
                <a:spcPts val="0"/>
              </a:spcBef>
              <a:spcAft>
                <a:spcPts val="0"/>
              </a:spcAft>
              <a:buSzPts val="1450"/>
              <a:buChar char="▪"/>
            </a:pPr>
            <a:r>
              <a:rPr lang="en-US" sz="1450">
                <a:solidFill>
                  <a:srgbClr val="FF0000"/>
                </a:solidFill>
              </a:rPr>
              <a:t>Routines combining send &amp; receive</a:t>
            </a:r>
            <a:r>
              <a:rPr lang="en-US" sz="1450"/>
              <a:t> </a:t>
            </a:r>
            <a:endParaRPr sz="1450"/>
          </a:p>
          <a:p>
            <a:pPr indent="0" lvl="0" marL="914400" rtl="0" algn="l">
              <a:spcBef>
                <a:spcPts val="480"/>
              </a:spcBef>
              <a:spcAft>
                <a:spcPts val="0"/>
              </a:spcAft>
              <a:buNone/>
            </a:pPr>
            <a:r>
              <a:t/>
            </a:r>
            <a:endParaRPr sz="1450"/>
          </a:p>
          <a:p>
            <a:pPr indent="-320675" lvl="1" marL="914400" rtl="0" algn="l">
              <a:spcBef>
                <a:spcPts val="400"/>
              </a:spcBef>
              <a:spcAft>
                <a:spcPts val="0"/>
              </a:spcAft>
              <a:buSzPts val="1450"/>
              <a:buChar char="–"/>
            </a:pPr>
            <a:r>
              <a:rPr lang="en-US" sz="1450"/>
              <a:t>MPI also provides several routines associated with send - receive operations, such as those used to wait for a message's arrival or probe to find out if a message has arrived. </a:t>
            </a:r>
            <a:endParaRPr sz="1450"/>
          </a:p>
        </p:txBody>
      </p:sp>
      <p:sp>
        <p:nvSpPr>
          <p:cNvPr id="197" name="Google Shape;197;g3f754ebd1bb_0_116"/>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Point to Point (P2P) Communication</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f754ebd1bb_0_124"/>
          <p:cNvSpPr txBox="1"/>
          <p:nvPr>
            <p:ph idx="1" type="body"/>
          </p:nvPr>
        </p:nvSpPr>
        <p:spPr>
          <a:xfrm>
            <a:off x="262104" y="784550"/>
            <a:ext cx="47754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t>Buffering: </a:t>
            </a:r>
            <a:endParaRPr b="1" sz="1400"/>
          </a:p>
          <a:p>
            <a:pPr indent="0" lvl="0" marL="0" rtl="0" algn="l">
              <a:spcBef>
                <a:spcPts val="480"/>
              </a:spcBef>
              <a:spcAft>
                <a:spcPts val="0"/>
              </a:spcAft>
              <a:buNone/>
            </a:pPr>
            <a:r>
              <a:rPr lang="en-US" sz="1400"/>
              <a:t>In a perfect world, every send operation should be perfectly synchronized with its matching receive. In practice, this is rarely the case. The MPI implementation must be able to </a:t>
            </a:r>
            <a:r>
              <a:rPr i="1" lang="en-US" sz="1400" u="sng">
                <a:solidFill>
                  <a:srgbClr val="FF0000"/>
                </a:solidFill>
              </a:rPr>
              <a:t>handle tasks that are out of sync</a:t>
            </a:r>
            <a:r>
              <a:rPr lang="en-US" sz="1400"/>
              <a:t>.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rPr lang="en-US" sz="1400"/>
              <a:t>Consider the following two cases: </a:t>
            </a:r>
            <a:endParaRPr sz="1400"/>
          </a:p>
          <a:p>
            <a:pPr indent="-317500" lvl="0" marL="457200" rtl="0" algn="l">
              <a:spcBef>
                <a:spcPts val="480"/>
              </a:spcBef>
              <a:spcAft>
                <a:spcPts val="0"/>
              </a:spcAft>
              <a:buSzPts val="1400"/>
              <a:buChar char="▪"/>
            </a:pPr>
            <a:r>
              <a:rPr lang="en-US" sz="1400"/>
              <a:t>A send operation occurs 5 seconds before the receive is ready - where the message is stored?</a:t>
            </a:r>
            <a:endParaRPr sz="1400"/>
          </a:p>
          <a:p>
            <a:pPr indent="0" lvl="0" marL="457200" rtl="0" algn="l">
              <a:spcBef>
                <a:spcPts val="480"/>
              </a:spcBef>
              <a:spcAft>
                <a:spcPts val="0"/>
              </a:spcAft>
              <a:buNone/>
            </a:pPr>
            <a:r>
              <a:rPr lang="en-US" sz="1400"/>
              <a:t> </a:t>
            </a:r>
            <a:endParaRPr sz="1400"/>
          </a:p>
          <a:p>
            <a:pPr indent="-317500" lvl="0" marL="457200" rtl="0" algn="l">
              <a:spcBef>
                <a:spcPts val="480"/>
              </a:spcBef>
              <a:spcAft>
                <a:spcPts val="0"/>
              </a:spcAft>
              <a:buSzPts val="1400"/>
              <a:buChar char="▪"/>
            </a:pPr>
            <a:r>
              <a:rPr lang="en-US" sz="1400"/>
              <a:t>Multiple sends arrive at the same receiving task which can only accept one send at a time - what happens to the messages that are "backing up"?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p:txBody>
      </p:sp>
      <p:sp>
        <p:nvSpPr>
          <p:cNvPr id="204" name="Google Shape;204;g3f754ebd1bb_0_124"/>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P2P general concepts</a:t>
            </a:r>
            <a:endParaRPr b="1"/>
          </a:p>
        </p:txBody>
      </p:sp>
      <p:pic>
        <p:nvPicPr>
          <p:cNvPr id="205" name="Google Shape;205;g3f754ebd1bb_0_124"/>
          <p:cNvPicPr preferRelativeResize="0"/>
          <p:nvPr/>
        </p:nvPicPr>
        <p:blipFill>
          <a:blip r:embed="rId3">
            <a:alphaModFix/>
          </a:blip>
          <a:stretch>
            <a:fillRect/>
          </a:stretch>
        </p:blipFill>
        <p:spPr>
          <a:xfrm>
            <a:off x="5235679" y="984056"/>
            <a:ext cx="3801696" cy="2409771"/>
          </a:xfrm>
          <a:prstGeom prst="rect">
            <a:avLst/>
          </a:prstGeom>
          <a:noFill/>
          <a:ln>
            <a:noFill/>
          </a:ln>
        </p:spPr>
      </p:pic>
      <p:sp>
        <p:nvSpPr>
          <p:cNvPr id="206" name="Google Shape;206;g3f754ebd1bb_0_124"/>
          <p:cNvSpPr txBox="1"/>
          <p:nvPr/>
        </p:nvSpPr>
        <p:spPr>
          <a:xfrm>
            <a:off x="5037500" y="3413650"/>
            <a:ext cx="4014900" cy="1046700"/>
          </a:xfrm>
          <a:prstGeom prst="rect">
            <a:avLst/>
          </a:prstGeom>
          <a:noFill/>
          <a:ln>
            <a:noFill/>
          </a:ln>
        </p:spPr>
        <p:txBody>
          <a:bodyPr anchorCtr="0" anchor="t" bIns="91425" lIns="91425" spcFirstLastPara="1" rIns="91425" wrap="square" tIns="91425">
            <a:spAutoFit/>
          </a:bodyPr>
          <a:lstStyle/>
          <a:p>
            <a:pPr indent="0" lvl="0" marL="0" rtl="0" algn="l">
              <a:spcBef>
                <a:spcPts val="480"/>
              </a:spcBef>
              <a:spcAft>
                <a:spcPts val="0"/>
              </a:spcAft>
              <a:buNone/>
            </a:pPr>
            <a:r>
              <a:rPr lang="en-US">
                <a:solidFill>
                  <a:schemeClr val="dk1"/>
                </a:solidFill>
              </a:rPr>
              <a:t>The MPI implementation (not the MPI standard) decides what happens to the data in these types of cases. Typically, a </a:t>
            </a:r>
            <a:r>
              <a:rPr i="1" lang="en-US" u="sng">
                <a:solidFill>
                  <a:srgbClr val="FF0000"/>
                </a:solidFill>
              </a:rPr>
              <a:t>system buffer area</a:t>
            </a:r>
            <a:r>
              <a:rPr lang="en-US">
                <a:solidFill>
                  <a:schemeClr val="dk1"/>
                </a:solidFill>
              </a:rPr>
              <a:t> is reserved to hold data in transit.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f754ebd1bb_0_134"/>
          <p:cNvSpPr txBox="1"/>
          <p:nvPr>
            <p:ph idx="1" type="body"/>
          </p:nvPr>
        </p:nvSpPr>
        <p:spPr>
          <a:xfrm>
            <a:off x="185710" y="7726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800">
                <a:solidFill>
                  <a:srgbClr val="FF0000"/>
                </a:solidFill>
              </a:rPr>
              <a:t>System buffer space</a:t>
            </a:r>
            <a:r>
              <a:rPr lang="en-US" sz="1800"/>
              <a:t> is: </a:t>
            </a:r>
            <a:endParaRPr sz="1800"/>
          </a:p>
          <a:p>
            <a:pPr indent="-342900" lvl="0" marL="457200" rtl="0" algn="l">
              <a:spcBef>
                <a:spcPts val="1000"/>
              </a:spcBef>
              <a:spcAft>
                <a:spcPts val="0"/>
              </a:spcAft>
              <a:buSzPts val="1800"/>
              <a:buChar char="▪"/>
            </a:pPr>
            <a:r>
              <a:rPr lang="en-US" sz="1800"/>
              <a:t>Managed entirely by the MPI library implementation</a:t>
            </a:r>
            <a:endParaRPr sz="1800"/>
          </a:p>
          <a:p>
            <a:pPr indent="-342900" lvl="0" marL="457200" rtl="0" algn="l">
              <a:spcBef>
                <a:spcPts val="1000"/>
              </a:spcBef>
              <a:spcAft>
                <a:spcPts val="0"/>
              </a:spcAft>
              <a:buSzPts val="1800"/>
              <a:buChar char="▪"/>
            </a:pPr>
            <a:r>
              <a:rPr lang="en-US" sz="1800"/>
              <a:t>A finite resource that can be easily exhausted </a:t>
            </a:r>
            <a:endParaRPr sz="1800"/>
          </a:p>
          <a:p>
            <a:pPr indent="-342900" lvl="0" marL="457200" rtl="0" algn="l">
              <a:spcBef>
                <a:spcPts val="1000"/>
              </a:spcBef>
              <a:spcAft>
                <a:spcPts val="0"/>
              </a:spcAft>
              <a:buSzPts val="1800"/>
              <a:buChar char="▪"/>
            </a:pPr>
            <a:r>
              <a:rPr lang="en-US" sz="1800"/>
              <a:t>Often mysterious and not well documented </a:t>
            </a:r>
            <a:endParaRPr sz="1800"/>
          </a:p>
          <a:p>
            <a:pPr indent="-342900" lvl="0" marL="457200" rtl="0" algn="l">
              <a:spcBef>
                <a:spcPts val="1000"/>
              </a:spcBef>
              <a:spcAft>
                <a:spcPts val="0"/>
              </a:spcAft>
              <a:buSzPts val="1800"/>
              <a:buChar char="▪"/>
            </a:pPr>
            <a:r>
              <a:rPr lang="en-US" sz="1800"/>
              <a:t>May exist on the sending side, the receiving side, or both </a:t>
            </a:r>
            <a:endParaRPr sz="1800"/>
          </a:p>
          <a:p>
            <a:pPr indent="-342900" lvl="0" marL="457200" rtl="0" algn="l">
              <a:spcBef>
                <a:spcPts val="1000"/>
              </a:spcBef>
              <a:spcAft>
                <a:spcPts val="0"/>
              </a:spcAft>
              <a:buSzPts val="1800"/>
              <a:buChar char="▪"/>
            </a:pPr>
            <a:r>
              <a:rPr lang="en-US" sz="1800"/>
              <a:t>Can be used to improve program performance because it allows send - receive operations to be asynchronous. </a:t>
            </a:r>
            <a:endParaRPr sz="1800"/>
          </a:p>
          <a:p>
            <a:pPr indent="-342900" lvl="0" marL="457200" rtl="0" algn="l">
              <a:spcBef>
                <a:spcPts val="1000"/>
              </a:spcBef>
              <a:spcAft>
                <a:spcPts val="1000"/>
              </a:spcAft>
              <a:buSzPts val="1800"/>
              <a:buChar char="▪"/>
            </a:pPr>
            <a:r>
              <a:rPr lang="en-US" sz="1800"/>
              <a:t>User managed address space (e.g., storing your program variables) is called the </a:t>
            </a:r>
            <a:r>
              <a:rPr b="1" lang="en-US" sz="1800">
                <a:solidFill>
                  <a:srgbClr val="FF0000"/>
                </a:solidFill>
              </a:rPr>
              <a:t>application buffer</a:t>
            </a:r>
            <a:r>
              <a:rPr lang="en-US" sz="1800"/>
              <a:t>. </a:t>
            </a:r>
            <a:endParaRPr sz="1800"/>
          </a:p>
        </p:txBody>
      </p:sp>
      <p:sp>
        <p:nvSpPr>
          <p:cNvPr id="213" name="Google Shape;213;g3f754ebd1bb_0_134"/>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P2P general concepts</a:t>
            </a:r>
            <a:endParaRPr b="1"/>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f754ebd1bb_0_141"/>
          <p:cNvSpPr txBox="1"/>
          <p:nvPr>
            <p:ph idx="1" type="body"/>
          </p:nvPr>
        </p:nvSpPr>
        <p:spPr>
          <a:xfrm>
            <a:off x="242850" y="674175"/>
            <a:ext cx="8658300" cy="38994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t>Blocking vs. Non-blocking: </a:t>
            </a:r>
            <a:endParaRPr sz="1400"/>
          </a:p>
          <a:p>
            <a:pPr indent="-317500" lvl="0" marL="457200" rtl="0" algn="l">
              <a:spcBef>
                <a:spcPts val="1000"/>
              </a:spcBef>
              <a:spcAft>
                <a:spcPts val="0"/>
              </a:spcAft>
              <a:buSzPts val="1400"/>
              <a:buChar char="▪"/>
            </a:pPr>
            <a:r>
              <a:rPr lang="en-US" sz="1400"/>
              <a:t>Most of the MPI point-to-point routines can be used in either blocking or non-blocking mode. </a:t>
            </a:r>
            <a:endParaRPr sz="1400"/>
          </a:p>
          <a:p>
            <a:pPr indent="-317500" lvl="0" marL="457200" rtl="0" algn="l">
              <a:spcBef>
                <a:spcPts val="1000"/>
              </a:spcBef>
              <a:spcAft>
                <a:spcPts val="0"/>
              </a:spcAft>
              <a:buSzPts val="1400"/>
              <a:buChar char="▪"/>
            </a:pPr>
            <a:r>
              <a:rPr lang="en-US" sz="1400"/>
              <a:t>Blocking: </a:t>
            </a:r>
            <a:endParaRPr sz="1400"/>
          </a:p>
          <a:p>
            <a:pPr indent="-317500" lvl="1" marL="914400" rtl="0" algn="l">
              <a:spcBef>
                <a:spcPts val="1000"/>
              </a:spcBef>
              <a:spcAft>
                <a:spcPts val="0"/>
              </a:spcAft>
              <a:buSzPts val="1400"/>
              <a:buChar char="–"/>
            </a:pPr>
            <a:r>
              <a:rPr lang="en-US" sz="1400"/>
              <a:t>A blocking send routine will only "return" </a:t>
            </a:r>
            <a:r>
              <a:rPr lang="en-US" sz="1400" u="sng">
                <a:solidFill>
                  <a:srgbClr val="FF0000"/>
                </a:solidFill>
              </a:rPr>
              <a:t>after it is safe to modify the application buffer</a:t>
            </a:r>
            <a:r>
              <a:rPr lang="en-US" sz="1400"/>
              <a:t> (your send data) for reuse. “Safe” does not imply that the data was actually received. Data may still be sitting in system buffer waiting to be sent. </a:t>
            </a:r>
            <a:endParaRPr sz="1400"/>
          </a:p>
          <a:p>
            <a:pPr indent="-317500" lvl="1" marL="914400" rtl="0" algn="l">
              <a:spcBef>
                <a:spcPts val="1000"/>
              </a:spcBef>
              <a:spcAft>
                <a:spcPts val="0"/>
              </a:spcAft>
              <a:buSzPts val="1400"/>
              <a:buChar char="–"/>
            </a:pPr>
            <a:r>
              <a:rPr lang="en-US" sz="1400"/>
              <a:t>Synchronous blocking send: Block until handshake occurs with the receive task (process). </a:t>
            </a:r>
            <a:endParaRPr sz="1400"/>
          </a:p>
          <a:p>
            <a:pPr indent="-317500" lvl="1" marL="914400" rtl="0" algn="l">
              <a:spcBef>
                <a:spcPts val="1000"/>
              </a:spcBef>
              <a:spcAft>
                <a:spcPts val="0"/>
              </a:spcAft>
              <a:buSzPts val="1400"/>
              <a:buChar char="–"/>
            </a:pPr>
            <a:r>
              <a:rPr lang="en-US" sz="1400"/>
              <a:t>Asynchronous blocking send: Block </a:t>
            </a:r>
            <a:r>
              <a:rPr lang="en-US" sz="1400"/>
              <a:t>until data is copied to the </a:t>
            </a:r>
            <a:r>
              <a:rPr lang="en-US" sz="1400"/>
              <a:t>system buffer, which is used to hold the data for the “eventual” delivery. </a:t>
            </a:r>
            <a:endParaRPr sz="1400"/>
          </a:p>
          <a:p>
            <a:pPr indent="-317500" lvl="1" marL="914400" rtl="0" algn="l">
              <a:spcBef>
                <a:spcPts val="1000"/>
              </a:spcBef>
              <a:spcAft>
                <a:spcPts val="0"/>
              </a:spcAft>
              <a:buSzPts val="1400"/>
              <a:buChar char="–"/>
            </a:pPr>
            <a:r>
              <a:rPr lang="en-US" sz="1400"/>
              <a:t>Blocking receive: Blocks until after the data has arrived and is ready for use by the program.</a:t>
            </a:r>
            <a:endParaRPr sz="1400"/>
          </a:p>
          <a:p>
            <a:pPr indent="-317500" lvl="0" marL="457200" rtl="0" algn="l">
              <a:spcBef>
                <a:spcPts val="1000"/>
              </a:spcBef>
              <a:spcAft>
                <a:spcPts val="0"/>
              </a:spcAft>
              <a:buSzPts val="1400"/>
              <a:buChar char="▪"/>
            </a:pPr>
            <a:r>
              <a:rPr lang="en-US" sz="1400"/>
              <a:t>Your parallel design will determine whether you should use blocking/non-block functions.</a:t>
            </a:r>
            <a:r>
              <a:rPr lang="en-US" sz="1400" u="sng">
                <a:solidFill>
                  <a:srgbClr val="FF0000"/>
                </a:solidFill>
              </a:rPr>
              <a:t> Deadlocks, computation errors, or failing to speed-up the program</a:t>
            </a:r>
            <a:r>
              <a:rPr lang="en-US" sz="1400"/>
              <a:t> are common symptoms of using the wrong functions with the wrong parallel design. </a:t>
            </a:r>
            <a:endParaRPr sz="1400"/>
          </a:p>
        </p:txBody>
      </p:sp>
      <p:sp>
        <p:nvSpPr>
          <p:cNvPr id="220" name="Google Shape;220;g3f754ebd1bb_0_141"/>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P2P general concepts</a:t>
            </a:r>
            <a:endParaRPr b="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f754ebd1bb_0_147"/>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330200" lvl="0" marL="457200" rtl="0" algn="l">
              <a:spcBef>
                <a:spcPts val="480"/>
              </a:spcBef>
              <a:spcAft>
                <a:spcPts val="0"/>
              </a:spcAft>
              <a:buSzPts val="1600"/>
              <a:buChar char="▪"/>
            </a:pPr>
            <a:r>
              <a:rPr lang="en-US" sz="1600"/>
              <a:t>Non-blocking: </a:t>
            </a:r>
            <a:endParaRPr sz="1600"/>
          </a:p>
          <a:p>
            <a:pPr indent="-330200" lvl="1" marL="914400" rtl="0" algn="l">
              <a:spcBef>
                <a:spcPts val="1000"/>
              </a:spcBef>
              <a:spcAft>
                <a:spcPts val="0"/>
              </a:spcAft>
              <a:buSzPts val="1600"/>
              <a:buChar char="–"/>
            </a:pPr>
            <a:r>
              <a:rPr lang="en-US" sz="1600"/>
              <a:t>Non-blocking send and receive routines will return “almost” immediately. </a:t>
            </a:r>
            <a:endParaRPr sz="1600"/>
          </a:p>
          <a:p>
            <a:pPr indent="-330200" lvl="1" marL="914400" rtl="0" algn="l">
              <a:spcBef>
                <a:spcPts val="1000"/>
              </a:spcBef>
              <a:spcAft>
                <a:spcPts val="0"/>
              </a:spcAft>
              <a:buSzPts val="1600"/>
              <a:buChar char="–"/>
            </a:pPr>
            <a:r>
              <a:rPr lang="en-US" sz="1600"/>
              <a:t>They do not wait for any communication events to complete, such as message copying from user memory to system buffer space or the actual arrival of message. </a:t>
            </a:r>
            <a:endParaRPr sz="1600"/>
          </a:p>
          <a:p>
            <a:pPr indent="-330200" lvl="1" marL="914400" rtl="0" algn="l">
              <a:spcBef>
                <a:spcPts val="1000"/>
              </a:spcBef>
              <a:spcAft>
                <a:spcPts val="0"/>
              </a:spcAft>
              <a:buSzPts val="1600"/>
              <a:buChar char="–"/>
            </a:pPr>
            <a:r>
              <a:rPr lang="en-US" sz="1600"/>
              <a:t>Non-blocking operations simply "request" the MPI library to perform the operation.</a:t>
            </a:r>
            <a:endParaRPr sz="1600"/>
          </a:p>
          <a:p>
            <a:pPr indent="-330200" lvl="1" marL="914400" rtl="0" algn="l">
              <a:spcBef>
                <a:spcPts val="1000"/>
              </a:spcBef>
              <a:spcAft>
                <a:spcPts val="0"/>
              </a:spcAft>
              <a:buSzPts val="1600"/>
              <a:buChar char="–"/>
            </a:pPr>
            <a:r>
              <a:rPr lang="en-US" sz="1600"/>
              <a:t>Corollary: </a:t>
            </a:r>
            <a:r>
              <a:rPr lang="en-US" sz="1600"/>
              <a:t>It is </a:t>
            </a:r>
            <a:r>
              <a:rPr lang="en-US" sz="1600" u="sng">
                <a:solidFill>
                  <a:srgbClr val="FF0000"/>
                </a:solidFill>
              </a:rPr>
              <a:t>unsafe to modify the application buffer (your variable space)</a:t>
            </a:r>
            <a:r>
              <a:rPr lang="en-US" sz="1600"/>
              <a:t> until you know the requested operation has been completed. A series of </a:t>
            </a:r>
            <a:r>
              <a:rPr lang="en-US" sz="1600"/>
              <a:t>"</a:t>
            </a:r>
            <a:r>
              <a:rPr lang="en-US" sz="1600"/>
              <a:t>waiting"/</a:t>
            </a:r>
            <a:r>
              <a:rPr lang="en-US" sz="1600"/>
              <a:t>"probing"</a:t>
            </a:r>
            <a:r>
              <a:rPr lang="en-US" sz="1600"/>
              <a:t> routines are designed for checking whether operations have been completed. </a:t>
            </a:r>
            <a:endParaRPr sz="1600"/>
          </a:p>
          <a:p>
            <a:pPr indent="-330200" lvl="1" marL="914400" rtl="0" algn="l">
              <a:spcBef>
                <a:spcPts val="1000"/>
              </a:spcBef>
              <a:spcAft>
                <a:spcPts val="1000"/>
              </a:spcAft>
              <a:buSzPts val="1600"/>
              <a:buChar char="–"/>
            </a:pPr>
            <a:r>
              <a:rPr lang="en-US" sz="1600"/>
              <a:t>Non-blocking communications are primarily used to overlap computation with communication </a:t>
            </a:r>
            <a:r>
              <a:rPr lang="en-US" sz="1600" u="sng">
                <a:solidFill>
                  <a:srgbClr val="FF0000"/>
                </a:solidFill>
              </a:rPr>
              <a:t>and exploit possible performance gains</a:t>
            </a:r>
            <a:endParaRPr sz="1600" u="sng">
              <a:solidFill>
                <a:srgbClr val="FF0000"/>
              </a:solidFill>
            </a:endParaRPr>
          </a:p>
        </p:txBody>
      </p:sp>
      <p:sp>
        <p:nvSpPr>
          <p:cNvPr id="227" name="Google Shape;227;g3f754ebd1bb_0_147"/>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P2P general concepts</a:t>
            </a:r>
            <a:endParaRPr b="1"/>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f754ebd1bb_0_153"/>
          <p:cNvSpPr txBox="1"/>
          <p:nvPr>
            <p:ph idx="1" type="body"/>
          </p:nvPr>
        </p:nvSpPr>
        <p:spPr>
          <a:xfrm>
            <a:off x="195275" y="787975"/>
            <a:ext cx="6363000" cy="3904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t>Order:</a:t>
            </a:r>
            <a:endParaRPr sz="1400"/>
          </a:p>
          <a:p>
            <a:pPr indent="-317500" lvl="1" marL="914400" rtl="0" algn="l">
              <a:spcBef>
                <a:spcPts val="400"/>
              </a:spcBef>
              <a:spcAft>
                <a:spcPts val="0"/>
              </a:spcAft>
              <a:buSzPts val="1400"/>
              <a:buChar char="–"/>
            </a:pPr>
            <a:r>
              <a:rPr lang="en-US" sz="1400"/>
              <a:t>MPI guarantees that messages are </a:t>
            </a:r>
            <a:r>
              <a:rPr lang="en-US" sz="1400" u="sng">
                <a:solidFill>
                  <a:srgbClr val="FF0000"/>
                </a:solidFill>
              </a:rPr>
              <a:t>“ordered” and will not overtake each other.</a:t>
            </a:r>
            <a:r>
              <a:rPr lang="en-US" sz="1400"/>
              <a:t> </a:t>
            </a:r>
            <a:endParaRPr sz="1400"/>
          </a:p>
          <a:p>
            <a:pPr indent="0" lvl="0" marL="914400" rtl="0" algn="l">
              <a:spcBef>
                <a:spcPts val="480"/>
              </a:spcBef>
              <a:spcAft>
                <a:spcPts val="0"/>
              </a:spcAft>
              <a:buNone/>
            </a:pPr>
            <a:r>
              <a:t/>
            </a:r>
            <a:endParaRPr sz="1400"/>
          </a:p>
          <a:p>
            <a:pPr indent="-317500" lvl="1" marL="914400" rtl="0" algn="l">
              <a:spcBef>
                <a:spcPts val="400"/>
              </a:spcBef>
              <a:spcAft>
                <a:spcPts val="0"/>
              </a:spcAft>
              <a:buSzPts val="1400"/>
              <a:buChar char="–"/>
            </a:pPr>
            <a:r>
              <a:rPr lang="en-US" sz="1400"/>
              <a:t>If a sender sends two messages (Message 1 and Message 2) in succession to the same destination, and both match the same receive, the receive operation will receive Message 1 before Message 2. </a:t>
            </a:r>
            <a:endParaRPr sz="1400"/>
          </a:p>
          <a:p>
            <a:pPr indent="0" lvl="0" marL="914400" rtl="0" algn="l">
              <a:spcBef>
                <a:spcPts val="480"/>
              </a:spcBef>
              <a:spcAft>
                <a:spcPts val="0"/>
              </a:spcAft>
              <a:buNone/>
            </a:pPr>
            <a:r>
              <a:t/>
            </a:r>
            <a:endParaRPr sz="1400"/>
          </a:p>
          <a:p>
            <a:pPr indent="-317500" lvl="1" marL="914400" rtl="0" algn="l">
              <a:spcBef>
                <a:spcPts val="400"/>
              </a:spcBef>
              <a:spcAft>
                <a:spcPts val="0"/>
              </a:spcAft>
              <a:buSzPts val="1400"/>
              <a:buChar char="–"/>
            </a:pPr>
            <a:r>
              <a:rPr lang="en-US" sz="1400"/>
              <a:t>If a receiver posts two receives (Receive 1 and Receive 2), in succession, and both are looking for the same message, Receive 1 will receive the message before Receive 2. </a:t>
            </a:r>
            <a:endParaRPr sz="1400"/>
          </a:p>
          <a:p>
            <a:pPr indent="0" lvl="0" marL="914400" rtl="0" algn="l">
              <a:spcBef>
                <a:spcPts val="480"/>
              </a:spcBef>
              <a:spcAft>
                <a:spcPts val="0"/>
              </a:spcAft>
              <a:buNone/>
            </a:pPr>
            <a:r>
              <a:t/>
            </a:r>
            <a:endParaRPr sz="1400"/>
          </a:p>
          <a:p>
            <a:pPr indent="-317500" lvl="1" marL="914400" rtl="0" algn="l">
              <a:spcBef>
                <a:spcPts val="400"/>
              </a:spcBef>
              <a:spcAft>
                <a:spcPts val="0"/>
              </a:spcAft>
              <a:buSzPts val="1400"/>
              <a:buChar char="–"/>
            </a:pPr>
            <a:r>
              <a:rPr lang="en-US" sz="1400"/>
              <a:t>Order rules do not apply if there are multiple threads participating in the communication operations.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p:txBody>
      </p:sp>
      <p:sp>
        <p:nvSpPr>
          <p:cNvPr id="234" name="Google Shape;234;g3f754ebd1bb_0_153"/>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P2P general concepts</a:t>
            </a:r>
            <a:endParaRPr b="1"/>
          </a:p>
        </p:txBody>
      </p:sp>
      <p:pic>
        <p:nvPicPr>
          <p:cNvPr id="235" name="Google Shape;235;g3f754ebd1bb_0_153"/>
          <p:cNvPicPr preferRelativeResize="0"/>
          <p:nvPr/>
        </p:nvPicPr>
        <p:blipFill>
          <a:blip r:embed="rId3">
            <a:alphaModFix/>
          </a:blip>
          <a:stretch>
            <a:fillRect/>
          </a:stretch>
        </p:blipFill>
        <p:spPr>
          <a:xfrm>
            <a:off x="6515400" y="1872806"/>
            <a:ext cx="2476200" cy="180749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fac13c8a26_1_37"/>
          <p:cNvSpPr txBox="1"/>
          <p:nvPr>
            <p:ph idx="1" type="body"/>
          </p:nvPr>
        </p:nvSpPr>
        <p:spPr>
          <a:xfrm>
            <a:off x="152400" y="844546"/>
            <a:ext cx="63630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t>Fairness: </a:t>
            </a:r>
            <a:endParaRPr sz="1400"/>
          </a:p>
          <a:p>
            <a:pPr indent="-317500" lvl="1" marL="914400" rtl="0" algn="l">
              <a:spcBef>
                <a:spcPts val="400"/>
              </a:spcBef>
              <a:spcAft>
                <a:spcPts val="0"/>
              </a:spcAft>
              <a:buSzPts val="1400"/>
              <a:buChar char="–"/>
            </a:pPr>
            <a:r>
              <a:rPr lang="en-US" sz="1400"/>
              <a:t>MPI does not guarantee fairness</a:t>
            </a:r>
            <a:endParaRPr sz="1400"/>
          </a:p>
          <a:p>
            <a:pPr indent="0" lvl="0" marL="914400" rtl="0" algn="l">
              <a:spcBef>
                <a:spcPts val="480"/>
              </a:spcBef>
              <a:spcAft>
                <a:spcPts val="0"/>
              </a:spcAft>
              <a:buNone/>
            </a:pPr>
            <a:r>
              <a:t/>
            </a:r>
            <a:endParaRPr sz="1400"/>
          </a:p>
          <a:p>
            <a:pPr indent="-317500" lvl="1" marL="914400" rtl="0" algn="l">
              <a:spcBef>
                <a:spcPts val="400"/>
              </a:spcBef>
              <a:spcAft>
                <a:spcPts val="0"/>
              </a:spcAft>
              <a:buSzPts val="1400"/>
              <a:buChar char="–"/>
            </a:pPr>
            <a:r>
              <a:rPr lang="en-US" sz="1400"/>
              <a:t>The programmer has responsibility to prevent operation/process starvation. </a:t>
            </a:r>
            <a:endParaRPr sz="1400"/>
          </a:p>
          <a:p>
            <a:pPr indent="0" lvl="0" marL="914400" rtl="0" algn="l">
              <a:spcBef>
                <a:spcPts val="480"/>
              </a:spcBef>
              <a:spcAft>
                <a:spcPts val="0"/>
              </a:spcAft>
              <a:buNone/>
            </a:pPr>
            <a:r>
              <a:t/>
            </a:r>
            <a:endParaRPr sz="1400"/>
          </a:p>
          <a:p>
            <a:pPr indent="-317500" lvl="1" marL="914400" rtl="0" algn="l">
              <a:spcBef>
                <a:spcPts val="400"/>
              </a:spcBef>
              <a:spcAft>
                <a:spcPts val="0"/>
              </a:spcAft>
              <a:buSzPts val="1400"/>
              <a:buChar char="–"/>
            </a:pPr>
            <a:r>
              <a:rPr lang="en-US" sz="1400"/>
              <a:t>Often depends on how processes are scheduled in the underlying Operating System.</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p:txBody>
      </p:sp>
      <p:sp>
        <p:nvSpPr>
          <p:cNvPr id="242" name="Google Shape;242;g3fac13c8a26_1_37"/>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P2P general concepts</a:t>
            </a:r>
            <a:endParaRPr b="1"/>
          </a:p>
        </p:txBody>
      </p:sp>
      <p:pic>
        <p:nvPicPr>
          <p:cNvPr id="243" name="Google Shape;243;g3fac13c8a26_1_37"/>
          <p:cNvPicPr preferRelativeResize="0"/>
          <p:nvPr/>
        </p:nvPicPr>
        <p:blipFill>
          <a:blip r:embed="rId3">
            <a:alphaModFix/>
          </a:blip>
          <a:stretch>
            <a:fillRect/>
          </a:stretch>
        </p:blipFill>
        <p:spPr>
          <a:xfrm>
            <a:off x="6515400" y="1872806"/>
            <a:ext cx="2476200" cy="180749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f754ebd1bb_0_160"/>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t>MPI Message Passing Routine Arguments </a:t>
            </a:r>
            <a:endParaRPr b="1"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rPr b="1" lang="en-US" sz="1400"/>
              <a:t>Buffer </a:t>
            </a:r>
            <a:endParaRPr b="1" sz="1400"/>
          </a:p>
          <a:p>
            <a:pPr indent="-317500" lvl="0" marL="457200" rtl="0" algn="l">
              <a:spcBef>
                <a:spcPts val="480"/>
              </a:spcBef>
              <a:spcAft>
                <a:spcPts val="0"/>
              </a:spcAft>
              <a:buSzPts val="1400"/>
              <a:buChar char="▪"/>
            </a:pPr>
            <a:r>
              <a:rPr lang="en-US" sz="1400"/>
              <a:t>Program (application) address space that references the data that is to be sent or received. </a:t>
            </a:r>
            <a:endParaRPr sz="1400"/>
          </a:p>
          <a:p>
            <a:pPr indent="0" lvl="0" marL="457200" rtl="0" algn="l">
              <a:spcBef>
                <a:spcPts val="480"/>
              </a:spcBef>
              <a:spcAft>
                <a:spcPts val="0"/>
              </a:spcAft>
              <a:buNone/>
            </a:pPr>
            <a:r>
              <a:t/>
            </a:r>
            <a:endParaRPr sz="1400"/>
          </a:p>
          <a:p>
            <a:pPr indent="-317500" lvl="0" marL="457200" rtl="0" algn="l">
              <a:spcBef>
                <a:spcPts val="480"/>
              </a:spcBef>
              <a:spcAft>
                <a:spcPts val="0"/>
              </a:spcAft>
              <a:buSzPts val="1400"/>
              <a:buChar char="▪"/>
            </a:pPr>
            <a:r>
              <a:rPr lang="en-US" sz="1400"/>
              <a:t>In most cases, this is simply the variable name that is be sent/received. For C programs, this argument is </a:t>
            </a:r>
            <a:r>
              <a:rPr lang="en-US" sz="1400" u="sng">
                <a:solidFill>
                  <a:srgbClr val="FF0000"/>
                </a:solidFill>
              </a:rPr>
              <a:t>passed by reference</a:t>
            </a:r>
            <a:r>
              <a:rPr lang="en-US" sz="1400"/>
              <a:t> (remember to pass variable addresses &amp;var1)</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p:txBody>
      </p:sp>
      <p:sp>
        <p:nvSpPr>
          <p:cNvPr id="250" name="Google Shape;250;g3f754ebd1bb_0_160"/>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Point to Point Communication Routines  and Arguments</a:t>
            </a:r>
            <a:endParaRPr b="1"/>
          </a:p>
        </p:txBody>
      </p:sp>
      <p:graphicFrame>
        <p:nvGraphicFramePr>
          <p:cNvPr id="251" name="Google Shape;251;g3f754ebd1bb_0_160"/>
          <p:cNvGraphicFramePr/>
          <p:nvPr/>
        </p:nvGraphicFramePr>
        <p:xfrm>
          <a:off x="1013663" y="1261500"/>
          <a:ext cx="3000000" cy="3000000"/>
        </p:xfrm>
        <a:graphic>
          <a:graphicData uri="http://schemas.openxmlformats.org/drawingml/2006/table">
            <a:tbl>
              <a:tblPr>
                <a:noFill/>
                <a:tableStyleId>{1DBC933F-008F-496F-BAA4-78B0700BBBB7}</a:tableStyleId>
              </a:tblPr>
              <a:tblGrid>
                <a:gridCol w="2164500"/>
                <a:gridCol w="4952175"/>
              </a:tblGrid>
              <a:tr h="285750">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Blocking sends</a:t>
                      </a:r>
                      <a:endParaRPr b="1" sz="1300">
                        <a:solidFill>
                          <a:srgbClr val="393938"/>
                        </a:solidFill>
                        <a:latin typeface="Times New Roman"/>
                        <a:ea typeface="Times New Roman"/>
                        <a:cs typeface="Times New Roman"/>
                        <a:sym typeface="Times New Roman"/>
                      </a:endParaRPr>
                    </a:p>
                  </a:txBody>
                  <a:tcPr marT="91425" marB="91425" marR="91425" marL="91425">
                    <a:solidFill>
                      <a:srgbClr val="CCCCCC"/>
                    </a:solidFill>
                  </a:tcPr>
                </a:tc>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MPI_Send(</a:t>
                      </a:r>
                      <a:r>
                        <a:rPr b="1" lang="en-US" sz="1300">
                          <a:solidFill>
                            <a:srgbClr val="FF0000"/>
                          </a:solidFill>
                          <a:latin typeface="Times New Roman"/>
                          <a:ea typeface="Times New Roman"/>
                          <a:cs typeface="Times New Roman"/>
                          <a:sym typeface="Times New Roman"/>
                        </a:rPr>
                        <a:t>buffer</a:t>
                      </a:r>
                      <a:r>
                        <a:rPr b="1" lang="en-US" sz="1300">
                          <a:solidFill>
                            <a:srgbClr val="393938"/>
                          </a:solidFill>
                          <a:latin typeface="Times New Roman"/>
                          <a:ea typeface="Times New Roman"/>
                          <a:cs typeface="Times New Roman"/>
                          <a:sym typeface="Times New Roman"/>
                        </a:rPr>
                        <a:t>, count, type, dest, tag, comm)</a:t>
                      </a:r>
                      <a:endParaRPr b="1" sz="1300">
                        <a:solidFill>
                          <a:srgbClr val="393938"/>
                        </a:solidFill>
                        <a:latin typeface="Times New Roman"/>
                        <a:ea typeface="Times New Roman"/>
                        <a:cs typeface="Times New Roman"/>
                        <a:sym typeface="Times New Roman"/>
                      </a:endParaRPr>
                    </a:p>
                  </a:txBody>
                  <a:tcPr marT="91425" marB="91425" marR="91425" marL="91425">
                    <a:solidFill>
                      <a:srgbClr val="CCCCCC"/>
                    </a:solidFill>
                  </a:tcPr>
                </a:tc>
              </a:tr>
              <a:tr h="285750">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Non-blocking sends</a:t>
                      </a:r>
                      <a:endParaRPr b="1" sz="1300">
                        <a:solidFill>
                          <a:srgbClr val="393938"/>
                        </a:solidFill>
                        <a:latin typeface="Times New Roman"/>
                        <a:ea typeface="Times New Roman"/>
                        <a:cs typeface="Times New Roman"/>
                        <a:sym typeface="Times New Roman"/>
                      </a:endParaRPr>
                    </a:p>
                  </a:txBody>
                  <a:tcPr marT="91425" marB="91425" marR="91425" marL="91425"/>
                </a:tc>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MPI_Isend(</a:t>
                      </a:r>
                      <a:r>
                        <a:rPr b="1" lang="en-US" sz="1300">
                          <a:solidFill>
                            <a:srgbClr val="FF0000"/>
                          </a:solidFill>
                          <a:latin typeface="Times New Roman"/>
                          <a:ea typeface="Times New Roman"/>
                          <a:cs typeface="Times New Roman"/>
                          <a:sym typeface="Times New Roman"/>
                        </a:rPr>
                        <a:t>buffer</a:t>
                      </a:r>
                      <a:r>
                        <a:rPr b="1" lang="en-US" sz="1300">
                          <a:solidFill>
                            <a:srgbClr val="393938"/>
                          </a:solidFill>
                          <a:latin typeface="Times New Roman"/>
                          <a:ea typeface="Times New Roman"/>
                          <a:cs typeface="Times New Roman"/>
                          <a:sym typeface="Times New Roman"/>
                        </a:rPr>
                        <a:t>, count, type, dest, tag, comm, request)</a:t>
                      </a:r>
                      <a:endParaRPr b="1" sz="1300">
                        <a:solidFill>
                          <a:srgbClr val="393938"/>
                        </a:solidFill>
                        <a:latin typeface="Times New Roman"/>
                        <a:ea typeface="Times New Roman"/>
                        <a:cs typeface="Times New Roman"/>
                        <a:sym typeface="Times New Roman"/>
                      </a:endParaRPr>
                    </a:p>
                  </a:txBody>
                  <a:tcPr marT="91425" marB="91425" marR="91425" marL="91425"/>
                </a:tc>
              </a:tr>
              <a:tr h="285750">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Blocking receive</a:t>
                      </a:r>
                      <a:endParaRPr b="1" sz="1300">
                        <a:solidFill>
                          <a:srgbClr val="393938"/>
                        </a:solidFill>
                        <a:latin typeface="Times New Roman"/>
                        <a:ea typeface="Times New Roman"/>
                        <a:cs typeface="Times New Roman"/>
                        <a:sym typeface="Times New Roman"/>
                      </a:endParaRPr>
                    </a:p>
                  </a:txBody>
                  <a:tcPr marT="91425" marB="91425" marR="91425" marL="91425">
                    <a:solidFill>
                      <a:srgbClr val="CCCCCC"/>
                    </a:solidFill>
                  </a:tcPr>
                </a:tc>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MPI_Recv(</a:t>
                      </a:r>
                      <a:r>
                        <a:rPr b="1" lang="en-US" sz="1300">
                          <a:solidFill>
                            <a:srgbClr val="FF0000"/>
                          </a:solidFill>
                          <a:latin typeface="Times New Roman"/>
                          <a:ea typeface="Times New Roman"/>
                          <a:cs typeface="Times New Roman"/>
                          <a:sym typeface="Times New Roman"/>
                        </a:rPr>
                        <a:t>buffer</a:t>
                      </a:r>
                      <a:r>
                        <a:rPr b="1" lang="en-US" sz="1300">
                          <a:solidFill>
                            <a:srgbClr val="393938"/>
                          </a:solidFill>
                          <a:latin typeface="Times New Roman"/>
                          <a:ea typeface="Times New Roman"/>
                          <a:cs typeface="Times New Roman"/>
                          <a:sym typeface="Times New Roman"/>
                        </a:rPr>
                        <a:t>, count, type, source, tag, comm, status)</a:t>
                      </a:r>
                      <a:endParaRPr b="1" sz="1300">
                        <a:solidFill>
                          <a:srgbClr val="393938"/>
                        </a:solidFill>
                        <a:latin typeface="Times New Roman"/>
                        <a:ea typeface="Times New Roman"/>
                        <a:cs typeface="Times New Roman"/>
                        <a:sym typeface="Times New Roman"/>
                      </a:endParaRPr>
                    </a:p>
                  </a:txBody>
                  <a:tcPr marT="91425" marB="91425" marR="91425" marL="91425">
                    <a:solidFill>
                      <a:srgbClr val="CCCCCC"/>
                    </a:solidFill>
                  </a:tcPr>
                </a:tc>
              </a:tr>
              <a:tr h="285750">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Non-blocking receive</a:t>
                      </a:r>
                      <a:endParaRPr b="1" sz="1300">
                        <a:solidFill>
                          <a:srgbClr val="393938"/>
                        </a:solidFill>
                        <a:latin typeface="Times New Roman"/>
                        <a:ea typeface="Times New Roman"/>
                        <a:cs typeface="Times New Roman"/>
                        <a:sym typeface="Times New Roman"/>
                      </a:endParaRPr>
                    </a:p>
                  </a:txBody>
                  <a:tcPr marT="91425" marB="91425" marR="91425" marL="91425"/>
                </a:tc>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MPI_Irecv(</a:t>
                      </a:r>
                      <a:r>
                        <a:rPr b="1" lang="en-US" sz="1300">
                          <a:solidFill>
                            <a:srgbClr val="FF0000"/>
                          </a:solidFill>
                          <a:latin typeface="Times New Roman"/>
                          <a:ea typeface="Times New Roman"/>
                          <a:cs typeface="Times New Roman"/>
                          <a:sym typeface="Times New Roman"/>
                        </a:rPr>
                        <a:t>buffer</a:t>
                      </a:r>
                      <a:r>
                        <a:rPr b="1" lang="en-US" sz="1300">
                          <a:solidFill>
                            <a:srgbClr val="393938"/>
                          </a:solidFill>
                          <a:latin typeface="Times New Roman"/>
                          <a:ea typeface="Times New Roman"/>
                          <a:cs typeface="Times New Roman"/>
                          <a:sym typeface="Times New Roman"/>
                        </a:rPr>
                        <a:t>, count, type, source, tag, comm, request)</a:t>
                      </a:r>
                      <a:endParaRPr b="1" sz="1300">
                        <a:solidFill>
                          <a:srgbClr val="393938"/>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f754ebd1bb_0_170"/>
          <p:cNvSpPr txBox="1"/>
          <p:nvPr>
            <p:ph idx="1" type="body"/>
          </p:nvPr>
        </p:nvSpPr>
        <p:spPr>
          <a:xfrm>
            <a:off x="242850" y="2313000"/>
            <a:ext cx="8658300" cy="20547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t/>
            </a:r>
            <a:endParaRPr sz="1400"/>
          </a:p>
          <a:p>
            <a:pPr indent="0" lvl="0" marL="0" rtl="0" algn="l">
              <a:spcBef>
                <a:spcPts val="480"/>
              </a:spcBef>
              <a:spcAft>
                <a:spcPts val="0"/>
              </a:spcAft>
              <a:buNone/>
            </a:pPr>
            <a:r>
              <a:rPr b="1" lang="en-US" sz="1400"/>
              <a:t>Data Count </a:t>
            </a:r>
            <a:endParaRPr b="1" sz="1400"/>
          </a:p>
          <a:p>
            <a:pPr indent="-317500" lvl="0" marL="457200" rtl="0" algn="l">
              <a:spcBef>
                <a:spcPts val="480"/>
              </a:spcBef>
              <a:spcAft>
                <a:spcPts val="0"/>
              </a:spcAft>
              <a:buSzPts val="1400"/>
              <a:buChar char="▪"/>
            </a:pPr>
            <a:r>
              <a:rPr lang="en-US" sz="1400"/>
              <a:t>Indicates the number of data elements of a particular type to be sent.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rPr b="1" lang="en-US" sz="1400"/>
              <a:t>Data Type </a:t>
            </a:r>
            <a:endParaRPr b="1" sz="1400"/>
          </a:p>
          <a:p>
            <a:pPr indent="-317500" lvl="0" marL="457200" rtl="0" algn="l">
              <a:spcBef>
                <a:spcPts val="480"/>
              </a:spcBef>
              <a:spcAft>
                <a:spcPts val="0"/>
              </a:spcAft>
              <a:buSzPts val="1400"/>
              <a:buChar char="▪"/>
            </a:pPr>
            <a:r>
              <a:rPr lang="en-US" sz="1400"/>
              <a:t>For reasons of portability, MPI pre-defines the allowed data types.</a:t>
            </a:r>
            <a:endParaRPr sz="1400"/>
          </a:p>
          <a:p>
            <a:pPr indent="0" lvl="0" marL="0" rtl="0" algn="l">
              <a:spcBef>
                <a:spcPts val="480"/>
              </a:spcBef>
              <a:spcAft>
                <a:spcPts val="0"/>
              </a:spcAft>
              <a:buNone/>
            </a:pPr>
            <a:r>
              <a:t/>
            </a:r>
            <a:endParaRPr sz="1400"/>
          </a:p>
        </p:txBody>
      </p:sp>
      <p:sp>
        <p:nvSpPr>
          <p:cNvPr id="258" name="Google Shape;258;g3f754ebd1bb_0_170"/>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Point to Point Communication Routines  and Arguments</a:t>
            </a:r>
            <a:endParaRPr b="1"/>
          </a:p>
          <a:p>
            <a:pPr indent="0" lvl="0" marL="0" rtl="0" algn="l">
              <a:spcBef>
                <a:spcPts val="560"/>
              </a:spcBef>
              <a:spcAft>
                <a:spcPts val="0"/>
              </a:spcAft>
              <a:buNone/>
            </a:pPr>
            <a:r>
              <a:t/>
            </a:r>
            <a:endParaRPr b="1"/>
          </a:p>
        </p:txBody>
      </p:sp>
      <p:graphicFrame>
        <p:nvGraphicFramePr>
          <p:cNvPr id="259" name="Google Shape;259;g3f754ebd1bb_0_170"/>
          <p:cNvGraphicFramePr/>
          <p:nvPr/>
        </p:nvGraphicFramePr>
        <p:xfrm>
          <a:off x="979688" y="784550"/>
          <a:ext cx="3000000" cy="3000000"/>
        </p:xfrm>
        <a:graphic>
          <a:graphicData uri="http://schemas.openxmlformats.org/drawingml/2006/table">
            <a:tbl>
              <a:tblPr>
                <a:noFill/>
                <a:tableStyleId>{1DBC933F-008F-496F-BAA4-78B0700BBBB7}</a:tableStyleId>
              </a:tblPr>
              <a:tblGrid>
                <a:gridCol w="2164500"/>
                <a:gridCol w="4952175"/>
              </a:tblGrid>
              <a:tr h="285750">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Blocking sends</a:t>
                      </a:r>
                      <a:endParaRPr b="1" sz="1300">
                        <a:solidFill>
                          <a:srgbClr val="393938"/>
                        </a:solidFill>
                        <a:latin typeface="Times New Roman"/>
                        <a:ea typeface="Times New Roman"/>
                        <a:cs typeface="Times New Roman"/>
                        <a:sym typeface="Times New Roman"/>
                      </a:endParaRPr>
                    </a:p>
                  </a:txBody>
                  <a:tcPr marT="91425" marB="91425" marR="91425" marL="91425">
                    <a:solidFill>
                      <a:srgbClr val="CCCCCC"/>
                    </a:solidFill>
                  </a:tcPr>
                </a:tc>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MPI_Send(buffer, </a:t>
                      </a:r>
                      <a:r>
                        <a:rPr b="1" lang="en-US" sz="1300">
                          <a:solidFill>
                            <a:srgbClr val="FF0000"/>
                          </a:solidFill>
                          <a:latin typeface="Times New Roman"/>
                          <a:ea typeface="Times New Roman"/>
                          <a:cs typeface="Times New Roman"/>
                          <a:sym typeface="Times New Roman"/>
                        </a:rPr>
                        <a:t>count</a:t>
                      </a:r>
                      <a:r>
                        <a:rPr b="1" lang="en-US" sz="1300">
                          <a:solidFill>
                            <a:srgbClr val="393938"/>
                          </a:solidFill>
                          <a:latin typeface="Times New Roman"/>
                          <a:ea typeface="Times New Roman"/>
                          <a:cs typeface="Times New Roman"/>
                          <a:sym typeface="Times New Roman"/>
                        </a:rPr>
                        <a:t>, </a:t>
                      </a:r>
                      <a:r>
                        <a:rPr b="1" lang="en-US" sz="1300">
                          <a:solidFill>
                            <a:srgbClr val="FF0000"/>
                          </a:solidFill>
                          <a:latin typeface="Times New Roman"/>
                          <a:ea typeface="Times New Roman"/>
                          <a:cs typeface="Times New Roman"/>
                          <a:sym typeface="Times New Roman"/>
                        </a:rPr>
                        <a:t>type</a:t>
                      </a:r>
                      <a:r>
                        <a:rPr b="1" lang="en-US" sz="1300">
                          <a:solidFill>
                            <a:srgbClr val="393938"/>
                          </a:solidFill>
                          <a:latin typeface="Times New Roman"/>
                          <a:ea typeface="Times New Roman"/>
                          <a:cs typeface="Times New Roman"/>
                          <a:sym typeface="Times New Roman"/>
                        </a:rPr>
                        <a:t>, dest, tag, comm)</a:t>
                      </a:r>
                      <a:endParaRPr b="1" sz="1300">
                        <a:solidFill>
                          <a:srgbClr val="393938"/>
                        </a:solidFill>
                        <a:latin typeface="Times New Roman"/>
                        <a:ea typeface="Times New Roman"/>
                        <a:cs typeface="Times New Roman"/>
                        <a:sym typeface="Times New Roman"/>
                      </a:endParaRPr>
                    </a:p>
                  </a:txBody>
                  <a:tcPr marT="91425" marB="91425" marR="91425" marL="91425">
                    <a:solidFill>
                      <a:srgbClr val="CCCCCC"/>
                    </a:solidFill>
                  </a:tcPr>
                </a:tc>
              </a:tr>
              <a:tr h="285750">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Non-blocking sends</a:t>
                      </a:r>
                      <a:endParaRPr b="1" sz="1300">
                        <a:solidFill>
                          <a:srgbClr val="393938"/>
                        </a:solidFill>
                        <a:latin typeface="Times New Roman"/>
                        <a:ea typeface="Times New Roman"/>
                        <a:cs typeface="Times New Roman"/>
                        <a:sym typeface="Times New Roman"/>
                      </a:endParaRPr>
                    </a:p>
                  </a:txBody>
                  <a:tcPr marT="91425" marB="91425" marR="91425" marL="91425"/>
                </a:tc>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MPI_Isend(buffer, </a:t>
                      </a:r>
                      <a:r>
                        <a:rPr b="1" lang="en-US" sz="1300">
                          <a:solidFill>
                            <a:srgbClr val="FF0000"/>
                          </a:solidFill>
                          <a:latin typeface="Times New Roman"/>
                          <a:ea typeface="Times New Roman"/>
                          <a:cs typeface="Times New Roman"/>
                          <a:sym typeface="Times New Roman"/>
                        </a:rPr>
                        <a:t>count</a:t>
                      </a:r>
                      <a:r>
                        <a:rPr b="1" lang="en-US" sz="1300">
                          <a:solidFill>
                            <a:srgbClr val="393938"/>
                          </a:solidFill>
                          <a:latin typeface="Times New Roman"/>
                          <a:ea typeface="Times New Roman"/>
                          <a:cs typeface="Times New Roman"/>
                          <a:sym typeface="Times New Roman"/>
                        </a:rPr>
                        <a:t>, </a:t>
                      </a:r>
                      <a:r>
                        <a:rPr b="1" lang="en-US" sz="1300">
                          <a:solidFill>
                            <a:srgbClr val="FF0000"/>
                          </a:solidFill>
                          <a:latin typeface="Times New Roman"/>
                          <a:ea typeface="Times New Roman"/>
                          <a:cs typeface="Times New Roman"/>
                          <a:sym typeface="Times New Roman"/>
                        </a:rPr>
                        <a:t>type</a:t>
                      </a:r>
                      <a:r>
                        <a:rPr b="1" lang="en-US" sz="1300">
                          <a:solidFill>
                            <a:srgbClr val="393938"/>
                          </a:solidFill>
                          <a:latin typeface="Times New Roman"/>
                          <a:ea typeface="Times New Roman"/>
                          <a:cs typeface="Times New Roman"/>
                          <a:sym typeface="Times New Roman"/>
                        </a:rPr>
                        <a:t>, dest, tag, comm, request)</a:t>
                      </a:r>
                      <a:endParaRPr b="1" sz="1300">
                        <a:solidFill>
                          <a:srgbClr val="393938"/>
                        </a:solidFill>
                        <a:latin typeface="Times New Roman"/>
                        <a:ea typeface="Times New Roman"/>
                        <a:cs typeface="Times New Roman"/>
                        <a:sym typeface="Times New Roman"/>
                      </a:endParaRPr>
                    </a:p>
                  </a:txBody>
                  <a:tcPr marT="91425" marB="91425" marR="91425" marL="91425"/>
                </a:tc>
              </a:tr>
              <a:tr h="285750">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Blocking receive</a:t>
                      </a:r>
                      <a:endParaRPr b="1" sz="1300">
                        <a:solidFill>
                          <a:srgbClr val="393938"/>
                        </a:solidFill>
                        <a:latin typeface="Times New Roman"/>
                        <a:ea typeface="Times New Roman"/>
                        <a:cs typeface="Times New Roman"/>
                        <a:sym typeface="Times New Roman"/>
                      </a:endParaRPr>
                    </a:p>
                  </a:txBody>
                  <a:tcPr marT="91425" marB="91425" marR="91425" marL="91425">
                    <a:solidFill>
                      <a:srgbClr val="CCCCCC"/>
                    </a:solidFill>
                  </a:tcPr>
                </a:tc>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MPI_Recv(buffer, </a:t>
                      </a:r>
                      <a:r>
                        <a:rPr b="1" lang="en-US" sz="1300">
                          <a:solidFill>
                            <a:srgbClr val="FF0000"/>
                          </a:solidFill>
                          <a:latin typeface="Times New Roman"/>
                          <a:ea typeface="Times New Roman"/>
                          <a:cs typeface="Times New Roman"/>
                          <a:sym typeface="Times New Roman"/>
                        </a:rPr>
                        <a:t>count</a:t>
                      </a:r>
                      <a:r>
                        <a:rPr b="1" lang="en-US" sz="1300">
                          <a:solidFill>
                            <a:srgbClr val="393938"/>
                          </a:solidFill>
                          <a:latin typeface="Times New Roman"/>
                          <a:ea typeface="Times New Roman"/>
                          <a:cs typeface="Times New Roman"/>
                          <a:sym typeface="Times New Roman"/>
                        </a:rPr>
                        <a:t>, </a:t>
                      </a:r>
                      <a:r>
                        <a:rPr b="1" lang="en-US" sz="1300">
                          <a:solidFill>
                            <a:srgbClr val="FF0000"/>
                          </a:solidFill>
                          <a:latin typeface="Times New Roman"/>
                          <a:ea typeface="Times New Roman"/>
                          <a:cs typeface="Times New Roman"/>
                          <a:sym typeface="Times New Roman"/>
                        </a:rPr>
                        <a:t>type</a:t>
                      </a:r>
                      <a:r>
                        <a:rPr b="1" lang="en-US" sz="1300">
                          <a:solidFill>
                            <a:srgbClr val="393938"/>
                          </a:solidFill>
                          <a:latin typeface="Times New Roman"/>
                          <a:ea typeface="Times New Roman"/>
                          <a:cs typeface="Times New Roman"/>
                          <a:sym typeface="Times New Roman"/>
                        </a:rPr>
                        <a:t>, source, tag, comm, status)</a:t>
                      </a:r>
                      <a:endParaRPr b="1" sz="1300">
                        <a:solidFill>
                          <a:srgbClr val="393938"/>
                        </a:solidFill>
                        <a:latin typeface="Times New Roman"/>
                        <a:ea typeface="Times New Roman"/>
                        <a:cs typeface="Times New Roman"/>
                        <a:sym typeface="Times New Roman"/>
                      </a:endParaRPr>
                    </a:p>
                  </a:txBody>
                  <a:tcPr marT="91425" marB="91425" marR="91425" marL="91425">
                    <a:solidFill>
                      <a:srgbClr val="CCCCCC"/>
                    </a:solidFill>
                  </a:tcPr>
                </a:tc>
              </a:tr>
              <a:tr h="285750">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Non-blocking receive</a:t>
                      </a:r>
                      <a:endParaRPr b="1" sz="1300">
                        <a:solidFill>
                          <a:srgbClr val="393938"/>
                        </a:solidFill>
                        <a:latin typeface="Times New Roman"/>
                        <a:ea typeface="Times New Roman"/>
                        <a:cs typeface="Times New Roman"/>
                        <a:sym typeface="Times New Roman"/>
                      </a:endParaRPr>
                    </a:p>
                  </a:txBody>
                  <a:tcPr marT="91425" marB="91425" marR="91425" marL="91425"/>
                </a:tc>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MPI_Irecv(buffer, </a:t>
                      </a:r>
                      <a:r>
                        <a:rPr b="1" lang="en-US" sz="1300">
                          <a:solidFill>
                            <a:srgbClr val="FF0000"/>
                          </a:solidFill>
                          <a:latin typeface="Times New Roman"/>
                          <a:ea typeface="Times New Roman"/>
                          <a:cs typeface="Times New Roman"/>
                          <a:sym typeface="Times New Roman"/>
                        </a:rPr>
                        <a:t>count</a:t>
                      </a:r>
                      <a:r>
                        <a:rPr b="1" lang="en-US" sz="1300">
                          <a:solidFill>
                            <a:srgbClr val="393938"/>
                          </a:solidFill>
                          <a:latin typeface="Times New Roman"/>
                          <a:ea typeface="Times New Roman"/>
                          <a:cs typeface="Times New Roman"/>
                          <a:sym typeface="Times New Roman"/>
                        </a:rPr>
                        <a:t>, </a:t>
                      </a:r>
                      <a:r>
                        <a:rPr b="1" lang="en-US" sz="1300">
                          <a:solidFill>
                            <a:srgbClr val="FF0000"/>
                          </a:solidFill>
                          <a:latin typeface="Times New Roman"/>
                          <a:ea typeface="Times New Roman"/>
                          <a:cs typeface="Times New Roman"/>
                          <a:sym typeface="Times New Roman"/>
                        </a:rPr>
                        <a:t>type</a:t>
                      </a:r>
                      <a:r>
                        <a:rPr b="1" lang="en-US" sz="1300">
                          <a:solidFill>
                            <a:srgbClr val="393938"/>
                          </a:solidFill>
                          <a:latin typeface="Times New Roman"/>
                          <a:ea typeface="Times New Roman"/>
                          <a:cs typeface="Times New Roman"/>
                          <a:sym typeface="Times New Roman"/>
                        </a:rPr>
                        <a:t>, source, tag, comm, request)</a:t>
                      </a:r>
                      <a:endParaRPr b="1" sz="1300">
                        <a:solidFill>
                          <a:srgbClr val="393938"/>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fac13c8a26_1_45"/>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Point to Point Communication Routines  and Arguments</a:t>
            </a:r>
            <a:endParaRPr b="1"/>
          </a:p>
          <a:p>
            <a:pPr indent="0" lvl="0" marL="0" rtl="0" algn="l">
              <a:spcBef>
                <a:spcPts val="560"/>
              </a:spcBef>
              <a:spcAft>
                <a:spcPts val="0"/>
              </a:spcAft>
              <a:buNone/>
            </a:pPr>
            <a:r>
              <a:t/>
            </a:r>
            <a:endParaRPr b="1"/>
          </a:p>
        </p:txBody>
      </p:sp>
      <p:graphicFrame>
        <p:nvGraphicFramePr>
          <p:cNvPr id="266" name="Google Shape;266;g3fac13c8a26_1_45"/>
          <p:cNvGraphicFramePr/>
          <p:nvPr/>
        </p:nvGraphicFramePr>
        <p:xfrm>
          <a:off x="886288" y="1871300"/>
          <a:ext cx="3000000" cy="3000000"/>
        </p:xfrm>
        <a:graphic>
          <a:graphicData uri="http://schemas.openxmlformats.org/drawingml/2006/table">
            <a:tbl>
              <a:tblPr>
                <a:noFill/>
                <a:tableStyleId>{1DBC933F-008F-496F-BAA4-78B0700BBBB7}</a:tableStyleId>
              </a:tblPr>
              <a:tblGrid>
                <a:gridCol w="2164500"/>
                <a:gridCol w="4952175"/>
              </a:tblGrid>
              <a:tr h="285750">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Blocking sends</a:t>
                      </a:r>
                      <a:endParaRPr b="1" sz="1300">
                        <a:solidFill>
                          <a:srgbClr val="393938"/>
                        </a:solidFill>
                        <a:latin typeface="Times New Roman"/>
                        <a:ea typeface="Times New Roman"/>
                        <a:cs typeface="Times New Roman"/>
                        <a:sym typeface="Times New Roman"/>
                      </a:endParaRPr>
                    </a:p>
                  </a:txBody>
                  <a:tcPr marT="91425" marB="91425" marR="91425" marL="91425">
                    <a:solidFill>
                      <a:srgbClr val="CCCCCC"/>
                    </a:solidFill>
                  </a:tcPr>
                </a:tc>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MPI_Send(buffer, count, type, </a:t>
                      </a:r>
                      <a:r>
                        <a:rPr b="1" lang="en-US" sz="1300">
                          <a:solidFill>
                            <a:srgbClr val="FF0000"/>
                          </a:solidFill>
                          <a:latin typeface="Times New Roman"/>
                          <a:ea typeface="Times New Roman"/>
                          <a:cs typeface="Times New Roman"/>
                          <a:sym typeface="Times New Roman"/>
                        </a:rPr>
                        <a:t>dest, tag,</a:t>
                      </a:r>
                      <a:r>
                        <a:rPr b="1" lang="en-US" sz="1300">
                          <a:solidFill>
                            <a:srgbClr val="434343"/>
                          </a:solidFill>
                          <a:latin typeface="Times New Roman"/>
                          <a:ea typeface="Times New Roman"/>
                          <a:cs typeface="Times New Roman"/>
                          <a:sym typeface="Times New Roman"/>
                        </a:rPr>
                        <a:t> comm)</a:t>
                      </a:r>
                      <a:endParaRPr b="1" sz="1300">
                        <a:solidFill>
                          <a:srgbClr val="434343"/>
                        </a:solidFill>
                        <a:latin typeface="Times New Roman"/>
                        <a:ea typeface="Times New Roman"/>
                        <a:cs typeface="Times New Roman"/>
                        <a:sym typeface="Times New Roman"/>
                      </a:endParaRPr>
                    </a:p>
                  </a:txBody>
                  <a:tcPr marT="91425" marB="91425" marR="91425" marL="91425">
                    <a:solidFill>
                      <a:srgbClr val="CCCCCC"/>
                    </a:solidFill>
                  </a:tcPr>
                </a:tc>
              </a:tr>
              <a:tr h="285750">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Non-blocking sends</a:t>
                      </a:r>
                      <a:endParaRPr b="1" sz="1300">
                        <a:solidFill>
                          <a:srgbClr val="393938"/>
                        </a:solidFill>
                        <a:latin typeface="Times New Roman"/>
                        <a:ea typeface="Times New Roman"/>
                        <a:cs typeface="Times New Roman"/>
                        <a:sym typeface="Times New Roman"/>
                      </a:endParaRPr>
                    </a:p>
                  </a:txBody>
                  <a:tcPr marT="91425" marB="91425" marR="91425" marL="91425"/>
                </a:tc>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MPI_Isend(buffer, count, type, </a:t>
                      </a:r>
                      <a:r>
                        <a:rPr b="1" lang="en-US" sz="1300">
                          <a:solidFill>
                            <a:srgbClr val="FF0000"/>
                          </a:solidFill>
                          <a:latin typeface="Times New Roman"/>
                          <a:ea typeface="Times New Roman"/>
                          <a:cs typeface="Times New Roman"/>
                          <a:sym typeface="Times New Roman"/>
                        </a:rPr>
                        <a:t>dest, tag,</a:t>
                      </a:r>
                      <a:r>
                        <a:rPr b="1" lang="en-US" sz="1300">
                          <a:solidFill>
                            <a:srgbClr val="434343"/>
                          </a:solidFill>
                          <a:latin typeface="Times New Roman"/>
                          <a:ea typeface="Times New Roman"/>
                          <a:cs typeface="Times New Roman"/>
                          <a:sym typeface="Times New Roman"/>
                        </a:rPr>
                        <a:t> comm, request)</a:t>
                      </a:r>
                      <a:endParaRPr b="1" sz="1300">
                        <a:solidFill>
                          <a:srgbClr val="434343"/>
                        </a:solidFill>
                        <a:latin typeface="Times New Roman"/>
                        <a:ea typeface="Times New Roman"/>
                        <a:cs typeface="Times New Roman"/>
                        <a:sym typeface="Times New Roman"/>
                      </a:endParaRPr>
                    </a:p>
                  </a:txBody>
                  <a:tcPr marT="91425" marB="91425" marR="91425" marL="91425"/>
                </a:tc>
              </a:tr>
              <a:tr h="285750">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Blocking receive</a:t>
                      </a:r>
                      <a:endParaRPr b="1" sz="1300">
                        <a:solidFill>
                          <a:srgbClr val="393938"/>
                        </a:solidFill>
                        <a:latin typeface="Times New Roman"/>
                        <a:ea typeface="Times New Roman"/>
                        <a:cs typeface="Times New Roman"/>
                        <a:sym typeface="Times New Roman"/>
                      </a:endParaRPr>
                    </a:p>
                  </a:txBody>
                  <a:tcPr marT="91425" marB="91425" marR="91425" marL="91425">
                    <a:solidFill>
                      <a:srgbClr val="CCCCCC"/>
                    </a:solidFill>
                  </a:tcPr>
                </a:tc>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MPI_Recv(buffer, count, type, </a:t>
                      </a:r>
                      <a:r>
                        <a:rPr b="1" lang="en-US" sz="1300">
                          <a:solidFill>
                            <a:srgbClr val="FF0000"/>
                          </a:solidFill>
                          <a:latin typeface="Times New Roman"/>
                          <a:ea typeface="Times New Roman"/>
                          <a:cs typeface="Times New Roman"/>
                          <a:sym typeface="Times New Roman"/>
                        </a:rPr>
                        <a:t>source, tag,</a:t>
                      </a:r>
                      <a:r>
                        <a:rPr b="1" lang="en-US" sz="1300">
                          <a:solidFill>
                            <a:srgbClr val="434343"/>
                          </a:solidFill>
                          <a:latin typeface="Times New Roman"/>
                          <a:ea typeface="Times New Roman"/>
                          <a:cs typeface="Times New Roman"/>
                          <a:sym typeface="Times New Roman"/>
                        </a:rPr>
                        <a:t> comm, status)</a:t>
                      </a:r>
                      <a:endParaRPr b="1" sz="1300">
                        <a:solidFill>
                          <a:srgbClr val="434343"/>
                        </a:solidFill>
                        <a:latin typeface="Times New Roman"/>
                        <a:ea typeface="Times New Roman"/>
                        <a:cs typeface="Times New Roman"/>
                        <a:sym typeface="Times New Roman"/>
                      </a:endParaRPr>
                    </a:p>
                  </a:txBody>
                  <a:tcPr marT="91425" marB="91425" marR="91425" marL="91425">
                    <a:solidFill>
                      <a:srgbClr val="CCCCCC"/>
                    </a:solidFill>
                  </a:tcPr>
                </a:tc>
              </a:tr>
              <a:tr h="285750">
                <a:tc>
                  <a:txBody>
                    <a:bodyPr/>
                    <a:lstStyle/>
                    <a:p>
                      <a:pPr indent="0" lvl="0" marL="342900" rtl="0" algn="l">
                        <a:lnSpc>
                          <a:spcPct val="115000"/>
                        </a:lnSpc>
                        <a:spcBef>
                          <a:spcPts val="0"/>
                        </a:spcBef>
                        <a:spcAft>
                          <a:spcPts val="0"/>
                        </a:spcAft>
                        <a:buNone/>
                      </a:pPr>
                      <a:r>
                        <a:rPr b="1" lang="en-US" sz="1300">
                          <a:solidFill>
                            <a:srgbClr val="393938"/>
                          </a:solidFill>
                          <a:latin typeface="Times New Roman"/>
                          <a:ea typeface="Times New Roman"/>
                          <a:cs typeface="Times New Roman"/>
                          <a:sym typeface="Times New Roman"/>
                        </a:rPr>
                        <a:t>Non-blocking receive</a:t>
                      </a:r>
                      <a:endParaRPr b="1" sz="1300">
                        <a:solidFill>
                          <a:srgbClr val="393938"/>
                        </a:solidFill>
                        <a:latin typeface="Times New Roman"/>
                        <a:ea typeface="Times New Roman"/>
                        <a:cs typeface="Times New Roman"/>
                        <a:sym typeface="Times New Roman"/>
                      </a:endParaRPr>
                    </a:p>
                  </a:txBody>
                  <a:tcPr marT="91425" marB="91425" marR="91425" marL="91425"/>
                </a:tc>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MPI_Irecv(buffer, count, type, </a:t>
                      </a:r>
                      <a:r>
                        <a:rPr b="1" lang="en-US" sz="1300">
                          <a:solidFill>
                            <a:srgbClr val="FF0000"/>
                          </a:solidFill>
                          <a:latin typeface="Times New Roman"/>
                          <a:ea typeface="Times New Roman"/>
                          <a:cs typeface="Times New Roman"/>
                          <a:sym typeface="Times New Roman"/>
                        </a:rPr>
                        <a:t>source, tag,</a:t>
                      </a:r>
                      <a:r>
                        <a:rPr b="1" lang="en-US" sz="1300">
                          <a:solidFill>
                            <a:srgbClr val="434343"/>
                          </a:solidFill>
                          <a:latin typeface="Times New Roman"/>
                          <a:ea typeface="Times New Roman"/>
                          <a:cs typeface="Times New Roman"/>
                          <a:sym typeface="Times New Roman"/>
                        </a:rPr>
                        <a:t> comm, request)</a:t>
                      </a:r>
                      <a:endParaRPr b="1" sz="1300">
                        <a:solidFill>
                          <a:srgbClr val="434343"/>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f754ebd1bb_0_176"/>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t>Destination </a:t>
            </a:r>
            <a:endParaRPr b="1" sz="1400"/>
          </a:p>
          <a:p>
            <a:pPr indent="-317500" lvl="0" marL="457200" rtl="0" algn="l">
              <a:spcBef>
                <a:spcPts val="480"/>
              </a:spcBef>
              <a:spcAft>
                <a:spcPts val="0"/>
              </a:spcAft>
              <a:buSzPts val="1400"/>
              <a:buChar char="▪"/>
            </a:pPr>
            <a:r>
              <a:rPr lang="en-US" sz="1400"/>
              <a:t>An argument to send routines that indicates the process where a message should be delivered. </a:t>
            </a:r>
            <a:r>
              <a:rPr lang="en-US" sz="1400">
                <a:solidFill>
                  <a:srgbClr val="FF0000"/>
                </a:solidFill>
              </a:rPr>
              <a:t>Specified as the rank of the receiving process</a:t>
            </a:r>
            <a:r>
              <a:rPr lang="en-US" sz="1400"/>
              <a:t>. </a:t>
            </a:r>
            <a:endParaRPr sz="1400"/>
          </a:p>
          <a:p>
            <a:pPr indent="0" lvl="0" marL="0" rtl="0" algn="l">
              <a:spcBef>
                <a:spcPts val="1000"/>
              </a:spcBef>
              <a:spcAft>
                <a:spcPts val="0"/>
              </a:spcAft>
              <a:buNone/>
            </a:pPr>
            <a:r>
              <a:rPr b="1" lang="en-US" sz="1400"/>
              <a:t>Source </a:t>
            </a:r>
            <a:endParaRPr b="1" sz="1400"/>
          </a:p>
          <a:p>
            <a:pPr indent="-317500" lvl="0" marL="457200" rtl="0" algn="l">
              <a:spcBef>
                <a:spcPts val="480"/>
              </a:spcBef>
              <a:spcAft>
                <a:spcPts val="0"/>
              </a:spcAft>
              <a:buSzPts val="1400"/>
              <a:buChar char="▪"/>
            </a:pPr>
            <a:r>
              <a:rPr lang="en-US" sz="1400"/>
              <a:t>An argument to receive routines that indicates the originating process of the message. </a:t>
            </a:r>
            <a:r>
              <a:rPr lang="en-US" sz="1400">
                <a:solidFill>
                  <a:srgbClr val="FF0000"/>
                </a:solidFill>
              </a:rPr>
              <a:t>Specified as the rank of the sending process. </a:t>
            </a:r>
            <a:r>
              <a:rPr lang="en-US" sz="1400"/>
              <a:t>This may be set to the wild card MPI_ANY_SOURCE to receive a message from any task. </a:t>
            </a:r>
            <a:endParaRPr sz="1400"/>
          </a:p>
          <a:p>
            <a:pPr indent="0" lvl="0" marL="0" rtl="0" algn="l">
              <a:spcBef>
                <a:spcPts val="1000"/>
              </a:spcBef>
              <a:spcAft>
                <a:spcPts val="0"/>
              </a:spcAft>
              <a:buNone/>
            </a:pPr>
            <a:r>
              <a:rPr b="1" lang="en-US" sz="1400"/>
              <a:t>Tag </a:t>
            </a:r>
            <a:endParaRPr b="1" sz="1400"/>
          </a:p>
          <a:p>
            <a:pPr indent="-317500" lvl="0" marL="457200" rtl="0" algn="l">
              <a:spcBef>
                <a:spcPts val="480"/>
              </a:spcBef>
              <a:spcAft>
                <a:spcPts val="0"/>
              </a:spcAft>
              <a:buSzPts val="1400"/>
              <a:buChar char="▪"/>
            </a:pPr>
            <a:r>
              <a:rPr lang="en-US" sz="1400"/>
              <a:t>Arbitrary non-negative integer assigned by the programmer to uniquely identify a message. Send and receive operations should match message tags. For a receive operation, the wild card MPI_ANY_TAG can be used to receive any message regardless of its tag. </a:t>
            </a:r>
            <a:endParaRPr sz="1400"/>
          </a:p>
          <a:p>
            <a:pPr indent="-317500" lvl="0" marL="457200" rtl="0" algn="l">
              <a:spcBef>
                <a:spcPts val="0"/>
              </a:spcBef>
              <a:spcAft>
                <a:spcPts val="0"/>
              </a:spcAft>
              <a:buSzPts val="1400"/>
              <a:buChar char="▪"/>
            </a:pPr>
            <a:r>
              <a:rPr lang="en-US" sz="1400"/>
              <a:t>The MPI standard guarantees that integers 0-32767 can be used as tags, but most implementations allow a much larger range than this.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p:txBody>
      </p:sp>
      <p:sp>
        <p:nvSpPr>
          <p:cNvPr id="273" name="Google Shape;273;g3f754ebd1bb_0_176"/>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MPI Message Passing Routine Arguments</a:t>
            </a:r>
            <a:endParaRPr b="1"/>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fac13c8a26_1_52"/>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Point to Point Communication Routines  and Arguments</a:t>
            </a:r>
            <a:endParaRPr b="1"/>
          </a:p>
          <a:p>
            <a:pPr indent="0" lvl="0" marL="0" rtl="0" algn="l">
              <a:spcBef>
                <a:spcPts val="560"/>
              </a:spcBef>
              <a:spcAft>
                <a:spcPts val="0"/>
              </a:spcAft>
              <a:buNone/>
            </a:pPr>
            <a:r>
              <a:t/>
            </a:r>
            <a:endParaRPr b="1"/>
          </a:p>
        </p:txBody>
      </p:sp>
      <p:graphicFrame>
        <p:nvGraphicFramePr>
          <p:cNvPr id="280" name="Google Shape;280;g3fac13c8a26_1_52"/>
          <p:cNvGraphicFramePr/>
          <p:nvPr/>
        </p:nvGraphicFramePr>
        <p:xfrm>
          <a:off x="928738" y="1007500"/>
          <a:ext cx="3000000" cy="3000000"/>
        </p:xfrm>
        <a:graphic>
          <a:graphicData uri="http://schemas.openxmlformats.org/drawingml/2006/table">
            <a:tbl>
              <a:tblPr>
                <a:noFill/>
                <a:tableStyleId>{1DBC933F-008F-496F-BAA4-78B0700BBBB7}</a:tableStyleId>
              </a:tblPr>
              <a:tblGrid>
                <a:gridCol w="2164500"/>
                <a:gridCol w="4952175"/>
              </a:tblGrid>
              <a:tr h="285750">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Blocking sends</a:t>
                      </a:r>
                      <a:endParaRPr b="1" sz="1300">
                        <a:solidFill>
                          <a:srgbClr val="434343"/>
                        </a:solidFill>
                        <a:latin typeface="Times New Roman"/>
                        <a:ea typeface="Times New Roman"/>
                        <a:cs typeface="Times New Roman"/>
                        <a:sym typeface="Times New Roman"/>
                      </a:endParaRPr>
                    </a:p>
                  </a:txBody>
                  <a:tcPr marT="91425" marB="91425" marR="91425" marL="91425">
                    <a:solidFill>
                      <a:srgbClr val="CCCCCC"/>
                    </a:solidFill>
                  </a:tcPr>
                </a:tc>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MPI_Send(buffer, count, type, dest, tag, </a:t>
                      </a:r>
                      <a:r>
                        <a:rPr b="1" lang="en-US" sz="1300">
                          <a:solidFill>
                            <a:srgbClr val="FF0000"/>
                          </a:solidFill>
                          <a:latin typeface="Times New Roman"/>
                          <a:ea typeface="Times New Roman"/>
                          <a:cs typeface="Times New Roman"/>
                          <a:sym typeface="Times New Roman"/>
                        </a:rPr>
                        <a:t>comm</a:t>
                      </a:r>
                      <a:r>
                        <a:rPr b="1" lang="en-US" sz="1300">
                          <a:solidFill>
                            <a:srgbClr val="434343"/>
                          </a:solidFill>
                          <a:latin typeface="Times New Roman"/>
                          <a:ea typeface="Times New Roman"/>
                          <a:cs typeface="Times New Roman"/>
                          <a:sym typeface="Times New Roman"/>
                        </a:rPr>
                        <a:t>)</a:t>
                      </a:r>
                      <a:endParaRPr b="1" sz="1300">
                        <a:solidFill>
                          <a:srgbClr val="434343"/>
                        </a:solidFill>
                        <a:latin typeface="Times New Roman"/>
                        <a:ea typeface="Times New Roman"/>
                        <a:cs typeface="Times New Roman"/>
                        <a:sym typeface="Times New Roman"/>
                      </a:endParaRPr>
                    </a:p>
                  </a:txBody>
                  <a:tcPr marT="91425" marB="91425" marR="91425" marL="91425">
                    <a:solidFill>
                      <a:srgbClr val="CCCCCC"/>
                    </a:solidFill>
                  </a:tcPr>
                </a:tc>
              </a:tr>
              <a:tr h="285750">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Non-blocking sends</a:t>
                      </a:r>
                      <a:endParaRPr b="1" sz="1300">
                        <a:solidFill>
                          <a:srgbClr val="434343"/>
                        </a:solidFill>
                        <a:latin typeface="Times New Roman"/>
                        <a:ea typeface="Times New Roman"/>
                        <a:cs typeface="Times New Roman"/>
                        <a:sym typeface="Times New Roman"/>
                      </a:endParaRPr>
                    </a:p>
                  </a:txBody>
                  <a:tcPr marT="91425" marB="91425" marR="91425" marL="91425"/>
                </a:tc>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MPI_Isend(buffer, count, type, dest, tag, </a:t>
                      </a:r>
                      <a:r>
                        <a:rPr b="1" lang="en-US" sz="1300">
                          <a:solidFill>
                            <a:srgbClr val="FF0000"/>
                          </a:solidFill>
                          <a:latin typeface="Times New Roman"/>
                          <a:ea typeface="Times New Roman"/>
                          <a:cs typeface="Times New Roman"/>
                          <a:sym typeface="Times New Roman"/>
                        </a:rPr>
                        <a:t>comm</a:t>
                      </a:r>
                      <a:r>
                        <a:rPr b="1" lang="en-US" sz="1300">
                          <a:solidFill>
                            <a:srgbClr val="434343"/>
                          </a:solidFill>
                          <a:latin typeface="Times New Roman"/>
                          <a:ea typeface="Times New Roman"/>
                          <a:cs typeface="Times New Roman"/>
                          <a:sym typeface="Times New Roman"/>
                        </a:rPr>
                        <a:t>, request)</a:t>
                      </a:r>
                      <a:endParaRPr b="1" sz="1300">
                        <a:solidFill>
                          <a:srgbClr val="434343"/>
                        </a:solidFill>
                        <a:latin typeface="Times New Roman"/>
                        <a:ea typeface="Times New Roman"/>
                        <a:cs typeface="Times New Roman"/>
                        <a:sym typeface="Times New Roman"/>
                      </a:endParaRPr>
                    </a:p>
                  </a:txBody>
                  <a:tcPr marT="91425" marB="91425" marR="91425" marL="91425"/>
                </a:tc>
              </a:tr>
              <a:tr h="285750">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Blocking receive</a:t>
                      </a:r>
                      <a:endParaRPr b="1" sz="1300">
                        <a:solidFill>
                          <a:srgbClr val="434343"/>
                        </a:solidFill>
                        <a:latin typeface="Times New Roman"/>
                        <a:ea typeface="Times New Roman"/>
                        <a:cs typeface="Times New Roman"/>
                        <a:sym typeface="Times New Roman"/>
                      </a:endParaRPr>
                    </a:p>
                  </a:txBody>
                  <a:tcPr marT="91425" marB="91425" marR="91425" marL="91425">
                    <a:solidFill>
                      <a:srgbClr val="CCCCCC"/>
                    </a:solidFill>
                  </a:tcPr>
                </a:tc>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MPI_Recv(buffer, count, type, source, tag, </a:t>
                      </a:r>
                      <a:r>
                        <a:rPr b="1" lang="en-US" sz="1300">
                          <a:solidFill>
                            <a:srgbClr val="FF0000"/>
                          </a:solidFill>
                          <a:latin typeface="Times New Roman"/>
                          <a:ea typeface="Times New Roman"/>
                          <a:cs typeface="Times New Roman"/>
                          <a:sym typeface="Times New Roman"/>
                        </a:rPr>
                        <a:t>comm</a:t>
                      </a:r>
                      <a:r>
                        <a:rPr b="1" lang="en-US" sz="1300">
                          <a:solidFill>
                            <a:srgbClr val="434343"/>
                          </a:solidFill>
                          <a:latin typeface="Times New Roman"/>
                          <a:ea typeface="Times New Roman"/>
                          <a:cs typeface="Times New Roman"/>
                          <a:sym typeface="Times New Roman"/>
                        </a:rPr>
                        <a:t>, status)</a:t>
                      </a:r>
                      <a:endParaRPr b="1" sz="1300">
                        <a:solidFill>
                          <a:srgbClr val="434343"/>
                        </a:solidFill>
                        <a:latin typeface="Times New Roman"/>
                        <a:ea typeface="Times New Roman"/>
                        <a:cs typeface="Times New Roman"/>
                        <a:sym typeface="Times New Roman"/>
                      </a:endParaRPr>
                    </a:p>
                  </a:txBody>
                  <a:tcPr marT="91425" marB="91425" marR="91425" marL="91425">
                    <a:solidFill>
                      <a:srgbClr val="CCCCCC"/>
                    </a:solidFill>
                  </a:tcPr>
                </a:tc>
              </a:tr>
              <a:tr h="285750">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Non-blocking receive</a:t>
                      </a:r>
                      <a:endParaRPr b="1" sz="1300">
                        <a:solidFill>
                          <a:srgbClr val="434343"/>
                        </a:solidFill>
                        <a:latin typeface="Times New Roman"/>
                        <a:ea typeface="Times New Roman"/>
                        <a:cs typeface="Times New Roman"/>
                        <a:sym typeface="Times New Roman"/>
                      </a:endParaRPr>
                    </a:p>
                  </a:txBody>
                  <a:tcPr marT="91425" marB="91425" marR="91425" marL="91425"/>
                </a:tc>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MPI_Irecv(buffer, count, type, source, tag, </a:t>
                      </a:r>
                      <a:r>
                        <a:rPr b="1" lang="en-US" sz="1300">
                          <a:solidFill>
                            <a:srgbClr val="FF0000"/>
                          </a:solidFill>
                          <a:latin typeface="Times New Roman"/>
                          <a:ea typeface="Times New Roman"/>
                          <a:cs typeface="Times New Roman"/>
                          <a:sym typeface="Times New Roman"/>
                        </a:rPr>
                        <a:t>comm</a:t>
                      </a:r>
                      <a:r>
                        <a:rPr b="1" lang="en-US" sz="1300">
                          <a:solidFill>
                            <a:srgbClr val="434343"/>
                          </a:solidFill>
                          <a:latin typeface="Times New Roman"/>
                          <a:ea typeface="Times New Roman"/>
                          <a:cs typeface="Times New Roman"/>
                          <a:sym typeface="Times New Roman"/>
                        </a:rPr>
                        <a:t>, request)</a:t>
                      </a:r>
                      <a:endParaRPr b="1" sz="1300">
                        <a:solidFill>
                          <a:srgbClr val="434343"/>
                        </a:solidFill>
                        <a:latin typeface="Times New Roman"/>
                        <a:ea typeface="Times New Roman"/>
                        <a:cs typeface="Times New Roman"/>
                        <a:sym typeface="Times New Roman"/>
                      </a:endParaRPr>
                    </a:p>
                  </a:txBody>
                  <a:tcPr marT="91425" marB="91425" marR="91425" marL="91425"/>
                </a:tc>
              </a:tr>
            </a:tbl>
          </a:graphicData>
        </a:graphic>
      </p:graphicFrame>
      <p:sp>
        <p:nvSpPr>
          <p:cNvPr id="281" name="Google Shape;281;g3fac13c8a26_1_52"/>
          <p:cNvSpPr txBox="1"/>
          <p:nvPr>
            <p:ph idx="1" type="body"/>
          </p:nvPr>
        </p:nvSpPr>
        <p:spPr>
          <a:xfrm>
            <a:off x="270675" y="3012027"/>
            <a:ext cx="8658300" cy="14679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t>Communicator </a:t>
            </a:r>
            <a:endParaRPr sz="1400"/>
          </a:p>
          <a:p>
            <a:pPr indent="-317500" lvl="0" marL="457200" rtl="0" algn="l">
              <a:spcBef>
                <a:spcPts val="480"/>
              </a:spcBef>
              <a:spcAft>
                <a:spcPts val="0"/>
              </a:spcAft>
              <a:buSzPts val="1400"/>
              <a:buChar char="▪"/>
            </a:pPr>
            <a:r>
              <a:rPr lang="en-US" sz="1400"/>
              <a:t>Indicates the communication context, or set of processes for which the source or destination fields are valid. </a:t>
            </a:r>
            <a:endParaRPr sz="1400"/>
          </a:p>
          <a:p>
            <a:pPr indent="-317500" lvl="0" marL="457200" rtl="0" algn="l">
              <a:spcBef>
                <a:spcPts val="1000"/>
              </a:spcBef>
              <a:spcAft>
                <a:spcPts val="0"/>
              </a:spcAft>
              <a:buSzPts val="1400"/>
              <a:buChar char="▪"/>
            </a:pPr>
            <a:r>
              <a:rPr lang="en-US" sz="1400"/>
              <a:t>Unless the programmer is explicitly creating new communicators, the predefined communicator MPI_COMM_WORLD is commonly used. </a:t>
            </a:r>
            <a:endParaRPr sz="1400"/>
          </a:p>
          <a:p>
            <a:pPr indent="0" lvl="0" marL="0" rtl="0" algn="l">
              <a:spcBef>
                <a:spcPts val="1000"/>
              </a:spcBef>
              <a:spcAft>
                <a:spcPts val="0"/>
              </a:spcAft>
              <a:buNone/>
            </a:pPr>
            <a:r>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3fac13c8a26_1_58"/>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Point to Point Communication Routines  and Arguments</a:t>
            </a:r>
            <a:endParaRPr b="1"/>
          </a:p>
          <a:p>
            <a:pPr indent="0" lvl="0" marL="0" rtl="0" algn="l">
              <a:spcBef>
                <a:spcPts val="560"/>
              </a:spcBef>
              <a:spcAft>
                <a:spcPts val="0"/>
              </a:spcAft>
              <a:buNone/>
            </a:pPr>
            <a:r>
              <a:t/>
            </a:r>
            <a:endParaRPr b="1"/>
          </a:p>
        </p:txBody>
      </p:sp>
      <p:graphicFrame>
        <p:nvGraphicFramePr>
          <p:cNvPr id="288" name="Google Shape;288;g3fac13c8a26_1_58"/>
          <p:cNvGraphicFramePr/>
          <p:nvPr/>
        </p:nvGraphicFramePr>
        <p:xfrm>
          <a:off x="886288" y="1871300"/>
          <a:ext cx="3000000" cy="3000000"/>
        </p:xfrm>
        <a:graphic>
          <a:graphicData uri="http://schemas.openxmlformats.org/drawingml/2006/table">
            <a:tbl>
              <a:tblPr>
                <a:noFill/>
                <a:tableStyleId>{1DBC933F-008F-496F-BAA4-78B0700BBBB7}</a:tableStyleId>
              </a:tblPr>
              <a:tblGrid>
                <a:gridCol w="2164500"/>
                <a:gridCol w="4952175"/>
              </a:tblGrid>
              <a:tr h="285750">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Blocking sends</a:t>
                      </a:r>
                      <a:endParaRPr b="1" sz="1300">
                        <a:solidFill>
                          <a:srgbClr val="434343"/>
                        </a:solidFill>
                        <a:latin typeface="Times New Roman"/>
                        <a:ea typeface="Times New Roman"/>
                        <a:cs typeface="Times New Roman"/>
                        <a:sym typeface="Times New Roman"/>
                      </a:endParaRPr>
                    </a:p>
                  </a:txBody>
                  <a:tcPr marT="91425" marB="91425" marR="91425" marL="91425">
                    <a:solidFill>
                      <a:srgbClr val="CCCCCC"/>
                    </a:solidFill>
                  </a:tcPr>
                </a:tc>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MPI_Send(buffer, count, type, dest, tag, comm)</a:t>
                      </a:r>
                      <a:endParaRPr b="1" sz="1300">
                        <a:solidFill>
                          <a:srgbClr val="434343"/>
                        </a:solidFill>
                        <a:latin typeface="Times New Roman"/>
                        <a:ea typeface="Times New Roman"/>
                        <a:cs typeface="Times New Roman"/>
                        <a:sym typeface="Times New Roman"/>
                      </a:endParaRPr>
                    </a:p>
                  </a:txBody>
                  <a:tcPr marT="91425" marB="91425" marR="91425" marL="91425">
                    <a:solidFill>
                      <a:srgbClr val="CCCCCC"/>
                    </a:solidFill>
                  </a:tcPr>
                </a:tc>
              </a:tr>
              <a:tr h="285750">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Non-blocking sends</a:t>
                      </a:r>
                      <a:endParaRPr b="1" sz="1300">
                        <a:solidFill>
                          <a:srgbClr val="434343"/>
                        </a:solidFill>
                        <a:latin typeface="Times New Roman"/>
                        <a:ea typeface="Times New Roman"/>
                        <a:cs typeface="Times New Roman"/>
                        <a:sym typeface="Times New Roman"/>
                      </a:endParaRPr>
                    </a:p>
                  </a:txBody>
                  <a:tcPr marT="91425" marB="91425" marR="91425" marL="91425"/>
                </a:tc>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MPI_Isend(buffer, count, type, dest, tag, comm, </a:t>
                      </a:r>
                      <a:r>
                        <a:rPr b="1" lang="en-US" sz="1300">
                          <a:solidFill>
                            <a:srgbClr val="FF0000"/>
                          </a:solidFill>
                          <a:latin typeface="Times New Roman"/>
                          <a:ea typeface="Times New Roman"/>
                          <a:cs typeface="Times New Roman"/>
                          <a:sym typeface="Times New Roman"/>
                        </a:rPr>
                        <a:t>request</a:t>
                      </a:r>
                      <a:r>
                        <a:rPr b="1" lang="en-US" sz="1300">
                          <a:solidFill>
                            <a:srgbClr val="434343"/>
                          </a:solidFill>
                          <a:latin typeface="Times New Roman"/>
                          <a:ea typeface="Times New Roman"/>
                          <a:cs typeface="Times New Roman"/>
                          <a:sym typeface="Times New Roman"/>
                        </a:rPr>
                        <a:t>)</a:t>
                      </a:r>
                      <a:endParaRPr b="1" sz="1300">
                        <a:solidFill>
                          <a:srgbClr val="434343"/>
                        </a:solidFill>
                        <a:latin typeface="Times New Roman"/>
                        <a:ea typeface="Times New Roman"/>
                        <a:cs typeface="Times New Roman"/>
                        <a:sym typeface="Times New Roman"/>
                      </a:endParaRPr>
                    </a:p>
                  </a:txBody>
                  <a:tcPr marT="91425" marB="91425" marR="91425" marL="91425"/>
                </a:tc>
              </a:tr>
              <a:tr h="285750">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Blocking receive</a:t>
                      </a:r>
                      <a:endParaRPr b="1" sz="1300">
                        <a:solidFill>
                          <a:srgbClr val="434343"/>
                        </a:solidFill>
                        <a:latin typeface="Times New Roman"/>
                        <a:ea typeface="Times New Roman"/>
                        <a:cs typeface="Times New Roman"/>
                        <a:sym typeface="Times New Roman"/>
                      </a:endParaRPr>
                    </a:p>
                  </a:txBody>
                  <a:tcPr marT="91425" marB="91425" marR="91425" marL="91425">
                    <a:solidFill>
                      <a:srgbClr val="CCCCCC"/>
                    </a:solidFill>
                  </a:tcPr>
                </a:tc>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MPI_Recv(buffer, count, type, source, tag, comm, </a:t>
                      </a:r>
                      <a:r>
                        <a:rPr b="1" lang="en-US" sz="1300">
                          <a:solidFill>
                            <a:srgbClr val="FF0000"/>
                          </a:solidFill>
                          <a:latin typeface="Times New Roman"/>
                          <a:ea typeface="Times New Roman"/>
                          <a:cs typeface="Times New Roman"/>
                          <a:sym typeface="Times New Roman"/>
                        </a:rPr>
                        <a:t>status</a:t>
                      </a:r>
                      <a:r>
                        <a:rPr b="1" lang="en-US" sz="1300">
                          <a:solidFill>
                            <a:srgbClr val="434343"/>
                          </a:solidFill>
                          <a:latin typeface="Times New Roman"/>
                          <a:ea typeface="Times New Roman"/>
                          <a:cs typeface="Times New Roman"/>
                          <a:sym typeface="Times New Roman"/>
                        </a:rPr>
                        <a:t>)</a:t>
                      </a:r>
                      <a:endParaRPr b="1" sz="1300">
                        <a:solidFill>
                          <a:srgbClr val="434343"/>
                        </a:solidFill>
                        <a:latin typeface="Times New Roman"/>
                        <a:ea typeface="Times New Roman"/>
                        <a:cs typeface="Times New Roman"/>
                        <a:sym typeface="Times New Roman"/>
                      </a:endParaRPr>
                    </a:p>
                  </a:txBody>
                  <a:tcPr marT="91425" marB="91425" marR="91425" marL="91425">
                    <a:solidFill>
                      <a:srgbClr val="CCCCCC"/>
                    </a:solidFill>
                  </a:tcPr>
                </a:tc>
              </a:tr>
              <a:tr h="285750">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Non-blocking receive</a:t>
                      </a:r>
                      <a:endParaRPr b="1" sz="1300">
                        <a:solidFill>
                          <a:srgbClr val="434343"/>
                        </a:solidFill>
                        <a:latin typeface="Times New Roman"/>
                        <a:ea typeface="Times New Roman"/>
                        <a:cs typeface="Times New Roman"/>
                        <a:sym typeface="Times New Roman"/>
                      </a:endParaRPr>
                    </a:p>
                  </a:txBody>
                  <a:tcPr marT="91425" marB="91425" marR="91425" marL="91425"/>
                </a:tc>
                <a:tc>
                  <a:txBody>
                    <a:bodyPr/>
                    <a:lstStyle/>
                    <a:p>
                      <a:pPr indent="0" lvl="0" marL="342900" rtl="0" algn="l">
                        <a:lnSpc>
                          <a:spcPct val="115000"/>
                        </a:lnSpc>
                        <a:spcBef>
                          <a:spcPts val="0"/>
                        </a:spcBef>
                        <a:spcAft>
                          <a:spcPts val="0"/>
                        </a:spcAft>
                        <a:buNone/>
                      </a:pPr>
                      <a:r>
                        <a:rPr b="1" lang="en-US" sz="1300">
                          <a:solidFill>
                            <a:srgbClr val="434343"/>
                          </a:solidFill>
                          <a:latin typeface="Times New Roman"/>
                          <a:ea typeface="Times New Roman"/>
                          <a:cs typeface="Times New Roman"/>
                          <a:sym typeface="Times New Roman"/>
                        </a:rPr>
                        <a:t>MPI_Irecv(buffer, count, type, source, tag, comm, </a:t>
                      </a:r>
                      <a:r>
                        <a:rPr b="1" lang="en-US" sz="1300">
                          <a:solidFill>
                            <a:srgbClr val="FF0000"/>
                          </a:solidFill>
                          <a:latin typeface="Times New Roman"/>
                          <a:ea typeface="Times New Roman"/>
                          <a:cs typeface="Times New Roman"/>
                          <a:sym typeface="Times New Roman"/>
                        </a:rPr>
                        <a:t>request</a:t>
                      </a:r>
                      <a:r>
                        <a:rPr b="1" lang="en-US" sz="1300">
                          <a:solidFill>
                            <a:srgbClr val="434343"/>
                          </a:solidFill>
                          <a:latin typeface="Times New Roman"/>
                          <a:ea typeface="Times New Roman"/>
                          <a:cs typeface="Times New Roman"/>
                          <a:sym typeface="Times New Roman"/>
                        </a:rPr>
                        <a:t>)</a:t>
                      </a:r>
                      <a:endParaRPr b="1" sz="1300">
                        <a:solidFill>
                          <a:srgbClr val="434343"/>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fac13c8a26_1_64"/>
          <p:cNvSpPr txBox="1"/>
          <p:nvPr>
            <p:ph idx="1" type="body"/>
          </p:nvPr>
        </p:nvSpPr>
        <p:spPr>
          <a:xfrm>
            <a:off x="242850" y="1081100"/>
            <a:ext cx="8658300" cy="33225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t>Status </a:t>
            </a:r>
            <a:endParaRPr b="1" sz="1400"/>
          </a:p>
          <a:p>
            <a:pPr indent="-317500" lvl="0" marL="457200" rtl="0" algn="l">
              <a:spcBef>
                <a:spcPts val="480"/>
              </a:spcBef>
              <a:spcAft>
                <a:spcPts val="0"/>
              </a:spcAft>
              <a:buSzPts val="1400"/>
              <a:buChar char="▪"/>
            </a:pPr>
            <a:r>
              <a:rPr lang="en-US" sz="1400"/>
              <a:t>For a receive operation, indicates the status of the message (e.g., source, tag, and error status). </a:t>
            </a:r>
            <a:endParaRPr sz="1400"/>
          </a:p>
          <a:p>
            <a:pPr indent="-317500" lvl="0" marL="457200" rtl="0" algn="l">
              <a:spcBef>
                <a:spcPts val="1000"/>
              </a:spcBef>
              <a:spcAft>
                <a:spcPts val="0"/>
              </a:spcAft>
              <a:buSzPts val="1400"/>
              <a:buChar char="▪"/>
            </a:pPr>
            <a:r>
              <a:rPr lang="en-US" sz="1400"/>
              <a:t>In C, this argument is a pointer to a predefined structure MPI_Status. </a:t>
            </a:r>
            <a:endParaRPr sz="1400"/>
          </a:p>
          <a:p>
            <a:pPr indent="0" lvl="0" marL="457200" rtl="0" algn="l">
              <a:spcBef>
                <a:spcPts val="1000"/>
              </a:spcBef>
              <a:spcAft>
                <a:spcPts val="0"/>
              </a:spcAft>
              <a:buNone/>
            </a:pPr>
            <a:r>
              <a:t/>
            </a:r>
            <a:endParaRPr sz="1400"/>
          </a:p>
          <a:p>
            <a:pPr indent="0" lvl="0" marL="0" rtl="0" algn="l">
              <a:spcBef>
                <a:spcPts val="1000"/>
              </a:spcBef>
              <a:spcAft>
                <a:spcPts val="0"/>
              </a:spcAft>
              <a:buNone/>
            </a:pPr>
            <a:r>
              <a:rPr b="1" lang="en-US" sz="1400"/>
              <a:t>Request </a:t>
            </a:r>
            <a:r>
              <a:rPr lang="en-US" sz="1400"/>
              <a:t>(primarily for </a:t>
            </a:r>
            <a:r>
              <a:rPr lang="en-US" sz="1400"/>
              <a:t>non-blocking send and receive operations)</a:t>
            </a:r>
            <a:endParaRPr sz="1400"/>
          </a:p>
          <a:p>
            <a:pPr indent="-317500" lvl="0" marL="457200" rtl="0" algn="l">
              <a:spcBef>
                <a:spcPts val="480"/>
              </a:spcBef>
              <a:spcAft>
                <a:spcPts val="0"/>
              </a:spcAft>
              <a:buSzPts val="1400"/>
              <a:buChar char="▪"/>
            </a:pPr>
            <a:r>
              <a:rPr lang="en-US" sz="1400"/>
              <a:t>Since non-blocking operations will immediately return before </a:t>
            </a:r>
            <a:r>
              <a:rPr lang="en-US" sz="1400"/>
              <a:t>completion</a:t>
            </a:r>
            <a:r>
              <a:rPr lang="en-US" sz="1400"/>
              <a:t> of the corresponding operations, the system/library will issue a unique handle / "request number". </a:t>
            </a:r>
            <a:endParaRPr sz="1400"/>
          </a:p>
          <a:p>
            <a:pPr indent="0" lvl="0" marL="457200" rtl="0" algn="l">
              <a:spcBef>
                <a:spcPts val="480"/>
              </a:spcBef>
              <a:spcAft>
                <a:spcPts val="0"/>
              </a:spcAft>
              <a:buNone/>
            </a:pPr>
            <a:r>
              <a:t/>
            </a:r>
            <a:endParaRPr sz="1400"/>
          </a:p>
          <a:p>
            <a:pPr indent="-317500" lvl="0" marL="457200" rtl="0" algn="l">
              <a:spcBef>
                <a:spcPts val="480"/>
              </a:spcBef>
              <a:spcAft>
                <a:spcPts val="0"/>
              </a:spcAft>
              <a:buSzPts val="1400"/>
              <a:buChar char="▪"/>
            </a:pPr>
            <a:r>
              <a:rPr lang="en-US" sz="1400"/>
              <a:t>The programmer can use this handle for future operations </a:t>
            </a:r>
            <a:r>
              <a:rPr lang="en-US" sz="1400"/>
              <a:t>(e.g., “waiting” type of routines)</a:t>
            </a:r>
            <a:endParaRPr sz="1400"/>
          </a:p>
          <a:p>
            <a:pPr indent="0" lvl="0" marL="457200" rtl="0" algn="l">
              <a:spcBef>
                <a:spcPts val="480"/>
              </a:spcBef>
              <a:spcAft>
                <a:spcPts val="0"/>
              </a:spcAft>
              <a:buNone/>
            </a:pPr>
            <a:r>
              <a:t/>
            </a:r>
            <a:endParaRPr sz="1400"/>
          </a:p>
          <a:p>
            <a:pPr indent="-317500" lvl="0" marL="457200" rtl="0" algn="l">
              <a:spcBef>
                <a:spcPts val="480"/>
              </a:spcBef>
              <a:spcAft>
                <a:spcPts val="0"/>
              </a:spcAft>
              <a:buSzPts val="1400"/>
              <a:buChar char="▪"/>
            </a:pPr>
            <a:r>
              <a:rPr lang="en-US" sz="1400"/>
              <a:t>In C, this argument is a pointer to a predefined structure MPI_Request.</a:t>
            </a:r>
            <a:endParaRPr sz="1400"/>
          </a:p>
          <a:p>
            <a:pPr indent="0" lvl="0" marL="0" rtl="0" algn="l">
              <a:spcBef>
                <a:spcPts val="480"/>
              </a:spcBef>
              <a:spcAft>
                <a:spcPts val="0"/>
              </a:spcAft>
              <a:buNone/>
            </a:pPr>
            <a:br>
              <a:rPr lang="en-US" sz="1400"/>
            </a:b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p:txBody>
      </p:sp>
      <p:sp>
        <p:nvSpPr>
          <p:cNvPr id="295" name="Google Shape;295;g3fac13c8a26_1_64"/>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MPI Message Passing Routine Arguments</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3fac13c8a26_1_71"/>
          <p:cNvSpPr txBox="1"/>
          <p:nvPr>
            <p:ph idx="1" type="body"/>
          </p:nvPr>
        </p:nvSpPr>
        <p:spPr>
          <a:xfrm>
            <a:off x="274320" y="1887378"/>
            <a:ext cx="6987300" cy="102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FFFF"/>
              </a:buClr>
              <a:buSzPts val="3000"/>
              <a:buFont typeface="Arial"/>
              <a:buNone/>
            </a:pPr>
            <a:r>
              <a:rPr lang="en-US"/>
              <a:t>Send and Receive Blocking Variants</a:t>
            </a:r>
            <a:endParaRPr sz="24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3f754ebd1bb_0_189"/>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t>MPI_Send </a:t>
            </a:r>
            <a:endParaRPr b="1" sz="1400"/>
          </a:p>
          <a:p>
            <a:pPr indent="-317500" lvl="0" marL="457200" rtl="0" algn="l">
              <a:spcBef>
                <a:spcPts val="480"/>
              </a:spcBef>
              <a:spcAft>
                <a:spcPts val="0"/>
              </a:spcAft>
              <a:buSzPts val="1400"/>
              <a:buChar char="▪"/>
            </a:pPr>
            <a:r>
              <a:rPr lang="en-US" sz="1400"/>
              <a:t>Routine </a:t>
            </a:r>
            <a:r>
              <a:rPr lang="en-US" sz="1400">
                <a:solidFill>
                  <a:srgbClr val="FF0000"/>
                </a:solidFill>
              </a:rPr>
              <a:t>blocks and returns only after the application buffer in the sending task is free for reuse</a:t>
            </a:r>
            <a:r>
              <a:rPr lang="en-US" sz="1400"/>
              <a:t>. Note that this routine may be implemented differently on different systems. The MPI standard permits the use of a system buffer but does not require it. [Some implementations may actually use a synchronous send to implement the basic blocking send.]</a:t>
            </a:r>
            <a:endParaRPr sz="1400"/>
          </a:p>
          <a:p>
            <a:pPr indent="0" lvl="0" marL="0" rtl="0" algn="l">
              <a:spcBef>
                <a:spcPts val="480"/>
              </a:spcBef>
              <a:spcAft>
                <a:spcPts val="0"/>
              </a:spcAft>
              <a:buNone/>
            </a:pPr>
            <a:r>
              <a:rPr lang="en-US" sz="1400"/>
              <a:t>	</a:t>
            </a:r>
            <a:endParaRPr sz="1400"/>
          </a:p>
          <a:p>
            <a:pPr indent="0" lvl="0" marL="0" rtl="0" algn="l">
              <a:spcBef>
                <a:spcPts val="480"/>
              </a:spcBef>
              <a:spcAft>
                <a:spcPts val="0"/>
              </a:spcAft>
              <a:buNone/>
            </a:pPr>
            <a:r>
              <a:rPr lang="en-US" sz="1400"/>
              <a:t>	</a:t>
            </a:r>
            <a:r>
              <a:rPr b="1" lang="en-US" sz="1400">
                <a:solidFill>
                  <a:srgbClr val="0B5394"/>
                </a:solidFill>
              </a:rPr>
              <a:t>MPI_Send (&amp;buf,count,datatype,dest,tag,comm) </a:t>
            </a:r>
            <a:br>
              <a:rPr b="1" lang="en-US" sz="1400">
                <a:solidFill>
                  <a:srgbClr val="0B5394"/>
                </a:solidFill>
              </a:rPr>
            </a:br>
            <a:endParaRPr b="1" sz="1400">
              <a:solidFill>
                <a:srgbClr val="0B5394"/>
              </a:solidFill>
            </a:endParaRPr>
          </a:p>
          <a:p>
            <a:pPr indent="0" lvl="0" marL="0" rtl="0" algn="l">
              <a:spcBef>
                <a:spcPts val="480"/>
              </a:spcBef>
              <a:spcAft>
                <a:spcPts val="0"/>
              </a:spcAft>
              <a:buNone/>
            </a:pPr>
            <a:r>
              <a:rPr b="1" lang="en-US" sz="1400"/>
              <a:t>MPI_Recv </a:t>
            </a:r>
            <a:endParaRPr sz="1400"/>
          </a:p>
          <a:p>
            <a:pPr indent="-317500" lvl="0" marL="457200" rtl="0" algn="l">
              <a:spcBef>
                <a:spcPts val="480"/>
              </a:spcBef>
              <a:spcAft>
                <a:spcPts val="0"/>
              </a:spcAft>
              <a:buSzPts val="1400"/>
              <a:buChar char="▪"/>
            </a:pPr>
            <a:r>
              <a:rPr lang="en-US" sz="1400"/>
              <a:t>Receive a message and </a:t>
            </a:r>
            <a:r>
              <a:rPr lang="en-US" sz="1400">
                <a:solidFill>
                  <a:srgbClr val="FF0000"/>
                </a:solidFill>
              </a:rPr>
              <a:t>block until the requested data is available</a:t>
            </a:r>
            <a:r>
              <a:rPr lang="en-US" sz="1400"/>
              <a:t> in the application buffer in the receiving task.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rPr lang="en-US" sz="1400"/>
              <a:t>	</a:t>
            </a:r>
            <a:r>
              <a:rPr b="1" lang="en-US" sz="1400">
                <a:solidFill>
                  <a:srgbClr val="0B5394"/>
                </a:solidFill>
              </a:rPr>
              <a:t>MPI_Recv (&amp;buf,count,datatype,source,tag,comm,&amp;status) </a:t>
            </a:r>
            <a:br>
              <a:rPr b="1" lang="en-US" sz="1400">
                <a:solidFill>
                  <a:srgbClr val="0B5394"/>
                </a:solidFill>
              </a:rPr>
            </a:br>
            <a:endParaRPr b="1" sz="1400">
              <a:solidFill>
                <a:srgbClr val="0B5394"/>
              </a:solidFill>
            </a:endParaRPr>
          </a:p>
          <a:p>
            <a:pPr indent="0" lvl="0" marL="0" rtl="0" algn="l">
              <a:spcBef>
                <a:spcPts val="480"/>
              </a:spcBef>
              <a:spcAft>
                <a:spcPts val="0"/>
              </a:spcAft>
              <a:buNone/>
            </a:pPr>
            <a:r>
              <a:t/>
            </a:r>
            <a:endParaRPr sz="1400"/>
          </a:p>
        </p:txBody>
      </p:sp>
      <p:sp>
        <p:nvSpPr>
          <p:cNvPr id="308" name="Google Shape;308;g3f754ebd1bb_0_189"/>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Blocking Message Passing Routines</a:t>
            </a:r>
            <a:endParaRPr b="1"/>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f754ebd1bb_0_196"/>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t>MPI_Ssend </a:t>
            </a:r>
            <a:endParaRPr b="1" sz="1400"/>
          </a:p>
          <a:p>
            <a:pPr indent="-317500" lvl="0" marL="457200" rtl="0" algn="l">
              <a:spcBef>
                <a:spcPts val="480"/>
              </a:spcBef>
              <a:spcAft>
                <a:spcPts val="0"/>
              </a:spcAft>
              <a:buSzPts val="1400"/>
              <a:buChar char="▪"/>
            </a:pPr>
            <a:r>
              <a:rPr lang="en-US" sz="1400"/>
              <a:t>Synchronous blocking send: Send a message and </a:t>
            </a:r>
            <a:r>
              <a:rPr lang="en-US" sz="1400">
                <a:solidFill>
                  <a:srgbClr val="FF0000"/>
                </a:solidFill>
              </a:rPr>
              <a:t>block until the application buffer in the sending task is free for reuse and the destination process has started to receive the message</a:t>
            </a:r>
            <a:r>
              <a:rPr lang="en-US" sz="1400"/>
              <a:t>.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rPr lang="en-US" sz="1400"/>
              <a:t>	</a:t>
            </a:r>
            <a:r>
              <a:rPr b="1" lang="en-US" sz="1400">
                <a:solidFill>
                  <a:srgbClr val="0B5394"/>
                </a:solidFill>
              </a:rPr>
              <a:t>MPI_Ssend (&amp;buf,count,datatype,dest,tag,comm) </a:t>
            </a:r>
            <a:br>
              <a:rPr b="1" lang="en-US" sz="1400">
                <a:solidFill>
                  <a:srgbClr val="0B5394"/>
                </a:solidFill>
              </a:rPr>
            </a:br>
            <a:endParaRPr b="1" sz="1400">
              <a:solidFill>
                <a:srgbClr val="0B5394"/>
              </a:solidFill>
            </a:endParaRPr>
          </a:p>
          <a:p>
            <a:pPr indent="0" lvl="0" marL="0" rtl="0" algn="l">
              <a:spcBef>
                <a:spcPts val="480"/>
              </a:spcBef>
              <a:spcAft>
                <a:spcPts val="0"/>
              </a:spcAft>
              <a:buNone/>
            </a:pPr>
            <a:r>
              <a:rPr b="1" lang="en-US" sz="1400"/>
              <a:t>MPI_Bsend </a:t>
            </a:r>
            <a:endParaRPr sz="1400"/>
          </a:p>
          <a:p>
            <a:pPr indent="-317500" lvl="0" marL="457200" rtl="0" algn="l">
              <a:spcBef>
                <a:spcPts val="480"/>
              </a:spcBef>
              <a:spcAft>
                <a:spcPts val="0"/>
              </a:spcAft>
              <a:buSzPts val="1400"/>
              <a:buChar char="▪"/>
            </a:pPr>
            <a:r>
              <a:rPr lang="en-US" sz="1400"/>
              <a:t>Buffered blocking send: permits the programmer to allocate the required amount of buffer space into which data can be copied until it is delivered. Insulates against the problems associated with insufficient system buffer space. Routine </a:t>
            </a:r>
            <a:r>
              <a:rPr lang="en-US" sz="1400">
                <a:solidFill>
                  <a:srgbClr val="FF0000"/>
                </a:solidFill>
              </a:rPr>
              <a:t>returns after the data has been copied from application buffer space to the allocated send buffer.</a:t>
            </a:r>
            <a:r>
              <a:rPr lang="en-US" sz="1400"/>
              <a:t> Must be used with the MPI_Buffer_attach routine. </a:t>
            </a:r>
            <a:endParaRPr sz="1400"/>
          </a:p>
          <a:p>
            <a:pPr indent="0" lvl="0" marL="0" rtl="0" algn="l">
              <a:spcBef>
                <a:spcPts val="480"/>
              </a:spcBef>
              <a:spcAft>
                <a:spcPts val="0"/>
              </a:spcAft>
              <a:buNone/>
            </a:pPr>
            <a:r>
              <a:rPr lang="en-US" sz="1400"/>
              <a:t>	</a:t>
            </a:r>
            <a:endParaRPr sz="1400"/>
          </a:p>
          <a:p>
            <a:pPr indent="0" lvl="0" marL="0" rtl="0" algn="l">
              <a:spcBef>
                <a:spcPts val="480"/>
              </a:spcBef>
              <a:spcAft>
                <a:spcPts val="0"/>
              </a:spcAft>
              <a:buNone/>
            </a:pPr>
            <a:r>
              <a:rPr lang="en-US" sz="1400"/>
              <a:t>	</a:t>
            </a:r>
            <a:r>
              <a:rPr b="1" lang="en-US" sz="1400">
                <a:solidFill>
                  <a:srgbClr val="0B5394"/>
                </a:solidFill>
              </a:rPr>
              <a:t>MPI_Bsend (&amp;buf,count,datatype,dest,tag,comm) </a:t>
            </a:r>
            <a:br>
              <a:rPr b="1" lang="en-US" sz="1400">
                <a:solidFill>
                  <a:srgbClr val="0B5394"/>
                </a:solidFill>
              </a:rPr>
            </a:br>
            <a:endParaRPr b="1" sz="1400">
              <a:solidFill>
                <a:srgbClr val="0B5394"/>
              </a:solidFill>
            </a:endParaRPr>
          </a:p>
          <a:p>
            <a:pPr indent="0" lvl="0" marL="0" rtl="0" algn="l">
              <a:spcBef>
                <a:spcPts val="480"/>
              </a:spcBef>
              <a:spcAft>
                <a:spcPts val="0"/>
              </a:spcAft>
              <a:buNone/>
            </a:pPr>
            <a:r>
              <a:t/>
            </a:r>
            <a:endParaRPr sz="1400"/>
          </a:p>
        </p:txBody>
      </p:sp>
      <p:sp>
        <p:nvSpPr>
          <p:cNvPr id="315" name="Google Shape;315;g3f754ebd1bb_0_196"/>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Blocking Message Passing Routines</a:t>
            </a:r>
            <a:endParaRPr b="1"/>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f754ebd1bb_0_203"/>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t>MPI_Buffer_attach </a:t>
            </a:r>
            <a:endParaRPr b="1" sz="1400"/>
          </a:p>
          <a:p>
            <a:pPr indent="-317500" lvl="0" marL="457200" rtl="0" algn="l">
              <a:spcBef>
                <a:spcPts val="480"/>
              </a:spcBef>
              <a:spcAft>
                <a:spcPts val="0"/>
              </a:spcAft>
              <a:buSzPts val="1400"/>
              <a:buChar char="▪"/>
            </a:pPr>
            <a:r>
              <a:rPr lang="en-US" sz="1400"/>
              <a:t>Used by programmer to allocate/deallocate message buffer space to be used by the MPI_Bsend routine. The size argument is specified in actual data bytes - not a count of data elements. Only one buffer can be attached to a process at a time. Note that the IBM implementation uses MPI_BSEND_OVERHEAD bytes of the allocated buffer for overhead. </a:t>
            </a:r>
            <a:endParaRPr sz="1400"/>
          </a:p>
          <a:p>
            <a:pPr indent="0" lvl="0" marL="0" rtl="0" algn="l">
              <a:spcBef>
                <a:spcPts val="480"/>
              </a:spcBef>
              <a:spcAft>
                <a:spcPts val="0"/>
              </a:spcAft>
              <a:buNone/>
            </a:pPr>
            <a:r>
              <a:rPr lang="en-US" sz="1400"/>
              <a:t>	</a:t>
            </a:r>
            <a:endParaRPr sz="1400"/>
          </a:p>
          <a:p>
            <a:pPr indent="0" lvl="0" marL="0" rtl="0" algn="l">
              <a:spcBef>
                <a:spcPts val="480"/>
              </a:spcBef>
              <a:spcAft>
                <a:spcPts val="0"/>
              </a:spcAft>
              <a:buNone/>
            </a:pPr>
            <a:r>
              <a:rPr lang="en-US" sz="1400"/>
              <a:t>	</a:t>
            </a:r>
            <a:r>
              <a:rPr b="1" lang="en-US" sz="1400">
                <a:solidFill>
                  <a:srgbClr val="0B5394"/>
                </a:solidFill>
              </a:rPr>
              <a:t>MPI_Buffer_attach (&amp;buffer,size) </a:t>
            </a:r>
            <a:br>
              <a:rPr b="1" lang="en-US" sz="1400">
                <a:solidFill>
                  <a:srgbClr val="0B5394"/>
                </a:solidFill>
              </a:rPr>
            </a:br>
            <a:r>
              <a:rPr b="1" lang="en-US" sz="1400">
                <a:solidFill>
                  <a:srgbClr val="0B5394"/>
                </a:solidFill>
              </a:rPr>
              <a:t>	MPI_Buffer_detach (&amp;buffer,size) </a:t>
            </a:r>
            <a:br>
              <a:rPr lang="en-US" sz="1400"/>
            </a:br>
            <a:r>
              <a:rPr lang="en-US" sz="1400"/>
              <a:t> </a:t>
            </a:r>
            <a:endParaRPr sz="1400"/>
          </a:p>
          <a:p>
            <a:pPr indent="0" lvl="0" marL="0" rtl="0" algn="l">
              <a:spcBef>
                <a:spcPts val="480"/>
              </a:spcBef>
              <a:spcAft>
                <a:spcPts val="0"/>
              </a:spcAft>
              <a:buNone/>
            </a:pPr>
            <a:r>
              <a:rPr b="1" lang="en-US" sz="1400"/>
              <a:t>MPI_Rsend </a:t>
            </a:r>
            <a:endParaRPr sz="1400"/>
          </a:p>
          <a:p>
            <a:pPr indent="-317500" lvl="0" marL="457200" rtl="0" algn="l">
              <a:spcBef>
                <a:spcPts val="480"/>
              </a:spcBef>
              <a:spcAft>
                <a:spcPts val="0"/>
              </a:spcAft>
              <a:buSzPts val="1400"/>
              <a:buChar char="▪"/>
            </a:pPr>
            <a:r>
              <a:rPr lang="en-US" sz="1400"/>
              <a:t>Blocking ready send. A send that uses the ready communication mode </a:t>
            </a:r>
            <a:r>
              <a:rPr lang="en-US" sz="1400">
                <a:solidFill>
                  <a:srgbClr val="FF0000"/>
                </a:solidFill>
              </a:rPr>
              <a:t>may be started only if the matching receive is already posted.</a:t>
            </a:r>
            <a:r>
              <a:rPr lang="en-US" sz="1400"/>
              <a:t> </a:t>
            </a:r>
            <a:endParaRPr sz="1400"/>
          </a:p>
          <a:p>
            <a:pPr indent="-317500" lvl="0" marL="457200" rtl="0" algn="l">
              <a:spcBef>
                <a:spcPts val="0"/>
              </a:spcBef>
              <a:spcAft>
                <a:spcPts val="0"/>
              </a:spcAft>
              <a:buSzPts val="1400"/>
              <a:buChar char="▪"/>
            </a:pPr>
            <a:r>
              <a:rPr lang="en-US" sz="1400"/>
              <a:t>On some systems, this allows the removal of </a:t>
            </a:r>
            <a:r>
              <a:rPr lang="en-US" sz="1400">
                <a:solidFill>
                  <a:srgbClr val="FF0000"/>
                </a:solidFill>
              </a:rPr>
              <a:t>a hand-shake operation that is otherwise required and results in improved performance.	</a:t>
            </a:r>
            <a:endParaRPr sz="1400">
              <a:solidFill>
                <a:srgbClr val="FF0000"/>
              </a:solidFill>
            </a:endParaRPr>
          </a:p>
          <a:p>
            <a:pPr indent="0" lvl="0" marL="0" rtl="0" algn="l">
              <a:spcBef>
                <a:spcPts val="480"/>
              </a:spcBef>
              <a:spcAft>
                <a:spcPts val="0"/>
              </a:spcAft>
              <a:buNone/>
            </a:pPr>
            <a:r>
              <a:rPr lang="en-US" sz="1400"/>
              <a:t>	</a:t>
            </a:r>
            <a:r>
              <a:rPr b="1" lang="en-US" sz="1400">
                <a:solidFill>
                  <a:srgbClr val="0B5394"/>
                </a:solidFill>
              </a:rPr>
              <a:t>MPI_Rsend (&amp;buf,count,datatype,dest,tag,comm) </a:t>
            </a:r>
            <a:br>
              <a:rPr b="1" lang="en-US" sz="1400">
                <a:solidFill>
                  <a:srgbClr val="0B5394"/>
                </a:solidFill>
              </a:rPr>
            </a:br>
            <a:endParaRPr b="1" sz="1400">
              <a:solidFill>
                <a:srgbClr val="0B5394"/>
              </a:solidFill>
            </a:endParaRPr>
          </a:p>
          <a:p>
            <a:pPr indent="0" lvl="0" marL="0" rtl="0" algn="l">
              <a:spcBef>
                <a:spcPts val="480"/>
              </a:spcBef>
              <a:spcAft>
                <a:spcPts val="0"/>
              </a:spcAft>
              <a:buNone/>
            </a:pPr>
            <a:r>
              <a:t/>
            </a:r>
            <a:endParaRPr sz="1400"/>
          </a:p>
        </p:txBody>
      </p:sp>
      <p:sp>
        <p:nvSpPr>
          <p:cNvPr id="322" name="Google Shape;322;g3f754ebd1bb_0_203"/>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Blocking Message Passing Routines</a:t>
            </a:r>
            <a:endParaRPr b="1"/>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f754ebd1bb_0_209"/>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600"/>
              <a:t>MPI_Sendrecv </a:t>
            </a:r>
            <a:endParaRPr sz="1600"/>
          </a:p>
          <a:p>
            <a:pPr indent="-330200" lvl="0" marL="457200" rtl="0" algn="l">
              <a:spcBef>
                <a:spcPts val="480"/>
              </a:spcBef>
              <a:spcAft>
                <a:spcPts val="0"/>
              </a:spcAft>
              <a:buSzPts val="1600"/>
              <a:buChar char="▪"/>
            </a:pPr>
            <a:r>
              <a:rPr lang="en-US" sz="1600"/>
              <a:t>Send a message and post a receive before blocking. </a:t>
            </a:r>
            <a:endParaRPr sz="1600"/>
          </a:p>
          <a:p>
            <a:pPr indent="0" lvl="0" marL="457200" rtl="0" algn="l">
              <a:spcBef>
                <a:spcPts val="480"/>
              </a:spcBef>
              <a:spcAft>
                <a:spcPts val="0"/>
              </a:spcAft>
              <a:buNone/>
            </a:pPr>
            <a:r>
              <a:t/>
            </a:r>
            <a:endParaRPr sz="1600"/>
          </a:p>
          <a:p>
            <a:pPr indent="-330200" lvl="0" marL="457200" rtl="0" algn="l">
              <a:spcBef>
                <a:spcPts val="480"/>
              </a:spcBef>
              <a:spcAft>
                <a:spcPts val="0"/>
              </a:spcAft>
              <a:buSzPts val="1600"/>
              <a:buChar char="▪"/>
            </a:pPr>
            <a:r>
              <a:rPr lang="en-US" sz="1600"/>
              <a:t>Will </a:t>
            </a:r>
            <a:r>
              <a:rPr lang="en-US" sz="1600">
                <a:solidFill>
                  <a:srgbClr val="FF0000"/>
                </a:solidFill>
              </a:rPr>
              <a:t>block until the sending application buffer is free for reuse and until the receiving application buffer contains the received message.</a:t>
            </a:r>
            <a:r>
              <a:rPr lang="en-US" sz="1600"/>
              <a:t> </a:t>
            </a:r>
            <a:endParaRPr sz="1600"/>
          </a:p>
          <a:p>
            <a:pPr indent="0" lvl="0" marL="0" rtl="0" algn="l">
              <a:spcBef>
                <a:spcPts val="480"/>
              </a:spcBef>
              <a:spcAft>
                <a:spcPts val="0"/>
              </a:spcAft>
              <a:buNone/>
            </a:pPr>
            <a:r>
              <a:rPr lang="en-US" sz="1600"/>
              <a:t>	</a:t>
            </a:r>
            <a:endParaRPr sz="1600"/>
          </a:p>
          <a:p>
            <a:pPr indent="0" lvl="0" marL="0" rtl="0" algn="l">
              <a:spcBef>
                <a:spcPts val="480"/>
              </a:spcBef>
              <a:spcAft>
                <a:spcPts val="0"/>
              </a:spcAft>
              <a:buNone/>
            </a:pPr>
            <a:r>
              <a:rPr lang="en-US" sz="1600"/>
              <a:t>	</a:t>
            </a:r>
            <a:r>
              <a:rPr b="1" lang="en-US" sz="1600">
                <a:solidFill>
                  <a:srgbClr val="0B5394"/>
                </a:solidFill>
              </a:rPr>
              <a:t>MPI_Sendrecv (&amp;sendbuf,sendcount,sendtype,dest,sendtag, </a:t>
            </a:r>
            <a:br>
              <a:rPr b="1" lang="en-US" sz="1600">
                <a:solidFill>
                  <a:srgbClr val="0B5394"/>
                </a:solidFill>
              </a:rPr>
            </a:br>
            <a:r>
              <a:rPr b="1" lang="en-US" sz="1600">
                <a:solidFill>
                  <a:srgbClr val="0B5394"/>
                </a:solidFill>
              </a:rPr>
              <a:t>		&amp;recvbuf,recvcount,recvtype,source,recvtag, comm,&amp;status) </a:t>
            </a:r>
            <a:br>
              <a:rPr b="1" lang="en-US" sz="1600">
                <a:solidFill>
                  <a:srgbClr val="0B5394"/>
                </a:solidFill>
              </a:rPr>
            </a:br>
            <a:endParaRPr b="1" sz="1600">
              <a:solidFill>
                <a:srgbClr val="0B5394"/>
              </a:solidFill>
            </a:endParaRPr>
          </a:p>
          <a:p>
            <a:pPr indent="0" lvl="0" marL="0" rtl="0" algn="l">
              <a:spcBef>
                <a:spcPts val="480"/>
              </a:spcBef>
              <a:spcAft>
                <a:spcPts val="0"/>
              </a:spcAft>
              <a:buNone/>
            </a:pPr>
            <a:r>
              <a:t/>
            </a:r>
            <a:endParaRPr sz="1600"/>
          </a:p>
        </p:txBody>
      </p:sp>
      <p:sp>
        <p:nvSpPr>
          <p:cNvPr id="329" name="Google Shape;329;g3f754ebd1bb_0_209"/>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Blocking Message Passing Routines</a:t>
            </a:r>
            <a:endParaRPr b="1"/>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3f754ebd1bb_0_215"/>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600"/>
              <a:t>MPI_Wait</a:t>
            </a:r>
            <a:br>
              <a:rPr b="1" lang="en-US" sz="1600"/>
            </a:br>
            <a:r>
              <a:rPr b="1" lang="en-US" sz="1600"/>
              <a:t>MPI_Waitany</a:t>
            </a:r>
            <a:br>
              <a:rPr b="1" lang="en-US" sz="1600"/>
            </a:br>
            <a:r>
              <a:rPr b="1" lang="en-US" sz="1600"/>
              <a:t>MPI_Waitall</a:t>
            </a:r>
            <a:br>
              <a:rPr b="1" lang="en-US" sz="1600"/>
            </a:br>
            <a:r>
              <a:rPr b="1" lang="en-US" sz="1600"/>
              <a:t>MPI_Waitsome </a:t>
            </a:r>
            <a:endParaRPr b="1" sz="1600"/>
          </a:p>
          <a:p>
            <a:pPr indent="0" lvl="0" marL="0" rtl="0" algn="l">
              <a:spcBef>
                <a:spcPts val="480"/>
              </a:spcBef>
              <a:spcAft>
                <a:spcPts val="0"/>
              </a:spcAft>
              <a:buNone/>
            </a:pPr>
            <a:r>
              <a:t/>
            </a:r>
            <a:endParaRPr sz="1600"/>
          </a:p>
          <a:p>
            <a:pPr indent="-330200" lvl="0" marL="457200" rtl="0" algn="l">
              <a:spcBef>
                <a:spcPts val="480"/>
              </a:spcBef>
              <a:spcAft>
                <a:spcPts val="0"/>
              </a:spcAft>
              <a:buSzPts val="1600"/>
              <a:buChar char="▪"/>
            </a:pPr>
            <a:r>
              <a:rPr lang="en-US" sz="1600"/>
              <a:t>MPI_Wait </a:t>
            </a:r>
            <a:r>
              <a:rPr lang="en-US" sz="1600">
                <a:solidFill>
                  <a:srgbClr val="FF0000"/>
                </a:solidFill>
              </a:rPr>
              <a:t>blocks until a specified non-blocking send or receive operation has completed.</a:t>
            </a:r>
            <a:r>
              <a:rPr lang="en-US" sz="1600"/>
              <a:t> For multiple non-blocking operations, the programmer can specify any, all or some completions. </a:t>
            </a:r>
            <a:endParaRPr sz="1600"/>
          </a:p>
          <a:p>
            <a:pPr indent="0" lvl="0" marL="457200" rtl="0" algn="l">
              <a:spcBef>
                <a:spcPts val="480"/>
              </a:spcBef>
              <a:spcAft>
                <a:spcPts val="0"/>
              </a:spcAft>
              <a:buNone/>
            </a:pPr>
            <a:r>
              <a:rPr b="1" lang="en-US" sz="1600">
                <a:solidFill>
                  <a:srgbClr val="0B5394"/>
                </a:solidFill>
              </a:rPr>
              <a:t>MPI_Wait (&amp;request,&amp;status) </a:t>
            </a:r>
            <a:br>
              <a:rPr b="1" lang="en-US" sz="1600">
                <a:solidFill>
                  <a:srgbClr val="0B5394"/>
                </a:solidFill>
              </a:rPr>
            </a:br>
            <a:r>
              <a:rPr b="1" lang="en-US" sz="1600">
                <a:solidFill>
                  <a:srgbClr val="0B5394"/>
                </a:solidFill>
              </a:rPr>
              <a:t>MPI_Waitany (count,&amp;array_of_requests,&amp;index,&amp;status) </a:t>
            </a:r>
            <a:br>
              <a:rPr b="1" lang="en-US" sz="1600">
                <a:solidFill>
                  <a:srgbClr val="0B5394"/>
                </a:solidFill>
              </a:rPr>
            </a:br>
            <a:r>
              <a:rPr b="1" lang="en-US" sz="1600">
                <a:solidFill>
                  <a:srgbClr val="0B5394"/>
                </a:solidFill>
              </a:rPr>
              <a:t>MPI_Waitall (count,&amp;array_of_requests,&amp;array_of_statuses) </a:t>
            </a:r>
            <a:br>
              <a:rPr b="1" lang="en-US" sz="1600">
                <a:solidFill>
                  <a:srgbClr val="0B5394"/>
                </a:solidFill>
              </a:rPr>
            </a:br>
            <a:r>
              <a:rPr b="1" lang="en-US" sz="1600">
                <a:solidFill>
                  <a:srgbClr val="0B5394"/>
                </a:solidFill>
              </a:rPr>
              <a:t>MPI_Waitsome (incount,&amp;array_of_requests,&amp;outcount,  </a:t>
            </a:r>
            <a:br>
              <a:rPr b="1" lang="en-US" sz="1600">
                <a:solidFill>
                  <a:srgbClr val="0B5394"/>
                </a:solidFill>
              </a:rPr>
            </a:br>
            <a:r>
              <a:rPr b="1" lang="en-US" sz="1600">
                <a:solidFill>
                  <a:srgbClr val="0B5394"/>
                </a:solidFill>
              </a:rPr>
              <a:t> 				          &amp;array_of_offsets, &amp;array_of_statuses) </a:t>
            </a:r>
            <a:br>
              <a:rPr lang="en-US" sz="1600"/>
            </a:br>
            <a:endParaRPr sz="1600"/>
          </a:p>
          <a:p>
            <a:pPr indent="0" lvl="0" marL="0" rtl="0" algn="l">
              <a:spcBef>
                <a:spcPts val="480"/>
              </a:spcBef>
              <a:spcAft>
                <a:spcPts val="0"/>
              </a:spcAft>
              <a:buNone/>
            </a:pPr>
            <a:r>
              <a:t/>
            </a:r>
            <a:endParaRPr sz="1600"/>
          </a:p>
          <a:p>
            <a:pPr indent="0" lvl="0" marL="0" rtl="0" algn="l">
              <a:spcBef>
                <a:spcPts val="480"/>
              </a:spcBef>
              <a:spcAft>
                <a:spcPts val="0"/>
              </a:spcAft>
              <a:buNone/>
            </a:pPr>
            <a:r>
              <a:t/>
            </a:r>
            <a:endParaRPr sz="1600"/>
          </a:p>
        </p:txBody>
      </p:sp>
      <p:sp>
        <p:nvSpPr>
          <p:cNvPr id="336" name="Google Shape;336;g3f754ebd1bb_0_215"/>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Blocking Message Passing Routines</a:t>
            </a:r>
            <a:endParaRPr b="1"/>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f754ebd1bb_0_222"/>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800"/>
              <a:t>MPI_Probe </a:t>
            </a:r>
            <a:endParaRPr b="1" sz="1800"/>
          </a:p>
          <a:p>
            <a:pPr indent="-342900" lvl="0" marL="457200" rtl="0" algn="l">
              <a:spcBef>
                <a:spcPts val="480"/>
              </a:spcBef>
              <a:spcAft>
                <a:spcPts val="0"/>
              </a:spcAft>
              <a:buSzPts val="1800"/>
              <a:buChar char="▪"/>
            </a:pPr>
            <a:r>
              <a:rPr lang="en-US" sz="1800"/>
              <a:t>Performs a </a:t>
            </a:r>
            <a:r>
              <a:rPr lang="en-US" sz="1800">
                <a:solidFill>
                  <a:srgbClr val="FF0000"/>
                </a:solidFill>
              </a:rPr>
              <a:t>blocking test for a message</a:t>
            </a:r>
            <a:r>
              <a:rPr lang="en-US" sz="1800"/>
              <a:t>. </a:t>
            </a:r>
            <a:endParaRPr sz="1800"/>
          </a:p>
          <a:p>
            <a:pPr indent="0" lvl="0" marL="457200" rtl="0" algn="l">
              <a:spcBef>
                <a:spcPts val="480"/>
              </a:spcBef>
              <a:spcAft>
                <a:spcPts val="0"/>
              </a:spcAft>
              <a:buNone/>
            </a:pPr>
            <a:r>
              <a:t/>
            </a:r>
            <a:endParaRPr sz="1800"/>
          </a:p>
          <a:p>
            <a:pPr indent="-342900" lvl="0" marL="457200" rtl="0" algn="l">
              <a:spcBef>
                <a:spcPts val="480"/>
              </a:spcBef>
              <a:spcAft>
                <a:spcPts val="0"/>
              </a:spcAft>
              <a:buSzPts val="1800"/>
              <a:buChar char="▪"/>
            </a:pPr>
            <a:r>
              <a:rPr lang="en-US" sz="1800"/>
              <a:t>The "wildcards" MPI_ANY_SOURCE and MPI_ANY_TAG may be used to test for a message from any source or with any tag. </a:t>
            </a:r>
            <a:endParaRPr sz="1800"/>
          </a:p>
          <a:p>
            <a:pPr indent="0" lvl="0" marL="457200" rtl="0" algn="l">
              <a:spcBef>
                <a:spcPts val="480"/>
              </a:spcBef>
              <a:spcAft>
                <a:spcPts val="0"/>
              </a:spcAft>
              <a:buNone/>
            </a:pPr>
            <a:r>
              <a:t/>
            </a:r>
            <a:endParaRPr sz="1800"/>
          </a:p>
          <a:p>
            <a:pPr indent="-342900" lvl="0" marL="457200" rtl="0" algn="l">
              <a:spcBef>
                <a:spcPts val="480"/>
              </a:spcBef>
              <a:spcAft>
                <a:spcPts val="0"/>
              </a:spcAft>
              <a:buSzPts val="1800"/>
              <a:buChar char="▪"/>
            </a:pPr>
            <a:r>
              <a:rPr lang="en-US" sz="1800"/>
              <a:t>For the C routine, the actual source and tag will be returned in the status structure as status.</a:t>
            </a:r>
            <a:endParaRPr sz="1800"/>
          </a:p>
          <a:p>
            <a:pPr indent="0" lvl="0" marL="0" rtl="0" algn="l">
              <a:spcBef>
                <a:spcPts val="480"/>
              </a:spcBef>
              <a:spcAft>
                <a:spcPts val="0"/>
              </a:spcAft>
              <a:buNone/>
            </a:pPr>
            <a:r>
              <a:t/>
            </a:r>
            <a:endParaRPr sz="1800"/>
          </a:p>
          <a:p>
            <a:pPr indent="0" lvl="0" marL="0" rtl="0" algn="l">
              <a:spcBef>
                <a:spcPts val="480"/>
              </a:spcBef>
              <a:spcAft>
                <a:spcPts val="0"/>
              </a:spcAft>
              <a:buNone/>
            </a:pPr>
            <a:r>
              <a:rPr lang="en-US" sz="1800"/>
              <a:t>	</a:t>
            </a:r>
            <a:r>
              <a:rPr b="1" lang="en-US" sz="1800">
                <a:solidFill>
                  <a:srgbClr val="0B5394"/>
                </a:solidFill>
              </a:rPr>
              <a:t>MPI_Probe (source,tag,comm,&amp;status) </a:t>
            </a:r>
            <a:br>
              <a:rPr b="1" lang="en-US" sz="1800">
                <a:solidFill>
                  <a:srgbClr val="0B5394"/>
                </a:solidFill>
              </a:rPr>
            </a:br>
            <a:endParaRPr b="1" sz="1800">
              <a:solidFill>
                <a:srgbClr val="0B5394"/>
              </a:solidFill>
            </a:endParaRPr>
          </a:p>
          <a:p>
            <a:pPr indent="0" lvl="0" marL="0" rtl="0" algn="l">
              <a:spcBef>
                <a:spcPts val="480"/>
              </a:spcBef>
              <a:spcAft>
                <a:spcPts val="0"/>
              </a:spcAft>
              <a:buNone/>
            </a:pPr>
            <a:r>
              <a:t/>
            </a:r>
            <a:endParaRPr sz="1800"/>
          </a:p>
        </p:txBody>
      </p:sp>
      <p:sp>
        <p:nvSpPr>
          <p:cNvPr id="343" name="Google Shape;343;g3f754ebd1bb_0_222"/>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Blocking Message Passing Routines</a:t>
            </a:r>
            <a:endParaRPr b="1"/>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f754ebd1bb_0_228"/>
          <p:cNvSpPr txBox="1"/>
          <p:nvPr>
            <p:ph idx="1" type="body"/>
          </p:nvPr>
        </p:nvSpPr>
        <p:spPr>
          <a:xfrm>
            <a:off x="119525" y="701225"/>
            <a:ext cx="47748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000">
                <a:latin typeface="Courier New"/>
                <a:ea typeface="Courier New"/>
                <a:cs typeface="Courier New"/>
                <a:sym typeface="Courier New"/>
              </a:rPr>
              <a:t>#include "</a:t>
            </a:r>
            <a:r>
              <a:rPr b="1" lang="en-US" sz="1000">
                <a:solidFill>
                  <a:srgbClr val="FF0000"/>
                </a:solidFill>
                <a:latin typeface="Courier New"/>
                <a:ea typeface="Courier New"/>
                <a:cs typeface="Courier New"/>
                <a:sym typeface="Courier New"/>
              </a:rPr>
              <a:t>mpi.h</a:t>
            </a:r>
            <a:r>
              <a:rPr b="1" lang="en-US" sz="1000">
                <a:latin typeface="Courier New"/>
                <a:ea typeface="Courier New"/>
                <a:cs typeface="Courier New"/>
                <a:sym typeface="Courier New"/>
              </a:rPr>
              <a:t>" </a:t>
            </a:r>
            <a:endParaRPr b="1" sz="1000">
              <a:latin typeface="Courier New"/>
              <a:ea typeface="Courier New"/>
              <a:cs typeface="Courier New"/>
              <a:sym typeface="Courier New"/>
            </a:endParaRPr>
          </a:p>
          <a:p>
            <a:pPr indent="0" lvl="0" marL="0" rtl="0" algn="l">
              <a:spcBef>
                <a:spcPts val="480"/>
              </a:spcBef>
              <a:spcAft>
                <a:spcPts val="0"/>
              </a:spcAft>
              <a:buNone/>
            </a:pPr>
            <a:r>
              <a:rPr b="1" lang="en-US" sz="1000">
                <a:latin typeface="Courier New"/>
                <a:ea typeface="Courier New"/>
                <a:cs typeface="Courier New"/>
                <a:sym typeface="Courier New"/>
              </a:rPr>
              <a:t>#include &lt;stdio.h&gt; </a:t>
            </a:r>
            <a:endParaRPr b="1" sz="1000">
              <a:latin typeface="Courier New"/>
              <a:ea typeface="Courier New"/>
              <a:cs typeface="Courier New"/>
              <a:sym typeface="Courier New"/>
            </a:endParaRPr>
          </a:p>
          <a:p>
            <a:pPr indent="0" lvl="0" marL="0" rtl="0" algn="l">
              <a:spcBef>
                <a:spcPts val="480"/>
              </a:spcBef>
              <a:spcAft>
                <a:spcPts val="0"/>
              </a:spcAft>
              <a:buNone/>
            </a:pPr>
            <a:r>
              <a:t/>
            </a:r>
            <a:endParaRPr b="1" sz="1000">
              <a:latin typeface="Courier New"/>
              <a:ea typeface="Courier New"/>
              <a:cs typeface="Courier New"/>
              <a:sym typeface="Courier New"/>
            </a:endParaRPr>
          </a:p>
          <a:p>
            <a:pPr indent="0" lvl="0" marL="0" rtl="0" algn="l">
              <a:spcBef>
                <a:spcPts val="480"/>
              </a:spcBef>
              <a:spcAft>
                <a:spcPts val="0"/>
              </a:spcAft>
              <a:buNone/>
            </a:pPr>
            <a:r>
              <a:rPr b="1" lang="en-US" sz="1000">
                <a:latin typeface="Courier New"/>
                <a:ea typeface="Courier New"/>
                <a:cs typeface="Courier New"/>
                <a:sym typeface="Courier New"/>
              </a:rPr>
              <a:t>int main(int argc,char *argv[]) </a:t>
            </a:r>
            <a:endParaRPr b="1" sz="1000">
              <a:latin typeface="Courier New"/>
              <a:ea typeface="Courier New"/>
              <a:cs typeface="Courier New"/>
              <a:sym typeface="Courier New"/>
            </a:endParaRPr>
          </a:p>
          <a:p>
            <a:pPr indent="0" lvl="0" marL="0" rtl="0" algn="l">
              <a:spcBef>
                <a:spcPts val="480"/>
              </a:spcBef>
              <a:spcAft>
                <a:spcPts val="0"/>
              </a:spcAft>
              <a:buNone/>
            </a:pPr>
            <a:r>
              <a:rPr b="1" lang="en-US" sz="1000">
                <a:latin typeface="Courier New"/>
                <a:ea typeface="Courier New"/>
                <a:cs typeface="Courier New"/>
                <a:sym typeface="Courier New"/>
              </a:rPr>
              <a:t>{ int numtasks, rank, dest, source, rc, count, tag=1; </a:t>
            </a:r>
            <a:endParaRPr b="1" sz="1000">
              <a:latin typeface="Courier New"/>
              <a:ea typeface="Courier New"/>
              <a:cs typeface="Courier New"/>
              <a:sym typeface="Courier New"/>
            </a:endParaRPr>
          </a:p>
          <a:p>
            <a:pPr indent="0" lvl="0" marL="0" rtl="0" algn="l">
              <a:spcBef>
                <a:spcPts val="480"/>
              </a:spcBef>
              <a:spcAft>
                <a:spcPts val="0"/>
              </a:spcAft>
              <a:buNone/>
            </a:pPr>
            <a:r>
              <a:rPr b="1" lang="en-US" sz="1000">
                <a:latin typeface="Courier New"/>
                <a:ea typeface="Courier New"/>
                <a:cs typeface="Courier New"/>
                <a:sym typeface="Courier New"/>
              </a:rPr>
              <a:t>char inmsg, outmsg='x'; </a:t>
            </a:r>
            <a:endParaRPr b="1" sz="1000">
              <a:latin typeface="Courier New"/>
              <a:ea typeface="Courier New"/>
              <a:cs typeface="Courier New"/>
              <a:sym typeface="Courier New"/>
            </a:endParaRPr>
          </a:p>
          <a:p>
            <a:pPr indent="0" lvl="0" marL="0" rtl="0" algn="l">
              <a:spcBef>
                <a:spcPts val="480"/>
              </a:spcBef>
              <a:spcAft>
                <a:spcPts val="0"/>
              </a:spcAft>
              <a:buNone/>
            </a:pPr>
            <a:r>
              <a:rPr b="1" lang="en-US" sz="1000">
                <a:solidFill>
                  <a:srgbClr val="FF0000"/>
                </a:solidFill>
                <a:latin typeface="Courier New"/>
                <a:ea typeface="Courier New"/>
                <a:cs typeface="Courier New"/>
                <a:sym typeface="Courier New"/>
              </a:rPr>
              <a:t>MPI_Status Stat; </a:t>
            </a:r>
            <a:endParaRPr b="1" sz="1000">
              <a:solidFill>
                <a:srgbClr val="FF0000"/>
              </a:solidFill>
              <a:latin typeface="Courier New"/>
              <a:ea typeface="Courier New"/>
              <a:cs typeface="Courier New"/>
              <a:sym typeface="Courier New"/>
            </a:endParaRPr>
          </a:p>
          <a:p>
            <a:pPr indent="0" lvl="0" marL="0" rtl="0" algn="l">
              <a:spcBef>
                <a:spcPts val="480"/>
              </a:spcBef>
              <a:spcAft>
                <a:spcPts val="0"/>
              </a:spcAft>
              <a:buNone/>
            </a:pPr>
            <a:r>
              <a:rPr b="1" lang="en-US" sz="1000">
                <a:solidFill>
                  <a:srgbClr val="FF0000"/>
                </a:solidFill>
                <a:latin typeface="Courier New"/>
                <a:ea typeface="Courier New"/>
                <a:cs typeface="Courier New"/>
                <a:sym typeface="Courier New"/>
              </a:rPr>
              <a:t>MPI_Init</a:t>
            </a:r>
            <a:r>
              <a:rPr b="1" lang="en-US" sz="1000">
                <a:latin typeface="Courier New"/>
                <a:ea typeface="Courier New"/>
                <a:cs typeface="Courier New"/>
                <a:sym typeface="Courier New"/>
              </a:rPr>
              <a:t>(&amp;argc,&amp;argv); </a:t>
            </a:r>
            <a:endParaRPr b="1" sz="1000">
              <a:latin typeface="Courier New"/>
              <a:ea typeface="Courier New"/>
              <a:cs typeface="Courier New"/>
              <a:sym typeface="Courier New"/>
            </a:endParaRPr>
          </a:p>
          <a:p>
            <a:pPr indent="0" lvl="0" marL="0" rtl="0" algn="l">
              <a:spcBef>
                <a:spcPts val="480"/>
              </a:spcBef>
              <a:spcAft>
                <a:spcPts val="0"/>
              </a:spcAft>
              <a:buNone/>
            </a:pPr>
            <a:r>
              <a:rPr b="1" lang="en-US" sz="1000">
                <a:solidFill>
                  <a:srgbClr val="FF0000"/>
                </a:solidFill>
                <a:latin typeface="Courier New"/>
                <a:ea typeface="Courier New"/>
                <a:cs typeface="Courier New"/>
                <a:sym typeface="Courier New"/>
              </a:rPr>
              <a:t>MPI_Comm_size</a:t>
            </a:r>
            <a:r>
              <a:rPr b="1" lang="en-US" sz="1000">
                <a:latin typeface="Courier New"/>
                <a:ea typeface="Courier New"/>
                <a:cs typeface="Courier New"/>
                <a:sym typeface="Courier New"/>
              </a:rPr>
              <a:t>(MPI_COMM_WORLD, &amp;numtasks); </a:t>
            </a:r>
            <a:endParaRPr b="1" sz="1000">
              <a:latin typeface="Courier New"/>
              <a:ea typeface="Courier New"/>
              <a:cs typeface="Courier New"/>
              <a:sym typeface="Courier New"/>
            </a:endParaRPr>
          </a:p>
          <a:p>
            <a:pPr indent="0" lvl="0" marL="0" rtl="0" algn="l">
              <a:spcBef>
                <a:spcPts val="480"/>
              </a:spcBef>
              <a:spcAft>
                <a:spcPts val="0"/>
              </a:spcAft>
              <a:buNone/>
            </a:pPr>
            <a:r>
              <a:rPr b="1" lang="en-US" sz="1000">
                <a:solidFill>
                  <a:srgbClr val="FF0000"/>
                </a:solidFill>
                <a:latin typeface="Courier New"/>
                <a:ea typeface="Courier New"/>
                <a:cs typeface="Courier New"/>
                <a:sym typeface="Courier New"/>
              </a:rPr>
              <a:t>MPI_Comm_rank</a:t>
            </a:r>
            <a:r>
              <a:rPr b="1" lang="en-US" sz="1000">
                <a:latin typeface="Courier New"/>
                <a:ea typeface="Courier New"/>
                <a:cs typeface="Courier New"/>
                <a:sym typeface="Courier New"/>
              </a:rPr>
              <a:t>(MPI_COMM_WORLD, &amp;rank); </a:t>
            </a:r>
            <a:endParaRPr b="1" sz="1000">
              <a:latin typeface="Courier New"/>
              <a:ea typeface="Courier New"/>
              <a:cs typeface="Courier New"/>
              <a:sym typeface="Courier New"/>
            </a:endParaRPr>
          </a:p>
          <a:p>
            <a:pPr indent="0" lvl="0" marL="0" rtl="0" algn="l">
              <a:spcBef>
                <a:spcPts val="480"/>
              </a:spcBef>
              <a:spcAft>
                <a:spcPts val="0"/>
              </a:spcAft>
              <a:buNone/>
            </a:pPr>
            <a:r>
              <a:rPr b="1" lang="en-US" sz="1000">
                <a:latin typeface="Courier New"/>
                <a:ea typeface="Courier New"/>
                <a:cs typeface="Courier New"/>
                <a:sym typeface="Courier New"/>
              </a:rPr>
              <a:t>if (rank == 0) </a:t>
            </a:r>
            <a:endParaRPr b="1" sz="1000">
              <a:latin typeface="Courier New"/>
              <a:ea typeface="Courier New"/>
              <a:cs typeface="Courier New"/>
              <a:sym typeface="Courier New"/>
            </a:endParaRPr>
          </a:p>
          <a:p>
            <a:pPr indent="0" lvl="0" marL="0" rtl="0" algn="l">
              <a:spcBef>
                <a:spcPts val="480"/>
              </a:spcBef>
              <a:spcAft>
                <a:spcPts val="0"/>
              </a:spcAft>
              <a:buNone/>
            </a:pPr>
            <a:r>
              <a:rPr b="1" lang="en-US" sz="1000">
                <a:latin typeface="Courier New"/>
                <a:ea typeface="Courier New"/>
                <a:cs typeface="Courier New"/>
                <a:sym typeface="Courier New"/>
              </a:rPr>
              <a:t>{ dest = 1; source = 1; </a:t>
            </a:r>
            <a:endParaRPr b="1" sz="1000">
              <a:latin typeface="Courier New"/>
              <a:ea typeface="Courier New"/>
              <a:cs typeface="Courier New"/>
              <a:sym typeface="Courier New"/>
            </a:endParaRPr>
          </a:p>
          <a:p>
            <a:pPr indent="0" lvl="0" marL="0" rtl="0" algn="l">
              <a:spcBef>
                <a:spcPts val="480"/>
              </a:spcBef>
              <a:spcAft>
                <a:spcPts val="0"/>
              </a:spcAft>
              <a:buNone/>
            </a:pPr>
            <a:r>
              <a:rPr b="1" lang="en-US" sz="1000">
                <a:latin typeface="Courier New"/>
                <a:ea typeface="Courier New"/>
                <a:cs typeface="Courier New"/>
                <a:sym typeface="Courier New"/>
              </a:rPr>
              <a:t>rc = </a:t>
            </a:r>
            <a:r>
              <a:rPr b="1" lang="en-US" sz="1000">
                <a:solidFill>
                  <a:srgbClr val="FF0000"/>
                </a:solidFill>
                <a:latin typeface="Courier New"/>
                <a:ea typeface="Courier New"/>
                <a:cs typeface="Courier New"/>
                <a:sym typeface="Courier New"/>
              </a:rPr>
              <a:t>MPI_Send</a:t>
            </a:r>
            <a:r>
              <a:rPr b="1" lang="en-US" sz="1000">
                <a:latin typeface="Courier New"/>
                <a:ea typeface="Courier New"/>
                <a:cs typeface="Courier New"/>
                <a:sym typeface="Courier New"/>
              </a:rPr>
              <a:t>(&amp;outmsg, 1, MPI_CHAR, dest, tag, MPI_COMM_WORLD); </a:t>
            </a:r>
            <a:endParaRPr b="1" sz="1000">
              <a:latin typeface="Courier New"/>
              <a:ea typeface="Courier New"/>
              <a:cs typeface="Courier New"/>
              <a:sym typeface="Courier New"/>
            </a:endParaRPr>
          </a:p>
          <a:p>
            <a:pPr indent="0" lvl="0" marL="0" rtl="0" algn="l">
              <a:spcBef>
                <a:spcPts val="480"/>
              </a:spcBef>
              <a:spcAft>
                <a:spcPts val="0"/>
              </a:spcAft>
              <a:buNone/>
            </a:pPr>
            <a:r>
              <a:rPr b="1" lang="en-US" sz="1000">
                <a:latin typeface="Courier New"/>
                <a:ea typeface="Courier New"/>
                <a:cs typeface="Courier New"/>
                <a:sym typeface="Courier New"/>
              </a:rPr>
              <a:t>rc = </a:t>
            </a:r>
            <a:r>
              <a:rPr b="1" lang="en-US" sz="1000">
                <a:solidFill>
                  <a:srgbClr val="FF0000"/>
                </a:solidFill>
                <a:latin typeface="Courier New"/>
                <a:ea typeface="Courier New"/>
                <a:cs typeface="Courier New"/>
                <a:sym typeface="Courier New"/>
              </a:rPr>
              <a:t>MPI_Recv</a:t>
            </a:r>
            <a:r>
              <a:rPr b="1" lang="en-US" sz="1000">
                <a:latin typeface="Courier New"/>
                <a:ea typeface="Courier New"/>
                <a:cs typeface="Courier New"/>
                <a:sym typeface="Courier New"/>
              </a:rPr>
              <a:t>(&amp;inmsg, 1, MPI_CHAR, source, tag, MPI_COMM_WORLD, &amp;Stat); </a:t>
            </a:r>
            <a:endParaRPr b="1" sz="1000">
              <a:latin typeface="Courier New"/>
              <a:ea typeface="Courier New"/>
              <a:cs typeface="Courier New"/>
              <a:sym typeface="Courier New"/>
            </a:endParaRPr>
          </a:p>
          <a:p>
            <a:pPr indent="0" lvl="0" marL="0" rtl="0" algn="l">
              <a:spcBef>
                <a:spcPts val="480"/>
              </a:spcBef>
              <a:spcAft>
                <a:spcPts val="0"/>
              </a:spcAft>
              <a:buNone/>
            </a:pPr>
            <a:r>
              <a:rPr b="1" lang="en-US" sz="1000">
                <a:latin typeface="Courier New"/>
                <a:ea typeface="Courier New"/>
                <a:cs typeface="Courier New"/>
                <a:sym typeface="Courier New"/>
              </a:rPr>
              <a:t>} </a:t>
            </a:r>
            <a:endParaRPr b="1" sz="1000">
              <a:latin typeface="Courier New"/>
              <a:ea typeface="Courier New"/>
              <a:cs typeface="Courier New"/>
              <a:sym typeface="Courier New"/>
            </a:endParaRPr>
          </a:p>
          <a:p>
            <a:pPr indent="0" lvl="0" marL="0" rtl="0" algn="l">
              <a:spcBef>
                <a:spcPts val="480"/>
              </a:spcBef>
              <a:spcAft>
                <a:spcPts val="0"/>
              </a:spcAft>
              <a:buNone/>
            </a:pPr>
            <a:r>
              <a:t/>
            </a:r>
            <a:endParaRPr b="1" sz="1000">
              <a:latin typeface="Courier New"/>
              <a:ea typeface="Courier New"/>
              <a:cs typeface="Courier New"/>
              <a:sym typeface="Courier New"/>
            </a:endParaRPr>
          </a:p>
        </p:txBody>
      </p:sp>
      <p:sp>
        <p:nvSpPr>
          <p:cNvPr id="350" name="Google Shape;350;g3f754ebd1bb_0_228"/>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Example: Blocking Message Passing Routines</a:t>
            </a:r>
            <a:endParaRPr b="1"/>
          </a:p>
        </p:txBody>
      </p:sp>
      <p:sp>
        <p:nvSpPr>
          <p:cNvPr id="351" name="Google Shape;351;g3f754ebd1bb_0_228"/>
          <p:cNvSpPr txBox="1"/>
          <p:nvPr/>
        </p:nvSpPr>
        <p:spPr>
          <a:xfrm>
            <a:off x="4762500" y="701225"/>
            <a:ext cx="4381200" cy="2893800"/>
          </a:xfrm>
          <a:prstGeom prst="rect">
            <a:avLst/>
          </a:prstGeom>
          <a:noFill/>
          <a:ln>
            <a:noFill/>
          </a:ln>
        </p:spPr>
        <p:txBody>
          <a:bodyPr anchorCtr="0" anchor="t" bIns="91425" lIns="91425" spcFirstLastPara="1" rIns="91425" wrap="square" tIns="91425">
            <a:spAutoFit/>
          </a:bodyPr>
          <a:lstStyle/>
          <a:p>
            <a:pPr indent="0" lvl="0" marL="0" rtl="0" algn="l">
              <a:spcBef>
                <a:spcPts val="480"/>
              </a:spcBef>
              <a:spcAft>
                <a:spcPts val="0"/>
              </a:spcAft>
              <a:buNone/>
            </a:pPr>
            <a:r>
              <a:rPr b="1" lang="en-US" sz="1000">
                <a:solidFill>
                  <a:schemeClr val="dk1"/>
                </a:solidFill>
                <a:latin typeface="Courier New"/>
                <a:ea typeface="Courier New"/>
                <a:cs typeface="Courier New"/>
                <a:sym typeface="Courier New"/>
              </a:rPr>
              <a:t>else if (rank == 1) </a:t>
            </a:r>
            <a:endParaRPr b="1" sz="10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000">
                <a:solidFill>
                  <a:schemeClr val="dk1"/>
                </a:solidFill>
                <a:latin typeface="Courier New"/>
                <a:ea typeface="Courier New"/>
                <a:cs typeface="Courier New"/>
                <a:sym typeface="Courier New"/>
              </a:rPr>
              <a:t>{ dest = 0; source = 0; </a:t>
            </a:r>
            <a:endParaRPr b="1" sz="10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000">
                <a:solidFill>
                  <a:schemeClr val="dk1"/>
                </a:solidFill>
                <a:latin typeface="Courier New"/>
                <a:ea typeface="Courier New"/>
                <a:cs typeface="Courier New"/>
                <a:sym typeface="Courier New"/>
              </a:rPr>
              <a:t>rc = </a:t>
            </a:r>
            <a:r>
              <a:rPr b="1" lang="en-US" sz="1000">
                <a:solidFill>
                  <a:srgbClr val="FF0000"/>
                </a:solidFill>
                <a:latin typeface="Courier New"/>
                <a:ea typeface="Courier New"/>
                <a:cs typeface="Courier New"/>
                <a:sym typeface="Courier New"/>
              </a:rPr>
              <a:t>MPI_Recv</a:t>
            </a:r>
            <a:r>
              <a:rPr b="1" lang="en-US" sz="1000">
                <a:solidFill>
                  <a:schemeClr val="dk1"/>
                </a:solidFill>
                <a:latin typeface="Courier New"/>
                <a:ea typeface="Courier New"/>
                <a:cs typeface="Courier New"/>
                <a:sym typeface="Courier New"/>
              </a:rPr>
              <a:t>(&amp;inmsg, 1, MPI_CHAR, source, tag, MPI_COMM_WORLD, &amp;Stat); </a:t>
            </a:r>
            <a:endParaRPr b="1" sz="10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000">
                <a:solidFill>
                  <a:schemeClr val="dk1"/>
                </a:solidFill>
                <a:latin typeface="Courier New"/>
                <a:ea typeface="Courier New"/>
                <a:cs typeface="Courier New"/>
                <a:sym typeface="Courier New"/>
              </a:rPr>
              <a:t>rc = </a:t>
            </a:r>
            <a:r>
              <a:rPr b="1" lang="en-US" sz="1000">
                <a:solidFill>
                  <a:srgbClr val="FF0000"/>
                </a:solidFill>
                <a:latin typeface="Courier New"/>
                <a:ea typeface="Courier New"/>
                <a:cs typeface="Courier New"/>
                <a:sym typeface="Courier New"/>
              </a:rPr>
              <a:t>MPI_Send</a:t>
            </a:r>
            <a:r>
              <a:rPr b="1" lang="en-US" sz="1000">
                <a:solidFill>
                  <a:schemeClr val="dk1"/>
                </a:solidFill>
                <a:latin typeface="Courier New"/>
                <a:ea typeface="Courier New"/>
                <a:cs typeface="Courier New"/>
                <a:sym typeface="Courier New"/>
              </a:rPr>
              <a:t>(&amp;outmsg, 1, MPI_CHAR, dest, tag, MPI_COMM_WORLD); </a:t>
            </a:r>
            <a:endParaRPr b="1" sz="10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000">
                <a:solidFill>
                  <a:schemeClr val="dk1"/>
                </a:solidFill>
                <a:latin typeface="Courier New"/>
                <a:ea typeface="Courier New"/>
                <a:cs typeface="Courier New"/>
                <a:sym typeface="Courier New"/>
              </a:rPr>
              <a:t>rc = </a:t>
            </a:r>
            <a:r>
              <a:rPr b="1" lang="en-US" sz="1000">
                <a:solidFill>
                  <a:srgbClr val="FF0000"/>
                </a:solidFill>
                <a:latin typeface="Courier New"/>
                <a:ea typeface="Courier New"/>
                <a:cs typeface="Courier New"/>
                <a:sym typeface="Courier New"/>
              </a:rPr>
              <a:t>MPI_Get_count</a:t>
            </a:r>
            <a:r>
              <a:rPr b="1" lang="en-US" sz="1000">
                <a:solidFill>
                  <a:schemeClr val="dk1"/>
                </a:solidFill>
                <a:latin typeface="Courier New"/>
                <a:ea typeface="Courier New"/>
                <a:cs typeface="Courier New"/>
                <a:sym typeface="Courier New"/>
              </a:rPr>
              <a:t>(&amp;Stat, MPI_CHAR, &amp;count); </a:t>
            </a:r>
            <a:endParaRPr b="1" sz="10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000">
                <a:solidFill>
                  <a:schemeClr val="dk1"/>
                </a:solidFill>
                <a:latin typeface="Courier New"/>
                <a:ea typeface="Courier New"/>
                <a:cs typeface="Courier New"/>
                <a:sym typeface="Courier New"/>
              </a:rPr>
              <a:t>printf("Task %d: Received %d char(s) from task %d with tag %d \n", rank, count, 					      Stat.MPI_SOURCE, Stat.MPI_TAG); </a:t>
            </a:r>
            <a:endParaRPr b="1" sz="10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000">
                <a:solidFill>
                  <a:srgbClr val="FF0000"/>
                </a:solidFill>
                <a:latin typeface="Courier New"/>
                <a:ea typeface="Courier New"/>
                <a:cs typeface="Courier New"/>
                <a:sym typeface="Courier New"/>
              </a:rPr>
              <a:t>MPI_Finalize</a:t>
            </a:r>
            <a:r>
              <a:rPr b="1" lang="en-US"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000">
                <a:solidFill>
                  <a:schemeClr val="dk1"/>
                </a:solidFill>
                <a:latin typeface="Courier New"/>
                <a:ea typeface="Courier New"/>
                <a:cs typeface="Courier New"/>
                <a:sym typeface="Courier New"/>
              </a:rPr>
              <a:t>} </a:t>
            </a:r>
            <a:endParaRPr b="1" sz="1000">
              <a:solidFill>
                <a:schemeClr val="dk1"/>
              </a:solidFill>
              <a:latin typeface="Courier New"/>
              <a:ea typeface="Courier New"/>
              <a:cs typeface="Courier New"/>
              <a:sym typeface="Courier New"/>
            </a:endParaRPr>
          </a:p>
          <a:p>
            <a:pPr indent="0" lvl="0" marL="0" rtl="0" algn="l">
              <a:spcBef>
                <a:spcPts val="480"/>
              </a:spcBef>
              <a:spcAft>
                <a:spcPts val="0"/>
              </a:spcAft>
              <a:buNone/>
            </a:pPr>
            <a:r>
              <a:t/>
            </a:r>
            <a:endParaRPr b="1" sz="1000">
              <a:solidFill>
                <a:schemeClr val="dk1"/>
              </a:solidFill>
              <a:latin typeface="Courier New"/>
              <a:ea typeface="Courier New"/>
              <a:cs typeface="Courier New"/>
              <a:sym typeface="Courier New"/>
            </a:endParaRPr>
          </a:p>
        </p:txBody>
      </p:sp>
      <p:sp>
        <p:nvSpPr>
          <p:cNvPr id="352" name="Google Shape;352;g3f754ebd1bb_0_228"/>
          <p:cNvSpPr/>
          <p:nvPr/>
        </p:nvSpPr>
        <p:spPr>
          <a:xfrm>
            <a:off x="4324375" y="3486675"/>
            <a:ext cx="2869800" cy="730200"/>
          </a:xfrm>
          <a:prstGeom prst="wedgeRoundRectCallout">
            <a:avLst>
              <a:gd fmla="val -69230" name="adj1"/>
              <a:gd fmla="val -12794"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What would happen if MPI_Recv is posted before MPI_Send?</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fac13c8a26_1_77"/>
          <p:cNvSpPr txBox="1"/>
          <p:nvPr>
            <p:ph idx="1" type="body"/>
          </p:nvPr>
        </p:nvSpPr>
        <p:spPr>
          <a:xfrm>
            <a:off x="274320" y="1887378"/>
            <a:ext cx="6987300" cy="102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FFFF"/>
              </a:buClr>
              <a:buSzPts val="3000"/>
              <a:buFont typeface="Arial"/>
              <a:buNone/>
            </a:pPr>
            <a:r>
              <a:rPr lang="en-US"/>
              <a:t>Send and Receive Non-blocking Variants</a:t>
            </a:r>
            <a:endParaRPr sz="24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3f7887d680b_0_0"/>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t>MPI_Isend </a:t>
            </a:r>
            <a:endParaRPr b="1" sz="1400"/>
          </a:p>
          <a:p>
            <a:pPr indent="0" lvl="0" marL="0" rtl="0" algn="l">
              <a:spcBef>
                <a:spcPts val="480"/>
              </a:spcBef>
              <a:spcAft>
                <a:spcPts val="0"/>
              </a:spcAft>
              <a:buNone/>
            </a:pPr>
            <a:r>
              <a:rPr lang="en-US" sz="1400"/>
              <a:t>Processing </a:t>
            </a:r>
            <a:r>
              <a:rPr lang="en-US" sz="1400">
                <a:solidFill>
                  <a:srgbClr val="FF0000"/>
                </a:solidFill>
              </a:rPr>
              <a:t>continues immediately</a:t>
            </a:r>
            <a:r>
              <a:rPr lang="en-US" sz="1400"/>
              <a:t> without waiting for the message to be copied out from the application buffer. </a:t>
            </a:r>
            <a:endParaRPr sz="1400"/>
          </a:p>
          <a:p>
            <a:pPr indent="0" lvl="0" marL="0" rtl="0" algn="l">
              <a:spcBef>
                <a:spcPts val="1000"/>
              </a:spcBef>
              <a:spcAft>
                <a:spcPts val="0"/>
              </a:spcAft>
              <a:buNone/>
            </a:pPr>
            <a:r>
              <a:rPr lang="en-US" sz="1400"/>
              <a:t>The program should not modify the application buffer until subsequent calls to MPI_Wait or MPI_Test indicate that the non-blocking send has completed. </a:t>
            </a:r>
            <a:endParaRPr sz="1400"/>
          </a:p>
          <a:p>
            <a:pPr indent="0" lvl="0" marL="0" rtl="0" algn="l">
              <a:spcBef>
                <a:spcPts val="1000"/>
              </a:spcBef>
              <a:spcAft>
                <a:spcPts val="0"/>
              </a:spcAft>
              <a:buNone/>
            </a:pPr>
            <a:r>
              <a:rPr lang="en-US" sz="1400"/>
              <a:t>	</a:t>
            </a:r>
            <a:r>
              <a:rPr b="1" lang="en-US" sz="1400">
                <a:solidFill>
                  <a:srgbClr val="0B5394"/>
                </a:solidFill>
              </a:rPr>
              <a:t>MPI_Isend (&amp;buf,count,datatype,dest,tag,comm,&amp;request) </a:t>
            </a:r>
            <a:br>
              <a:rPr lang="en-US" sz="1400"/>
            </a:br>
            <a:r>
              <a:rPr lang="en-US" sz="1400"/>
              <a:t> </a:t>
            </a:r>
            <a:endParaRPr sz="1400"/>
          </a:p>
          <a:p>
            <a:pPr indent="0" lvl="0" marL="0" rtl="0" algn="l">
              <a:spcBef>
                <a:spcPts val="480"/>
              </a:spcBef>
              <a:spcAft>
                <a:spcPts val="0"/>
              </a:spcAft>
              <a:buNone/>
            </a:pPr>
            <a:r>
              <a:rPr b="1" lang="en-US" sz="1400"/>
              <a:t>MPI_Irecv </a:t>
            </a:r>
            <a:endParaRPr b="1" sz="1400"/>
          </a:p>
          <a:p>
            <a:pPr indent="0" lvl="0" marL="0" rtl="0" algn="l">
              <a:spcBef>
                <a:spcPts val="480"/>
              </a:spcBef>
              <a:spcAft>
                <a:spcPts val="0"/>
              </a:spcAft>
              <a:buNone/>
            </a:pPr>
            <a:r>
              <a:rPr lang="en-US" sz="1400"/>
              <a:t>Processing </a:t>
            </a:r>
            <a:r>
              <a:rPr lang="en-US" sz="1400">
                <a:solidFill>
                  <a:srgbClr val="FF0000"/>
                </a:solidFill>
              </a:rPr>
              <a:t>continues immediately</a:t>
            </a:r>
            <a:r>
              <a:rPr lang="en-US" sz="1400"/>
              <a:t> without actually waiting for the message to be received and copied into the the application buffer. </a:t>
            </a:r>
            <a:endParaRPr sz="1400"/>
          </a:p>
          <a:p>
            <a:pPr indent="0" lvl="0" marL="0" rtl="0" algn="l">
              <a:spcBef>
                <a:spcPts val="1000"/>
              </a:spcBef>
              <a:spcAft>
                <a:spcPts val="0"/>
              </a:spcAft>
              <a:buNone/>
            </a:pPr>
            <a:r>
              <a:rPr lang="en-US" sz="1400"/>
              <a:t>The program must use calls to MPI_Wait or MPI_Test to determine when the non-blocking receive operation completes and the requested message is available in the application buffer. </a:t>
            </a:r>
            <a:endParaRPr sz="1400"/>
          </a:p>
          <a:p>
            <a:pPr indent="0" lvl="0" marL="0" rtl="0" algn="l">
              <a:spcBef>
                <a:spcPts val="1000"/>
              </a:spcBef>
              <a:spcAft>
                <a:spcPts val="0"/>
              </a:spcAft>
              <a:buNone/>
            </a:pPr>
            <a:r>
              <a:rPr lang="en-US" sz="1400"/>
              <a:t>	</a:t>
            </a:r>
            <a:r>
              <a:rPr b="1" lang="en-US" sz="1400">
                <a:solidFill>
                  <a:srgbClr val="0B5394"/>
                </a:solidFill>
              </a:rPr>
              <a:t>MPI_Irecv (&amp;buf,count,datatype,source,tag,comm,&amp;request) </a:t>
            </a:r>
            <a:br>
              <a:rPr lang="en-US" sz="1400"/>
            </a:br>
            <a:endParaRPr sz="1400"/>
          </a:p>
          <a:p>
            <a:pPr indent="0" lvl="0" marL="0" rtl="0" algn="l">
              <a:spcBef>
                <a:spcPts val="480"/>
              </a:spcBef>
              <a:spcAft>
                <a:spcPts val="0"/>
              </a:spcAft>
              <a:buNone/>
            </a:pPr>
            <a:r>
              <a:t/>
            </a:r>
            <a:endParaRPr sz="1400"/>
          </a:p>
        </p:txBody>
      </p:sp>
      <p:sp>
        <p:nvSpPr>
          <p:cNvPr id="365" name="Google Shape;365;g3f7887d680b_0_0"/>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Non-Blocking Message Passing Routines</a:t>
            </a:r>
            <a:endParaRPr b="1"/>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3f7887d680b_0_6"/>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t>MPI_Issend </a:t>
            </a:r>
            <a:endParaRPr b="1" sz="1400"/>
          </a:p>
          <a:p>
            <a:pPr indent="0" lvl="0" marL="0" rtl="0" algn="l">
              <a:spcBef>
                <a:spcPts val="480"/>
              </a:spcBef>
              <a:spcAft>
                <a:spcPts val="0"/>
              </a:spcAft>
              <a:buNone/>
            </a:pPr>
            <a:r>
              <a:rPr lang="en-US" sz="1400"/>
              <a:t>Non-blocking synchronous send. </a:t>
            </a:r>
            <a:endParaRPr sz="1400"/>
          </a:p>
          <a:p>
            <a:pPr indent="0" lvl="0" marL="0" rtl="0" algn="l">
              <a:spcBef>
                <a:spcPts val="480"/>
              </a:spcBef>
              <a:spcAft>
                <a:spcPts val="0"/>
              </a:spcAft>
              <a:buNone/>
            </a:pPr>
            <a:r>
              <a:rPr lang="en-US" sz="1400"/>
              <a:t>Similar to MPI_Isend(), except MPI_Wait() or MPI_Test() indicates when the destination process has received the message. </a:t>
            </a:r>
            <a:endParaRPr sz="1400"/>
          </a:p>
          <a:p>
            <a:pPr indent="0" lvl="0" marL="0" rtl="0" algn="l">
              <a:spcBef>
                <a:spcPts val="480"/>
              </a:spcBef>
              <a:spcAft>
                <a:spcPts val="0"/>
              </a:spcAft>
              <a:buNone/>
            </a:pPr>
            <a:r>
              <a:rPr lang="en-US" sz="1400"/>
              <a:t>	</a:t>
            </a:r>
            <a:r>
              <a:rPr b="1" lang="en-US" sz="1400">
                <a:solidFill>
                  <a:srgbClr val="0B5394"/>
                </a:solidFill>
              </a:rPr>
              <a:t>MPI_Issend (&amp;buf,count,datatype,dest,tag,comm,&amp;request) </a:t>
            </a:r>
            <a:br>
              <a:rPr lang="en-US" sz="1400"/>
            </a:br>
            <a:r>
              <a:rPr lang="en-US" sz="1400"/>
              <a:t> </a:t>
            </a:r>
            <a:endParaRPr sz="1400"/>
          </a:p>
          <a:p>
            <a:pPr indent="0" lvl="0" marL="0" rtl="0" algn="l">
              <a:spcBef>
                <a:spcPts val="480"/>
              </a:spcBef>
              <a:spcAft>
                <a:spcPts val="0"/>
              </a:spcAft>
              <a:buNone/>
            </a:pPr>
            <a:r>
              <a:rPr b="1" lang="en-US" sz="1400"/>
              <a:t>MPI_Ibsend </a:t>
            </a:r>
            <a:endParaRPr b="1" sz="1400"/>
          </a:p>
          <a:p>
            <a:pPr indent="0" lvl="0" marL="0" rtl="0" algn="l">
              <a:spcBef>
                <a:spcPts val="480"/>
              </a:spcBef>
              <a:spcAft>
                <a:spcPts val="0"/>
              </a:spcAft>
              <a:buNone/>
            </a:pPr>
            <a:r>
              <a:rPr lang="en-US" sz="1400"/>
              <a:t>Non-blocking buffered send. </a:t>
            </a:r>
            <a:endParaRPr sz="1400"/>
          </a:p>
          <a:p>
            <a:pPr indent="0" lvl="0" marL="0" rtl="0" algn="l">
              <a:spcBef>
                <a:spcPts val="480"/>
              </a:spcBef>
              <a:spcAft>
                <a:spcPts val="0"/>
              </a:spcAft>
              <a:buNone/>
            </a:pPr>
            <a:r>
              <a:rPr lang="en-US" sz="1400"/>
              <a:t>Similar to MPI_Bsend() except MPI_Wait() or MPI_Test() indicates when the destination process has received the message. Must be used with the MPI_Buffer_attach routine.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rPr lang="en-US" sz="1400"/>
              <a:t>	</a:t>
            </a:r>
            <a:r>
              <a:rPr b="1" lang="en-US" sz="1400">
                <a:solidFill>
                  <a:srgbClr val="0B5394"/>
                </a:solidFill>
              </a:rPr>
              <a:t>MPI_Ibsend (&amp;buf,count,datatype,dest,tag,comm,&amp;request) </a:t>
            </a:r>
            <a:br>
              <a:rPr lang="en-US" sz="1400"/>
            </a:br>
            <a:r>
              <a:rPr lang="en-US" sz="1400"/>
              <a:t>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p:txBody>
      </p:sp>
      <p:sp>
        <p:nvSpPr>
          <p:cNvPr id="372" name="Google Shape;372;g3f7887d680b_0_6"/>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Non-Blocking Message Passing Routines</a:t>
            </a:r>
            <a:endParaRPr b="1"/>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f7887d680b_0_12"/>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Clr>
                <a:schemeClr val="dk1"/>
              </a:buClr>
              <a:buSzPts val="1100"/>
              <a:buFont typeface="Arial"/>
              <a:buNone/>
            </a:pPr>
            <a:r>
              <a:t/>
            </a:r>
            <a:endParaRPr sz="1400"/>
          </a:p>
          <a:p>
            <a:pPr indent="0" lvl="0" marL="0" rtl="0" algn="l">
              <a:spcBef>
                <a:spcPts val="480"/>
              </a:spcBef>
              <a:spcAft>
                <a:spcPts val="0"/>
              </a:spcAft>
              <a:buClr>
                <a:schemeClr val="dk1"/>
              </a:buClr>
              <a:buSzPts val="1100"/>
              <a:buFont typeface="Arial"/>
              <a:buNone/>
            </a:pPr>
            <a:r>
              <a:rPr b="1" lang="en-US" sz="1400"/>
              <a:t>MPI_Irsend </a:t>
            </a:r>
            <a:endParaRPr sz="1400"/>
          </a:p>
          <a:p>
            <a:pPr indent="0" lvl="0" marL="0" rtl="0" algn="l">
              <a:spcBef>
                <a:spcPts val="480"/>
              </a:spcBef>
              <a:spcAft>
                <a:spcPts val="0"/>
              </a:spcAft>
              <a:buClr>
                <a:schemeClr val="dk1"/>
              </a:buClr>
              <a:buSzPts val="1100"/>
              <a:buFont typeface="Arial"/>
              <a:buNone/>
            </a:pPr>
            <a:r>
              <a:rPr lang="en-US" sz="1400"/>
              <a:t>Non-blocking ready send. </a:t>
            </a:r>
            <a:endParaRPr sz="1400"/>
          </a:p>
          <a:p>
            <a:pPr indent="0" lvl="0" marL="0" rtl="0" algn="l">
              <a:spcBef>
                <a:spcPts val="480"/>
              </a:spcBef>
              <a:spcAft>
                <a:spcPts val="0"/>
              </a:spcAft>
              <a:buClr>
                <a:schemeClr val="dk1"/>
              </a:buClr>
              <a:buSzPts val="1100"/>
              <a:buFont typeface="Arial"/>
              <a:buNone/>
            </a:pPr>
            <a:r>
              <a:rPr lang="en-US" sz="1400"/>
              <a:t>Similar to MPI_Rsend() except MPI_Wait() or MPI_Test() indicates when the destination process has received the message. </a:t>
            </a:r>
            <a:endParaRPr sz="1400"/>
          </a:p>
          <a:p>
            <a:pPr indent="0" lvl="0" marL="0" rtl="0" algn="l">
              <a:spcBef>
                <a:spcPts val="480"/>
              </a:spcBef>
              <a:spcAft>
                <a:spcPts val="0"/>
              </a:spcAft>
              <a:buClr>
                <a:schemeClr val="dk1"/>
              </a:buClr>
              <a:buSzPts val="1100"/>
              <a:buFont typeface="Arial"/>
              <a:buNone/>
            </a:pPr>
            <a:r>
              <a:t/>
            </a:r>
            <a:endParaRPr sz="1400"/>
          </a:p>
          <a:p>
            <a:pPr indent="0" lvl="0" marL="0" rtl="0" algn="l">
              <a:spcBef>
                <a:spcPts val="480"/>
              </a:spcBef>
              <a:spcAft>
                <a:spcPts val="0"/>
              </a:spcAft>
              <a:buClr>
                <a:schemeClr val="dk1"/>
              </a:buClr>
              <a:buSzPts val="1100"/>
              <a:buFont typeface="Arial"/>
              <a:buNone/>
            </a:pPr>
            <a:r>
              <a:rPr lang="en-US" sz="1400"/>
              <a:t>	</a:t>
            </a:r>
            <a:r>
              <a:rPr b="1" lang="en-US" sz="1400">
                <a:solidFill>
                  <a:srgbClr val="0B5394"/>
                </a:solidFill>
              </a:rPr>
              <a:t>MPI_Irsend (&amp;buf,count,datatype,dest,tag,comm,&amp;request) </a:t>
            </a:r>
            <a:br>
              <a:rPr lang="en-US" sz="1400"/>
            </a:br>
            <a:r>
              <a:rPr lang="en-US" sz="1400"/>
              <a:t> </a:t>
            </a:r>
            <a:endParaRPr/>
          </a:p>
        </p:txBody>
      </p:sp>
      <p:sp>
        <p:nvSpPr>
          <p:cNvPr id="379" name="Google Shape;379;g3f7887d680b_0_12"/>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Clr>
                <a:schemeClr val="dk1"/>
              </a:buClr>
              <a:buSzPts val="1100"/>
              <a:buFont typeface="Arial"/>
              <a:buNone/>
            </a:pPr>
            <a:r>
              <a:rPr b="1" lang="en-US"/>
              <a:t>Non-Blocking Message Passing Routines</a:t>
            </a:r>
            <a:endParaRPr b="1"/>
          </a:p>
          <a:p>
            <a:pPr indent="0" lvl="0" marL="0" rtl="0" algn="l">
              <a:spcBef>
                <a:spcPts val="56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3f7887d680b_0_18"/>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400"/>
              <a:t>MPI_Test </a:t>
            </a:r>
            <a:br>
              <a:rPr b="1" lang="en-US" sz="1400"/>
            </a:br>
            <a:r>
              <a:rPr b="1" lang="en-US" sz="1400"/>
              <a:t>MPI_Testany </a:t>
            </a:r>
            <a:br>
              <a:rPr b="1" lang="en-US" sz="1400"/>
            </a:br>
            <a:r>
              <a:rPr b="1" lang="en-US" sz="1400"/>
              <a:t>MPI_Testall </a:t>
            </a:r>
            <a:br>
              <a:rPr b="1" lang="en-US" sz="1400"/>
            </a:br>
            <a:r>
              <a:rPr b="1" lang="en-US" sz="1400"/>
              <a:t>MPI_Testsome </a:t>
            </a:r>
            <a:endParaRPr b="1" sz="1400"/>
          </a:p>
          <a:p>
            <a:pPr indent="0" lvl="0" marL="0" rtl="0" algn="l">
              <a:spcBef>
                <a:spcPts val="480"/>
              </a:spcBef>
              <a:spcAft>
                <a:spcPts val="0"/>
              </a:spcAft>
              <a:buNone/>
            </a:pPr>
            <a:r>
              <a:t/>
            </a:r>
            <a:endParaRPr sz="1400"/>
          </a:p>
          <a:p>
            <a:pPr indent="-317500" lvl="0" marL="457200" rtl="0" algn="l">
              <a:spcBef>
                <a:spcPts val="480"/>
              </a:spcBef>
              <a:spcAft>
                <a:spcPts val="0"/>
              </a:spcAft>
              <a:buSzPts val="1400"/>
              <a:buChar char="▪"/>
            </a:pPr>
            <a:r>
              <a:rPr lang="en-US" sz="1400"/>
              <a:t>MPI_Test checks the status of a specified non-blocking send or receive operation. </a:t>
            </a:r>
            <a:endParaRPr sz="1400"/>
          </a:p>
          <a:p>
            <a:pPr indent="-317500" lvl="0" marL="457200" rtl="0" algn="l">
              <a:spcBef>
                <a:spcPts val="0"/>
              </a:spcBef>
              <a:spcAft>
                <a:spcPts val="0"/>
              </a:spcAft>
              <a:buSzPts val="1400"/>
              <a:buChar char="▪"/>
            </a:pPr>
            <a:r>
              <a:rPr lang="en-US" sz="1400"/>
              <a:t>The "flag" parameter is returned logical true (1) if the operation has completed, and logical false (0) if not. </a:t>
            </a:r>
            <a:endParaRPr sz="1400"/>
          </a:p>
          <a:p>
            <a:pPr indent="-317500" lvl="0" marL="457200" rtl="0" algn="l">
              <a:spcBef>
                <a:spcPts val="0"/>
              </a:spcBef>
              <a:spcAft>
                <a:spcPts val="0"/>
              </a:spcAft>
              <a:buSzPts val="1400"/>
              <a:buChar char="▪"/>
            </a:pPr>
            <a:r>
              <a:rPr lang="en-US" sz="1400"/>
              <a:t>For multiple non-blocking operations, the programmer can specify any, all or some completions. </a:t>
            </a: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rPr lang="en-US" sz="1400"/>
              <a:t>	</a:t>
            </a:r>
            <a:r>
              <a:rPr b="1" lang="en-US" sz="1400">
                <a:solidFill>
                  <a:srgbClr val="0B5394"/>
                </a:solidFill>
              </a:rPr>
              <a:t>MPI_Test (&amp;request,&amp;flag,&amp;status) </a:t>
            </a:r>
            <a:br>
              <a:rPr b="1" lang="en-US" sz="1400">
                <a:solidFill>
                  <a:srgbClr val="0B5394"/>
                </a:solidFill>
              </a:rPr>
            </a:br>
            <a:r>
              <a:rPr b="1" lang="en-US" sz="1400">
                <a:solidFill>
                  <a:srgbClr val="0B5394"/>
                </a:solidFill>
              </a:rPr>
              <a:t>	MPI_Testany (count,&amp;array_of_requests,&amp;index,&amp;flag,&amp;status)</a:t>
            </a:r>
            <a:br>
              <a:rPr b="1" lang="en-US" sz="1400">
                <a:solidFill>
                  <a:srgbClr val="0B5394"/>
                </a:solidFill>
              </a:rPr>
            </a:br>
            <a:r>
              <a:rPr b="1" lang="en-US" sz="1400">
                <a:solidFill>
                  <a:srgbClr val="0B5394"/>
                </a:solidFill>
              </a:rPr>
              <a:t>	MPI_Testall (count,&amp;array_of_requests,&amp;flag,&amp;array_of_statuses)</a:t>
            </a:r>
            <a:br>
              <a:rPr b="1" lang="en-US" sz="1400">
                <a:solidFill>
                  <a:srgbClr val="0B5394"/>
                </a:solidFill>
              </a:rPr>
            </a:br>
            <a:r>
              <a:rPr b="1" lang="en-US" sz="1400">
                <a:solidFill>
                  <a:srgbClr val="0B5394"/>
                </a:solidFill>
              </a:rPr>
              <a:t>	MPI_Testsome (incount,&amp;array_of_requests,&amp;outcount, &amp;array_of_indices, &amp;array_of_statuses)</a:t>
            </a:r>
            <a:br>
              <a:rPr lang="en-US" sz="1400"/>
            </a:br>
            <a:endParaRPr sz="1400"/>
          </a:p>
          <a:p>
            <a:pPr indent="0" lvl="0" marL="0" rtl="0" algn="l">
              <a:spcBef>
                <a:spcPts val="480"/>
              </a:spcBef>
              <a:spcAft>
                <a:spcPts val="0"/>
              </a:spcAft>
              <a:buNone/>
            </a:pPr>
            <a:r>
              <a:t/>
            </a:r>
            <a:endParaRPr sz="1400"/>
          </a:p>
          <a:p>
            <a:pPr indent="0" lvl="0" marL="0" rtl="0" algn="l">
              <a:spcBef>
                <a:spcPts val="480"/>
              </a:spcBef>
              <a:spcAft>
                <a:spcPts val="0"/>
              </a:spcAft>
              <a:buNone/>
            </a:pPr>
            <a:r>
              <a:t/>
            </a:r>
            <a:endParaRPr sz="1400"/>
          </a:p>
        </p:txBody>
      </p:sp>
      <p:sp>
        <p:nvSpPr>
          <p:cNvPr id="386" name="Google Shape;386;g3f7887d680b_0_18"/>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Non-Blocking Message Passing Routines</a:t>
            </a:r>
            <a:br>
              <a:rPr b="1" lang="en-US"/>
            </a:br>
            <a:endParaRPr b="1"/>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g3f7887d680b_0_24"/>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800"/>
              <a:t>MPI_Iprobe </a:t>
            </a:r>
            <a:endParaRPr b="1" sz="1800"/>
          </a:p>
          <a:p>
            <a:pPr indent="-342900" lvl="0" marL="457200" rtl="0" algn="l">
              <a:spcBef>
                <a:spcPts val="480"/>
              </a:spcBef>
              <a:spcAft>
                <a:spcPts val="0"/>
              </a:spcAft>
              <a:buSzPts val="1800"/>
              <a:buChar char="▪"/>
            </a:pPr>
            <a:r>
              <a:rPr lang="en-US" sz="1800"/>
              <a:t>Performs a non-blocking test for a message. </a:t>
            </a:r>
            <a:endParaRPr sz="1800"/>
          </a:p>
          <a:p>
            <a:pPr indent="0" lvl="0" marL="457200" rtl="0" algn="l">
              <a:spcBef>
                <a:spcPts val="480"/>
              </a:spcBef>
              <a:spcAft>
                <a:spcPts val="0"/>
              </a:spcAft>
              <a:buNone/>
            </a:pPr>
            <a:r>
              <a:t/>
            </a:r>
            <a:endParaRPr sz="1800"/>
          </a:p>
          <a:p>
            <a:pPr indent="-342900" lvl="0" marL="457200" rtl="0" algn="l">
              <a:spcBef>
                <a:spcPts val="480"/>
              </a:spcBef>
              <a:spcAft>
                <a:spcPts val="0"/>
              </a:spcAft>
              <a:buSzPts val="1800"/>
              <a:buChar char="▪"/>
            </a:pPr>
            <a:r>
              <a:rPr lang="en-US" sz="1800"/>
              <a:t>The "wildcards" MPI_ANY_SOURCE and MPI_ANY_TAG may be used to test for a message from any source or with any tag. </a:t>
            </a:r>
            <a:endParaRPr sz="1800"/>
          </a:p>
          <a:p>
            <a:pPr indent="0" lvl="0" marL="457200" rtl="0" algn="l">
              <a:spcBef>
                <a:spcPts val="480"/>
              </a:spcBef>
              <a:spcAft>
                <a:spcPts val="0"/>
              </a:spcAft>
              <a:buNone/>
            </a:pPr>
            <a:r>
              <a:t/>
            </a:r>
            <a:endParaRPr sz="1800"/>
          </a:p>
          <a:p>
            <a:pPr indent="-342900" lvl="0" marL="457200" rtl="0" algn="l">
              <a:spcBef>
                <a:spcPts val="480"/>
              </a:spcBef>
              <a:spcAft>
                <a:spcPts val="0"/>
              </a:spcAft>
              <a:buSzPts val="1800"/>
              <a:buChar char="▪"/>
            </a:pPr>
            <a:r>
              <a:rPr lang="en-US" sz="1800"/>
              <a:t>The integer "flag" parameter is returned logical true (1) if a message has arrived, and logical false (0) if not. </a:t>
            </a:r>
            <a:endParaRPr sz="1800"/>
          </a:p>
          <a:p>
            <a:pPr indent="0" lvl="0" marL="0" rtl="0" algn="l">
              <a:spcBef>
                <a:spcPts val="480"/>
              </a:spcBef>
              <a:spcAft>
                <a:spcPts val="0"/>
              </a:spcAft>
              <a:buNone/>
            </a:pPr>
            <a:r>
              <a:rPr lang="en-US" sz="1800"/>
              <a:t>	</a:t>
            </a:r>
            <a:endParaRPr sz="1800"/>
          </a:p>
          <a:p>
            <a:pPr indent="0" lvl="0" marL="0" rtl="0" algn="l">
              <a:spcBef>
                <a:spcPts val="480"/>
              </a:spcBef>
              <a:spcAft>
                <a:spcPts val="0"/>
              </a:spcAft>
              <a:buNone/>
            </a:pPr>
            <a:r>
              <a:rPr lang="en-US" sz="1800"/>
              <a:t>	</a:t>
            </a:r>
            <a:r>
              <a:rPr b="1" lang="en-US" sz="1800">
                <a:solidFill>
                  <a:srgbClr val="0B5394"/>
                </a:solidFill>
              </a:rPr>
              <a:t>MPI_Iprobe (source,tag,comm,&amp;flag,&amp;status)</a:t>
            </a:r>
            <a:br>
              <a:rPr b="1" lang="en-US" sz="1800">
                <a:solidFill>
                  <a:srgbClr val="0B5394"/>
                </a:solidFill>
              </a:rPr>
            </a:br>
            <a:br>
              <a:rPr lang="en-US" sz="1800"/>
            </a:br>
            <a:endParaRPr sz="1800"/>
          </a:p>
          <a:p>
            <a:pPr indent="0" lvl="0" marL="0" rtl="0" algn="l">
              <a:spcBef>
                <a:spcPts val="480"/>
              </a:spcBef>
              <a:spcAft>
                <a:spcPts val="0"/>
              </a:spcAft>
              <a:buNone/>
            </a:pPr>
            <a:r>
              <a:t/>
            </a:r>
            <a:endParaRPr sz="1800"/>
          </a:p>
          <a:p>
            <a:pPr indent="0" lvl="0" marL="0" rtl="0" algn="l">
              <a:spcBef>
                <a:spcPts val="480"/>
              </a:spcBef>
              <a:spcAft>
                <a:spcPts val="0"/>
              </a:spcAft>
              <a:buNone/>
            </a:pPr>
            <a:r>
              <a:t/>
            </a:r>
            <a:endParaRPr sz="1800"/>
          </a:p>
        </p:txBody>
      </p:sp>
      <p:sp>
        <p:nvSpPr>
          <p:cNvPr id="393" name="Google Shape;393;g3f7887d680b_0_24"/>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Non-Blocking Message Passing Routines</a:t>
            </a:r>
            <a:br>
              <a:rPr b="1" lang="en-US"/>
            </a:br>
            <a:endParaRPr b="1"/>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g3f7887d680b_0_30"/>
          <p:cNvSpPr txBox="1"/>
          <p:nvPr>
            <p:ph idx="1" type="body"/>
          </p:nvPr>
        </p:nvSpPr>
        <p:spPr>
          <a:xfrm>
            <a:off x="262105" y="784550"/>
            <a:ext cx="44631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200">
                <a:latin typeface="Courier New"/>
                <a:ea typeface="Courier New"/>
                <a:cs typeface="Courier New"/>
                <a:sym typeface="Courier New"/>
              </a:rPr>
              <a:t>#include "mpi.h"</a:t>
            </a:r>
            <a:endParaRPr b="1" sz="1200">
              <a:latin typeface="Courier New"/>
              <a:ea typeface="Courier New"/>
              <a:cs typeface="Courier New"/>
              <a:sym typeface="Courier New"/>
            </a:endParaRPr>
          </a:p>
          <a:p>
            <a:pPr indent="0" lvl="0" marL="0" rtl="0" algn="l">
              <a:spcBef>
                <a:spcPts val="480"/>
              </a:spcBef>
              <a:spcAft>
                <a:spcPts val="0"/>
              </a:spcAft>
              <a:buNone/>
            </a:pPr>
            <a:r>
              <a:rPr b="1" lang="en-US" sz="1200">
                <a:latin typeface="Courier New"/>
                <a:ea typeface="Courier New"/>
                <a:cs typeface="Courier New"/>
                <a:sym typeface="Courier New"/>
              </a:rPr>
              <a:t>#include &lt;stdio.h&gt;</a:t>
            </a:r>
            <a:endParaRPr b="1" sz="1200">
              <a:latin typeface="Courier New"/>
              <a:ea typeface="Courier New"/>
              <a:cs typeface="Courier New"/>
              <a:sym typeface="Courier New"/>
            </a:endParaRPr>
          </a:p>
          <a:p>
            <a:pPr indent="0" lvl="0" marL="0" rtl="0" algn="l">
              <a:spcBef>
                <a:spcPts val="480"/>
              </a:spcBef>
              <a:spcAft>
                <a:spcPts val="0"/>
              </a:spcAft>
              <a:buNone/>
            </a:pPr>
            <a:r>
              <a:t/>
            </a:r>
            <a:endParaRPr b="1" sz="1200">
              <a:latin typeface="Courier New"/>
              <a:ea typeface="Courier New"/>
              <a:cs typeface="Courier New"/>
              <a:sym typeface="Courier New"/>
            </a:endParaRPr>
          </a:p>
          <a:p>
            <a:pPr indent="0" lvl="0" marL="0" rtl="0" algn="l">
              <a:spcBef>
                <a:spcPts val="480"/>
              </a:spcBef>
              <a:spcAft>
                <a:spcPts val="0"/>
              </a:spcAft>
              <a:buNone/>
            </a:pPr>
            <a:r>
              <a:rPr b="1" lang="en-US" sz="1200">
                <a:latin typeface="Courier New"/>
                <a:ea typeface="Courier New"/>
                <a:cs typeface="Courier New"/>
                <a:sym typeface="Courier New"/>
              </a:rPr>
              <a:t>int main(int argc, char *argv[])</a:t>
            </a:r>
            <a:endParaRPr b="1" sz="1200">
              <a:latin typeface="Courier New"/>
              <a:ea typeface="Courier New"/>
              <a:cs typeface="Courier New"/>
              <a:sym typeface="Courier New"/>
            </a:endParaRPr>
          </a:p>
          <a:p>
            <a:pPr indent="0" lvl="0" marL="0" rtl="0" algn="l">
              <a:spcBef>
                <a:spcPts val="480"/>
              </a:spcBef>
              <a:spcAft>
                <a:spcPts val="0"/>
              </a:spcAft>
              <a:buNone/>
            </a:pPr>
            <a:r>
              <a:rPr b="1" lang="en-US" sz="1200">
                <a:latin typeface="Courier New"/>
                <a:ea typeface="Courier New"/>
                <a:cs typeface="Courier New"/>
                <a:sym typeface="Courier New"/>
              </a:rPr>
              <a:t>{ </a:t>
            </a:r>
            <a:endParaRPr b="1" sz="1200">
              <a:latin typeface="Courier New"/>
              <a:ea typeface="Courier New"/>
              <a:cs typeface="Courier New"/>
              <a:sym typeface="Courier New"/>
            </a:endParaRPr>
          </a:p>
          <a:p>
            <a:pPr indent="0" lvl="0" marL="0" rtl="0" algn="l">
              <a:spcBef>
                <a:spcPts val="480"/>
              </a:spcBef>
              <a:spcAft>
                <a:spcPts val="0"/>
              </a:spcAft>
              <a:buNone/>
            </a:pPr>
            <a:r>
              <a:rPr b="1" lang="en-US" sz="1200">
                <a:latin typeface="Courier New"/>
                <a:ea typeface="Courier New"/>
                <a:cs typeface="Courier New"/>
                <a:sym typeface="Courier New"/>
              </a:rPr>
              <a:t>int numtasks, rank, next, prev, buf[2],   </a:t>
            </a:r>
            <a:endParaRPr b="1" sz="1200">
              <a:latin typeface="Courier New"/>
              <a:ea typeface="Courier New"/>
              <a:cs typeface="Courier New"/>
              <a:sym typeface="Courier New"/>
            </a:endParaRPr>
          </a:p>
          <a:p>
            <a:pPr indent="0" lvl="0" marL="0" rtl="0" algn="l">
              <a:spcBef>
                <a:spcPts val="480"/>
              </a:spcBef>
              <a:spcAft>
                <a:spcPts val="0"/>
              </a:spcAft>
              <a:buNone/>
            </a:pPr>
            <a:r>
              <a:rPr b="1" lang="en-US" sz="1200">
                <a:latin typeface="Courier New"/>
                <a:ea typeface="Courier New"/>
                <a:cs typeface="Courier New"/>
                <a:sym typeface="Courier New"/>
              </a:rPr>
              <a:t>    tag1=1, tag2=2;</a:t>
            </a:r>
            <a:endParaRPr b="1" sz="1200">
              <a:latin typeface="Courier New"/>
              <a:ea typeface="Courier New"/>
              <a:cs typeface="Courier New"/>
              <a:sym typeface="Courier New"/>
            </a:endParaRPr>
          </a:p>
          <a:p>
            <a:pPr indent="0" lvl="0" marL="0" rtl="0" algn="l">
              <a:spcBef>
                <a:spcPts val="480"/>
              </a:spcBef>
              <a:spcAft>
                <a:spcPts val="0"/>
              </a:spcAft>
              <a:buNone/>
            </a:pPr>
            <a:r>
              <a:rPr b="1" lang="en-US" sz="1200">
                <a:latin typeface="Courier New"/>
                <a:ea typeface="Courier New"/>
                <a:cs typeface="Courier New"/>
                <a:sym typeface="Courier New"/>
              </a:rPr>
              <a:t>MPI_Request reqs[4];</a:t>
            </a:r>
            <a:endParaRPr b="1" sz="1200">
              <a:latin typeface="Courier New"/>
              <a:ea typeface="Courier New"/>
              <a:cs typeface="Courier New"/>
              <a:sym typeface="Courier New"/>
            </a:endParaRPr>
          </a:p>
          <a:p>
            <a:pPr indent="0" lvl="0" marL="0" rtl="0" algn="l">
              <a:spcBef>
                <a:spcPts val="480"/>
              </a:spcBef>
              <a:spcAft>
                <a:spcPts val="0"/>
              </a:spcAft>
              <a:buNone/>
            </a:pPr>
            <a:r>
              <a:rPr b="1" lang="en-US" sz="1200">
                <a:latin typeface="Courier New"/>
                <a:ea typeface="Courier New"/>
                <a:cs typeface="Courier New"/>
                <a:sym typeface="Courier New"/>
              </a:rPr>
              <a:t>MPI_Status stats[4];</a:t>
            </a:r>
            <a:endParaRPr b="1" sz="1200">
              <a:latin typeface="Courier New"/>
              <a:ea typeface="Courier New"/>
              <a:cs typeface="Courier New"/>
              <a:sym typeface="Courier New"/>
            </a:endParaRPr>
          </a:p>
          <a:p>
            <a:pPr indent="0" lvl="0" marL="0" rtl="0" algn="l">
              <a:spcBef>
                <a:spcPts val="480"/>
              </a:spcBef>
              <a:spcAft>
                <a:spcPts val="0"/>
              </a:spcAft>
              <a:buNone/>
            </a:pPr>
            <a:r>
              <a:rPr b="1" lang="en-US" sz="1200">
                <a:latin typeface="Courier New"/>
                <a:ea typeface="Courier New"/>
                <a:cs typeface="Courier New"/>
                <a:sym typeface="Courier New"/>
              </a:rPr>
              <a:t>MPI_Init(&amp;argc,&amp;argv);</a:t>
            </a:r>
            <a:endParaRPr b="1" sz="1200">
              <a:latin typeface="Courier New"/>
              <a:ea typeface="Courier New"/>
              <a:cs typeface="Courier New"/>
              <a:sym typeface="Courier New"/>
            </a:endParaRPr>
          </a:p>
          <a:p>
            <a:pPr indent="0" lvl="0" marL="0" rtl="0" algn="l">
              <a:spcBef>
                <a:spcPts val="480"/>
              </a:spcBef>
              <a:spcAft>
                <a:spcPts val="0"/>
              </a:spcAft>
              <a:buNone/>
            </a:pPr>
            <a:r>
              <a:rPr b="1" lang="en-US" sz="1200">
                <a:latin typeface="Courier New"/>
                <a:ea typeface="Courier New"/>
                <a:cs typeface="Courier New"/>
                <a:sym typeface="Courier New"/>
              </a:rPr>
              <a:t>MPI_Comm_size(MPI_COMM_WORLD, &amp;numtasks); </a:t>
            </a:r>
            <a:endParaRPr b="1" sz="1200">
              <a:latin typeface="Courier New"/>
              <a:ea typeface="Courier New"/>
              <a:cs typeface="Courier New"/>
              <a:sym typeface="Courier New"/>
            </a:endParaRPr>
          </a:p>
          <a:p>
            <a:pPr indent="0" lvl="0" marL="0" rtl="0" algn="l">
              <a:spcBef>
                <a:spcPts val="480"/>
              </a:spcBef>
              <a:spcAft>
                <a:spcPts val="0"/>
              </a:spcAft>
              <a:buNone/>
            </a:pPr>
            <a:r>
              <a:rPr b="1" lang="en-US" sz="1200">
                <a:latin typeface="Courier New"/>
                <a:ea typeface="Courier New"/>
                <a:cs typeface="Courier New"/>
                <a:sym typeface="Courier New"/>
              </a:rPr>
              <a:t>MPI_Comm_rank(MPI_COMM_WORLD, &amp;rank);</a:t>
            </a:r>
            <a:endParaRPr b="1" sz="1200">
              <a:latin typeface="Courier New"/>
              <a:ea typeface="Courier New"/>
              <a:cs typeface="Courier New"/>
              <a:sym typeface="Courier New"/>
            </a:endParaRPr>
          </a:p>
          <a:p>
            <a:pPr indent="0" lvl="0" marL="0" rtl="0" algn="l">
              <a:spcBef>
                <a:spcPts val="480"/>
              </a:spcBef>
              <a:spcAft>
                <a:spcPts val="0"/>
              </a:spcAft>
              <a:buNone/>
            </a:pPr>
            <a:r>
              <a:rPr b="1" lang="en-US" sz="1200">
                <a:latin typeface="Courier New"/>
                <a:ea typeface="Courier New"/>
                <a:cs typeface="Courier New"/>
                <a:sym typeface="Courier New"/>
              </a:rPr>
              <a:t>prev = rank-1;</a:t>
            </a:r>
            <a:endParaRPr b="1" sz="1200">
              <a:latin typeface="Courier New"/>
              <a:ea typeface="Courier New"/>
              <a:cs typeface="Courier New"/>
              <a:sym typeface="Courier New"/>
            </a:endParaRPr>
          </a:p>
          <a:p>
            <a:pPr indent="0" lvl="0" marL="0" rtl="0" algn="l">
              <a:spcBef>
                <a:spcPts val="480"/>
              </a:spcBef>
              <a:spcAft>
                <a:spcPts val="0"/>
              </a:spcAft>
              <a:buNone/>
            </a:pPr>
            <a:r>
              <a:rPr b="1" lang="en-US" sz="1200">
                <a:latin typeface="Courier New"/>
                <a:ea typeface="Courier New"/>
                <a:cs typeface="Courier New"/>
                <a:sym typeface="Courier New"/>
              </a:rPr>
              <a:t>next = rank+1;</a:t>
            </a:r>
            <a:endParaRPr b="1" sz="1200">
              <a:latin typeface="Courier New"/>
              <a:ea typeface="Courier New"/>
              <a:cs typeface="Courier New"/>
              <a:sym typeface="Courier New"/>
            </a:endParaRPr>
          </a:p>
        </p:txBody>
      </p:sp>
      <p:sp>
        <p:nvSpPr>
          <p:cNvPr id="400" name="Google Shape;400;g3f7887d680b_0_30"/>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Example: Non-Blocking Message Passing Routines</a:t>
            </a:r>
            <a:endParaRPr b="1"/>
          </a:p>
        </p:txBody>
      </p:sp>
      <p:sp>
        <p:nvSpPr>
          <p:cNvPr id="401" name="Google Shape;401;g3f7887d680b_0_30"/>
          <p:cNvSpPr txBox="1"/>
          <p:nvPr/>
        </p:nvSpPr>
        <p:spPr>
          <a:xfrm>
            <a:off x="4638500" y="728000"/>
            <a:ext cx="4387200" cy="3755700"/>
          </a:xfrm>
          <a:prstGeom prst="rect">
            <a:avLst/>
          </a:prstGeom>
          <a:noFill/>
          <a:ln>
            <a:noFill/>
          </a:ln>
        </p:spPr>
        <p:txBody>
          <a:bodyPr anchorCtr="0" anchor="t" bIns="91425" lIns="91425" spcFirstLastPara="1" rIns="91425" wrap="square" tIns="91425">
            <a:spAutoFit/>
          </a:bodyPr>
          <a:lstStyle/>
          <a:p>
            <a:pPr indent="0" lvl="0" marL="0" rtl="0" algn="l">
              <a:spcBef>
                <a:spcPts val="480"/>
              </a:spcBef>
              <a:spcAft>
                <a:spcPts val="0"/>
              </a:spcAft>
              <a:buNone/>
            </a:pPr>
            <a:r>
              <a:rPr b="1" lang="en-US" sz="1200">
                <a:solidFill>
                  <a:schemeClr val="dk1"/>
                </a:solidFill>
                <a:latin typeface="Courier New"/>
                <a:ea typeface="Courier New"/>
                <a:cs typeface="Courier New"/>
                <a:sym typeface="Courier New"/>
              </a:rPr>
              <a:t>if (rank == 0) prev = numtasks - 1;</a:t>
            </a:r>
            <a:endParaRPr b="1" sz="12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200">
                <a:solidFill>
                  <a:schemeClr val="dk1"/>
                </a:solidFill>
                <a:latin typeface="Courier New"/>
                <a:ea typeface="Courier New"/>
                <a:cs typeface="Courier New"/>
                <a:sym typeface="Courier New"/>
              </a:rPr>
              <a:t>if (rank == (numtasks - 1)) next = 0;</a:t>
            </a:r>
            <a:endParaRPr b="1" sz="12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200">
                <a:solidFill>
                  <a:srgbClr val="FF0000"/>
                </a:solidFill>
                <a:latin typeface="Courier New"/>
                <a:ea typeface="Courier New"/>
                <a:cs typeface="Courier New"/>
                <a:sym typeface="Courier New"/>
              </a:rPr>
              <a:t>MPI_Irecv</a:t>
            </a:r>
            <a:r>
              <a:rPr b="1" lang="en-US" sz="1200">
                <a:solidFill>
                  <a:schemeClr val="dk1"/>
                </a:solidFill>
                <a:latin typeface="Courier New"/>
                <a:ea typeface="Courier New"/>
                <a:cs typeface="Courier New"/>
                <a:sym typeface="Courier New"/>
              </a:rPr>
              <a:t>(&amp;buf[0], 1, MPI_INT, prev, tag1, MPI_COMM_WORLD, &amp;reqs[0]);</a:t>
            </a:r>
            <a:endParaRPr b="1" sz="12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200">
                <a:solidFill>
                  <a:srgbClr val="FF0000"/>
                </a:solidFill>
                <a:latin typeface="Courier New"/>
                <a:ea typeface="Courier New"/>
                <a:cs typeface="Courier New"/>
                <a:sym typeface="Courier New"/>
              </a:rPr>
              <a:t>MPI_Irecv</a:t>
            </a:r>
            <a:r>
              <a:rPr b="1" lang="en-US" sz="1200">
                <a:solidFill>
                  <a:schemeClr val="dk1"/>
                </a:solidFill>
                <a:latin typeface="Courier New"/>
                <a:ea typeface="Courier New"/>
                <a:cs typeface="Courier New"/>
                <a:sym typeface="Courier New"/>
              </a:rPr>
              <a:t>(&amp;buf[1], 1, MPI_INT, next, tag2, MPI_COMM_WORLD, &amp;reqs[1]);</a:t>
            </a:r>
            <a:endParaRPr b="1" sz="12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200">
                <a:solidFill>
                  <a:srgbClr val="FF0000"/>
                </a:solidFill>
                <a:latin typeface="Courier New"/>
                <a:ea typeface="Courier New"/>
                <a:cs typeface="Courier New"/>
                <a:sym typeface="Courier New"/>
              </a:rPr>
              <a:t>MPI_Isend</a:t>
            </a:r>
            <a:r>
              <a:rPr b="1" lang="en-US" sz="1200">
                <a:solidFill>
                  <a:schemeClr val="dk1"/>
                </a:solidFill>
                <a:latin typeface="Courier New"/>
                <a:ea typeface="Courier New"/>
                <a:cs typeface="Courier New"/>
                <a:sym typeface="Courier New"/>
              </a:rPr>
              <a:t>(&amp;rank, 1, MPI_INT, prev, tag2, MPI_COMM_WORLD, &amp;reqs[2]);</a:t>
            </a:r>
            <a:endParaRPr b="1" sz="12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200">
                <a:solidFill>
                  <a:srgbClr val="FF0000"/>
                </a:solidFill>
                <a:latin typeface="Courier New"/>
                <a:ea typeface="Courier New"/>
                <a:cs typeface="Courier New"/>
                <a:sym typeface="Courier New"/>
              </a:rPr>
              <a:t>MPI_Isend</a:t>
            </a:r>
            <a:r>
              <a:rPr b="1" lang="en-US" sz="1200">
                <a:solidFill>
                  <a:schemeClr val="dk1"/>
                </a:solidFill>
                <a:latin typeface="Courier New"/>
                <a:ea typeface="Courier New"/>
                <a:cs typeface="Courier New"/>
                <a:sym typeface="Courier New"/>
              </a:rPr>
              <a:t>(&amp;rank, 1, MPI_INT, next, tag1, MPI_COMM_WORLD, &amp;reqs[3]);</a:t>
            </a:r>
            <a:endParaRPr b="1" sz="12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200">
                <a:solidFill>
                  <a:schemeClr val="dk1"/>
                </a:solidFill>
                <a:latin typeface="Courier New"/>
                <a:ea typeface="Courier New"/>
                <a:cs typeface="Courier New"/>
                <a:sym typeface="Courier New"/>
              </a:rPr>
              <a:t> { /* do some work */ }</a:t>
            </a:r>
            <a:endParaRPr b="1" sz="12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200">
                <a:solidFill>
                  <a:srgbClr val="FF0000"/>
                </a:solidFill>
                <a:latin typeface="Courier New"/>
                <a:ea typeface="Courier New"/>
                <a:cs typeface="Courier New"/>
                <a:sym typeface="Courier New"/>
              </a:rPr>
              <a:t>MPI_Waitall</a:t>
            </a:r>
            <a:r>
              <a:rPr b="1" lang="en-US" sz="1200">
                <a:solidFill>
                  <a:schemeClr val="dk1"/>
                </a:solidFill>
                <a:latin typeface="Courier New"/>
                <a:ea typeface="Courier New"/>
                <a:cs typeface="Courier New"/>
                <a:sym typeface="Courier New"/>
              </a:rPr>
              <a:t>(4, reqs, stats);</a:t>
            </a:r>
            <a:endParaRPr b="1" sz="12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200">
                <a:solidFill>
                  <a:schemeClr val="dk1"/>
                </a:solidFill>
                <a:latin typeface="Courier New"/>
                <a:ea typeface="Courier New"/>
                <a:cs typeface="Courier New"/>
                <a:sym typeface="Courier New"/>
              </a:rPr>
              <a:t>printf("I am proc %d buf[0]=%d buf[1]=%d\n",rank,buf[0],buf[1]);</a:t>
            </a:r>
            <a:endParaRPr b="1" sz="12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200">
                <a:solidFill>
                  <a:schemeClr val="dk1"/>
                </a:solidFill>
                <a:latin typeface="Courier New"/>
                <a:ea typeface="Courier New"/>
                <a:cs typeface="Courier New"/>
                <a:sym typeface="Courier New"/>
              </a:rPr>
              <a:t>MPI_Finalize(); </a:t>
            </a:r>
            <a:endParaRPr b="1" sz="12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g3fac13c8a26_1_82"/>
          <p:cNvSpPr txBox="1"/>
          <p:nvPr>
            <p:ph idx="1" type="body"/>
          </p:nvPr>
        </p:nvSpPr>
        <p:spPr>
          <a:xfrm>
            <a:off x="274320" y="1887378"/>
            <a:ext cx="6987300" cy="102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FFFF"/>
              </a:buClr>
              <a:buSzPts val="3000"/>
              <a:buFont typeface="Arial"/>
              <a:buNone/>
            </a:pPr>
            <a:r>
              <a:rPr lang="en-US"/>
              <a:t>Collective Communication</a:t>
            </a:r>
            <a:endParaRPr sz="24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g3f7887d680b_0_44"/>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700"/>
              <a:t>All or None: </a:t>
            </a:r>
            <a:endParaRPr b="1" sz="1700"/>
          </a:p>
          <a:p>
            <a:pPr indent="-336550" lvl="0" marL="457200" rtl="0" algn="l">
              <a:spcBef>
                <a:spcPts val="480"/>
              </a:spcBef>
              <a:spcAft>
                <a:spcPts val="0"/>
              </a:spcAft>
              <a:buSzPts val="1700"/>
              <a:buChar char="▪"/>
            </a:pPr>
            <a:r>
              <a:rPr lang="en-US" sz="1700"/>
              <a:t>Collective communication involve </a:t>
            </a:r>
            <a:r>
              <a:rPr lang="en-US" sz="1700">
                <a:solidFill>
                  <a:srgbClr val="FF0000"/>
                </a:solidFill>
              </a:rPr>
              <a:t>all processes in the scope of a communicator.</a:t>
            </a:r>
            <a:r>
              <a:rPr lang="en-US" sz="1700"/>
              <a:t> </a:t>
            </a:r>
            <a:endParaRPr sz="1700"/>
          </a:p>
          <a:p>
            <a:pPr indent="-336550" lvl="0" marL="457200" rtl="0" algn="l">
              <a:spcBef>
                <a:spcPts val="0"/>
              </a:spcBef>
              <a:spcAft>
                <a:spcPts val="0"/>
              </a:spcAft>
              <a:buSzPts val="1700"/>
              <a:buChar char="▪"/>
            </a:pPr>
            <a:r>
              <a:rPr lang="en-US" sz="1700"/>
              <a:t>Programmer's responsibility to ensure all processes within a communicator are </a:t>
            </a:r>
            <a:r>
              <a:rPr lang="en-US" sz="1700"/>
              <a:t>correctly</a:t>
            </a:r>
            <a:r>
              <a:rPr lang="en-US" sz="1700"/>
              <a:t> participating in any collective operations. </a:t>
            </a:r>
            <a:endParaRPr sz="1700"/>
          </a:p>
          <a:p>
            <a:pPr indent="0" lvl="0" marL="0" rtl="0" algn="l">
              <a:spcBef>
                <a:spcPts val="480"/>
              </a:spcBef>
              <a:spcAft>
                <a:spcPts val="0"/>
              </a:spcAft>
              <a:buNone/>
            </a:pPr>
            <a:r>
              <a:t/>
            </a:r>
            <a:endParaRPr b="1" sz="1700"/>
          </a:p>
          <a:p>
            <a:pPr indent="0" lvl="0" marL="0" rtl="0" algn="l">
              <a:spcBef>
                <a:spcPts val="480"/>
              </a:spcBef>
              <a:spcAft>
                <a:spcPts val="0"/>
              </a:spcAft>
              <a:buNone/>
            </a:pPr>
            <a:r>
              <a:rPr b="1" lang="en-US" sz="1700"/>
              <a:t>General types of collective operations: </a:t>
            </a:r>
            <a:endParaRPr b="1" sz="1700"/>
          </a:p>
          <a:p>
            <a:pPr indent="-336550" lvl="0" marL="457200" rtl="0" algn="l">
              <a:spcBef>
                <a:spcPts val="480"/>
              </a:spcBef>
              <a:spcAft>
                <a:spcPts val="0"/>
              </a:spcAft>
              <a:buSzPts val="1700"/>
              <a:buChar char="▪"/>
            </a:pPr>
            <a:r>
              <a:rPr lang="en-US" sz="1700" u="sng"/>
              <a:t>Synchronization</a:t>
            </a:r>
            <a:r>
              <a:rPr lang="en-US" sz="1700"/>
              <a:t>: processes wait until all members of the group have reached the synchronization point. </a:t>
            </a:r>
            <a:endParaRPr sz="1700"/>
          </a:p>
          <a:p>
            <a:pPr indent="-336550" lvl="0" marL="457200" rtl="0" algn="l">
              <a:spcBef>
                <a:spcPts val="0"/>
              </a:spcBef>
              <a:spcAft>
                <a:spcPts val="0"/>
              </a:spcAft>
              <a:buSzPts val="1700"/>
              <a:buChar char="▪"/>
            </a:pPr>
            <a:r>
              <a:rPr lang="en-US" sz="1700" u="sng">
                <a:solidFill>
                  <a:srgbClr val="000000"/>
                </a:solidFill>
              </a:rPr>
              <a:t>Data Movement</a:t>
            </a:r>
            <a:r>
              <a:rPr lang="en-US" sz="1700"/>
              <a:t>: broadcast, scatter/gather, all to all. </a:t>
            </a:r>
            <a:endParaRPr sz="1700"/>
          </a:p>
          <a:p>
            <a:pPr indent="-336550" lvl="0" marL="457200" rtl="0" algn="l">
              <a:spcBef>
                <a:spcPts val="0"/>
              </a:spcBef>
              <a:spcAft>
                <a:spcPts val="0"/>
              </a:spcAft>
              <a:buSzPts val="1700"/>
              <a:buChar char="▪"/>
            </a:pPr>
            <a:r>
              <a:rPr lang="en-US" sz="1700" u="sng"/>
              <a:t>Collective Computation (e.g., reductions)</a:t>
            </a:r>
            <a:r>
              <a:rPr lang="en-US" sz="1700"/>
              <a:t>: one member of the group collects data from the other members and performs an operation (e.g., min, max, add, multiply) on that data. </a:t>
            </a:r>
            <a:endParaRPr sz="1700"/>
          </a:p>
        </p:txBody>
      </p:sp>
      <p:sp>
        <p:nvSpPr>
          <p:cNvPr id="414" name="Google Shape;414;g3f7887d680b_0_44"/>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Collective Communication</a:t>
            </a:r>
            <a:endParaRPr b="1"/>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3f7887d680b_0_50"/>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800"/>
              <a:t>Programming Considerations and Restrictions: </a:t>
            </a:r>
            <a:endParaRPr b="1" sz="1800"/>
          </a:p>
          <a:p>
            <a:pPr indent="0" lvl="0" marL="0" rtl="0" algn="l">
              <a:spcBef>
                <a:spcPts val="480"/>
              </a:spcBef>
              <a:spcAft>
                <a:spcPts val="0"/>
              </a:spcAft>
              <a:buNone/>
            </a:pPr>
            <a:r>
              <a:t/>
            </a:r>
            <a:endParaRPr sz="1800"/>
          </a:p>
          <a:p>
            <a:pPr indent="-342900" lvl="0" marL="457200" rtl="0" algn="l">
              <a:spcBef>
                <a:spcPts val="480"/>
              </a:spcBef>
              <a:spcAft>
                <a:spcPts val="0"/>
              </a:spcAft>
              <a:buSzPts val="1800"/>
              <a:buChar char="▪"/>
            </a:pPr>
            <a:r>
              <a:rPr lang="en-US" sz="1800"/>
              <a:t>Collective operations are </a:t>
            </a:r>
            <a:r>
              <a:rPr b="1" lang="en-US" sz="1800">
                <a:solidFill>
                  <a:srgbClr val="FF0000"/>
                </a:solidFill>
              </a:rPr>
              <a:t>blocking</a:t>
            </a:r>
            <a:r>
              <a:rPr lang="en-US" sz="1800"/>
              <a:t>. </a:t>
            </a:r>
            <a:endParaRPr sz="1800"/>
          </a:p>
          <a:p>
            <a:pPr indent="0" lvl="0" marL="457200" rtl="0" algn="l">
              <a:spcBef>
                <a:spcPts val="480"/>
              </a:spcBef>
              <a:spcAft>
                <a:spcPts val="0"/>
              </a:spcAft>
              <a:buNone/>
            </a:pPr>
            <a:r>
              <a:t/>
            </a:r>
            <a:endParaRPr sz="1800"/>
          </a:p>
          <a:p>
            <a:pPr indent="-342900" lvl="0" marL="457200" rtl="0" algn="l">
              <a:spcBef>
                <a:spcPts val="480"/>
              </a:spcBef>
              <a:spcAft>
                <a:spcPts val="0"/>
              </a:spcAft>
              <a:buSzPts val="1800"/>
              <a:buChar char="▪"/>
            </a:pPr>
            <a:r>
              <a:rPr lang="en-US" sz="1800"/>
              <a:t>Collective communication routines do not have message tag arguments.</a:t>
            </a:r>
            <a:endParaRPr sz="1800"/>
          </a:p>
          <a:p>
            <a:pPr indent="0" lvl="0" marL="457200" rtl="0" algn="l">
              <a:spcBef>
                <a:spcPts val="480"/>
              </a:spcBef>
              <a:spcAft>
                <a:spcPts val="0"/>
              </a:spcAft>
              <a:buNone/>
            </a:pPr>
            <a:r>
              <a:t/>
            </a:r>
            <a:endParaRPr sz="1800"/>
          </a:p>
          <a:p>
            <a:pPr indent="-342900" lvl="0" marL="457200" rtl="0" algn="l">
              <a:spcBef>
                <a:spcPts val="480"/>
              </a:spcBef>
              <a:spcAft>
                <a:spcPts val="0"/>
              </a:spcAft>
              <a:buSzPts val="1800"/>
              <a:buChar char="▪"/>
            </a:pPr>
            <a:r>
              <a:rPr lang="en-US" sz="1800"/>
              <a:t>Putting in wrong communicator may result in </a:t>
            </a:r>
            <a:r>
              <a:rPr lang="en-US" sz="1800"/>
              <a:t>erroneous</a:t>
            </a:r>
            <a:r>
              <a:rPr lang="en-US" sz="1800"/>
              <a:t> computation or deadlock.</a:t>
            </a:r>
            <a:endParaRPr sz="1800"/>
          </a:p>
          <a:p>
            <a:pPr indent="0" lvl="0" marL="0" rtl="0" algn="l">
              <a:spcBef>
                <a:spcPts val="480"/>
              </a:spcBef>
              <a:spcAft>
                <a:spcPts val="0"/>
              </a:spcAft>
              <a:buNone/>
            </a:pPr>
            <a:r>
              <a:t/>
            </a:r>
            <a:endParaRPr sz="1800"/>
          </a:p>
          <a:p>
            <a:pPr indent="0" lvl="0" marL="0" rtl="0" algn="l">
              <a:spcBef>
                <a:spcPts val="480"/>
              </a:spcBef>
              <a:spcAft>
                <a:spcPts val="0"/>
              </a:spcAft>
              <a:buNone/>
            </a:pPr>
            <a:r>
              <a:t/>
            </a:r>
            <a:endParaRPr sz="1800"/>
          </a:p>
          <a:p>
            <a:pPr indent="0" lvl="0" marL="0" rtl="0" algn="l">
              <a:spcBef>
                <a:spcPts val="480"/>
              </a:spcBef>
              <a:spcAft>
                <a:spcPts val="0"/>
              </a:spcAft>
              <a:buNone/>
            </a:pPr>
            <a:r>
              <a:t/>
            </a:r>
            <a:endParaRPr sz="1800"/>
          </a:p>
          <a:p>
            <a:pPr indent="0" lvl="0" marL="0" rtl="0" algn="l">
              <a:spcBef>
                <a:spcPts val="480"/>
              </a:spcBef>
              <a:spcAft>
                <a:spcPts val="0"/>
              </a:spcAft>
              <a:buNone/>
            </a:pPr>
            <a:r>
              <a:t/>
            </a:r>
            <a:endParaRPr sz="1800"/>
          </a:p>
        </p:txBody>
      </p:sp>
      <p:sp>
        <p:nvSpPr>
          <p:cNvPr id="421" name="Google Shape;421;g3f7887d680b_0_50"/>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Collective Communication</a:t>
            </a:r>
            <a:endParaRPr b="1"/>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g3f7887d680b_0_57"/>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800"/>
              <a:t>MPI_Barrier</a:t>
            </a:r>
            <a:r>
              <a:rPr lang="en-US" sz="1800"/>
              <a:t> </a:t>
            </a:r>
            <a:endParaRPr sz="1800"/>
          </a:p>
          <a:p>
            <a:pPr indent="-342900" lvl="0" marL="457200" rtl="0" algn="l">
              <a:spcBef>
                <a:spcPts val="480"/>
              </a:spcBef>
              <a:spcAft>
                <a:spcPts val="0"/>
              </a:spcAft>
              <a:buSzPts val="1800"/>
              <a:buChar char="▪"/>
            </a:pPr>
            <a:r>
              <a:rPr lang="en-US" sz="1800"/>
              <a:t>Creates a barrier synchronization (within a group/subgroup of processes). </a:t>
            </a:r>
            <a:endParaRPr sz="1800"/>
          </a:p>
          <a:p>
            <a:pPr indent="-342900" lvl="0" marL="457200" rtl="0" algn="l">
              <a:spcBef>
                <a:spcPts val="0"/>
              </a:spcBef>
              <a:spcAft>
                <a:spcPts val="0"/>
              </a:spcAft>
              <a:buSzPts val="1800"/>
              <a:buChar char="▪"/>
            </a:pPr>
            <a:r>
              <a:rPr lang="en-US" sz="1800"/>
              <a:t>Each task (process) when reaching the MPI_Barrier call, blocks until all tasks in the group reach the same MPI_Barrier call. </a:t>
            </a:r>
            <a:endParaRPr sz="1800"/>
          </a:p>
          <a:p>
            <a:pPr indent="0" lvl="0" marL="457200" rtl="0" algn="l">
              <a:spcBef>
                <a:spcPts val="480"/>
              </a:spcBef>
              <a:spcAft>
                <a:spcPts val="0"/>
              </a:spcAft>
              <a:buNone/>
            </a:pPr>
            <a:r>
              <a:t/>
            </a:r>
            <a:endParaRPr sz="1800"/>
          </a:p>
          <a:p>
            <a:pPr indent="0" lvl="0" marL="0" rtl="0" algn="l">
              <a:spcBef>
                <a:spcPts val="480"/>
              </a:spcBef>
              <a:spcAft>
                <a:spcPts val="0"/>
              </a:spcAft>
              <a:buNone/>
            </a:pPr>
            <a:r>
              <a:rPr lang="en-US" sz="1800"/>
              <a:t>		</a:t>
            </a:r>
            <a:r>
              <a:rPr b="1" lang="en-US" sz="1800">
                <a:solidFill>
                  <a:srgbClr val="0B5394"/>
                </a:solidFill>
              </a:rPr>
              <a:t>MPI_Barrier (comm) </a:t>
            </a:r>
            <a:r>
              <a:rPr lang="en-US" sz="1800"/>
              <a:t> </a:t>
            </a:r>
            <a:endParaRPr sz="1800"/>
          </a:p>
          <a:p>
            <a:pPr indent="0" lvl="0" marL="0" rtl="0" algn="l">
              <a:spcBef>
                <a:spcPts val="480"/>
              </a:spcBef>
              <a:spcAft>
                <a:spcPts val="0"/>
              </a:spcAft>
              <a:buNone/>
            </a:pPr>
            <a:r>
              <a:rPr b="1" lang="en-US" sz="1800"/>
              <a:t>MPI_Bcast </a:t>
            </a:r>
            <a:endParaRPr b="1" sz="1800"/>
          </a:p>
          <a:p>
            <a:pPr indent="-342900" lvl="0" marL="457200" rtl="0" algn="l">
              <a:spcBef>
                <a:spcPts val="480"/>
              </a:spcBef>
              <a:spcAft>
                <a:spcPts val="0"/>
              </a:spcAft>
              <a:buSzPts val="1800"/>
              <a:buChar char="▪"/>
            </a:pPr>
            <a:r>
              <a:rPr lang="en-US" sz="1800"/>
              <a:t>Broadcasts (sends) a message from the “</a:t>
            </a:r>
            <a:r>
              <a:rPr lang="en-US" sz="1800">
                <a:solidFill>
                  <a:srgbClr val="FF0000"/>
                </a:solidFill>
              </a:rPr>
              <a:t>root</a:t>
            </a:r>
            <a:r>
              <a:rPr lang="en-US" sz="1800"/>
              <a:t>” process to all other processes in the group. </a:t>
            </a:r>
            <a:endParaRPr sz="1800"/>
          </a:p>
          <a:p>
            <a:pPr indent="0" lvl="0" marL="457200" rtl="0" algn="l">
              <a:spcBef>
                <a:spcPts val="480"/>
              </a:spcBef>
              <a:spcAft>
                <a:spcPts val="0"/>
              </a:spcAft>
              <a:buNone/>
            </a:pPr>
            <a:br>
              <a:rPr lang="en-US" sz="1800"/>
            </a:br>
            <a:r>
              <a:rPr lang="en-US" sz="1800"/>
              <a:t>	</a:t>
            </a:r>
            <a:r>
              <a:rPr b="1" lang="en-US" sz="1800">
                <a:solidFill>
                  <a:srgbClr val="0B5394"/>
                </a:solidFill>
              </a:rPr>
              <a:t>MPI_Bcast (&amp;buffer,count,datatype,</a:t>
            </a:r>
            <a:r>
              <a:rPr b="1" lang="en-US" sz="1800">
                <a:solidFill>
                  <a:srgbClr val="FF0000"/>
                </a:solidFill>
              </a:rPr>
              <a:t>root</a:t>
            </a:r>
            <a:r>
              <a:rPr b="1" lang="en-US" sz="1800">
                <a:solidFill>
                  <a:srgbClr val="0B5394"/>
                </a:solidFill>
              </a:rPr>
              <a:t>,comm)</a:t>
            </a:r>
            <a:r>
              <a:rPr lang="en-US" sz="1800"/>
              <a:t> </a:t>
            </a:r>
            <a:br>
              <a:rPr lang="en-US" sz="1800"/>
            </a:br>
            <a:r>
              <a:rPr lang="en-US" sz="1800"/>
              <a:t> </a:t>
            </a:r>
            <a:endParaRPr sz="1800"/>
          </a:p>
          <a:p>
            <a:pPr indent="0" lvl="0" marL="0" rtl="0" algn="l">
              <a:spcBef>
                <a:spcPts val="480"/>
              </a:spcBef>
              <a:spcAft>
                <a:spcPts val="0"/>
              </a:spcAft>
              <a:buNone/>
            </a:pPr>
            <a:r>
              <a:t/>
            </a:r>
            <a:endParaRPr sz="1800"/>
          </a:p>
        </p:txBody>
      </p:sp>
      <p:sp>
        <p:nvSpPr>
          <p:cNvPr id="428" name="Google Shape;428;g3f7887d680b_0_57"/>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Collective Communication Routines</a:t>
            </a:r>
            <a:endParaRPr b="1"/>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g3f7887d680b_0_63"/>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500"/>
              <a:t>MPI_Scatter </a:t>
            </a:r>
            <a:endParaRPr sz="1500"/>
          </a:p>
          <a:p>
            <a:pPr indent="-323850" lvl="0" marL="457200" rtl="0" algn="l">
              <a:spcBef>
                <a:spcPts val="480"/>
              </a:spcBef>
              <a:spcAft>
                <a:spcPts val="0"/>
              </a:spcAft>
              <a:buSzPts val="1500"/>
              <a:buChar char="▪"/>
            </a:pPr>
            <a:r>
              <a:rPr lang="en-US" sz="1500"/>
              <a:t>Distributes distinct messages from a single source task to each task in the group. </a:t>
            </a:r>
            <a:endParaRPr sz="1500"/>
          </a:p>
          <a:p>
            <a:pPr indent="-323850" lvl="0" marL="457200" rtl="0" algn="l">
              <a:spcBef>
                <a:spcPts val="0"/>
              </a:spcBef>
              <a:spcAft>
                <a:spcPts val="0"/>
              </a:spcAft>
              <a:buSzPts val="1500"/>
              <a:buChar char="▪"/>
            </a:pPr>
            <a:r>
              <a:rPr lang="en-US" sz="1500"/>
              <a:t>E.g., Distributing different elements of a data array to different processes.</a:t>
            </a:r>
            <a:br>
              <a:rPr lang="en-US" sz="1500"/>
            </a:br>
            <a:endParaRPr sz="1500"/>
          </a:p>
          <a:p>
            <a:pPr indent="0" lvl="0" marL="0" rtl="0" algn="l">
              <a:spcBef>
                <a:spcPts val="480"/>
              </a:spcBef>
              <a:spcAft>
                <a:spcPts val="0"/>
              </a:spcAft>
              <a:buNone/>
            </a:pPr>
            <a:r>
              <a:rPr lang="en-US" sz="1500"/>
              <a:t>	</a:t>
            </a:r>
            <a:r>
              <a:rPr b="1" lang="en-US" sz="1500">
                <a:solidFill>
                  <a:srgbClr val="0B5394"/>
                </a:solidFill>
              </a:rPr>
              <a:t>MPI_Scatter (&amp;sendbuf,sendcnt,sendtype,&amp;recvbuf, </a:t>
            </a:r>
            <a:br>
              <a:rPr b="1" lang="en-US" sz="1500">
                <a:solidFill>
                  <a:srgbClr val="0B5394"/>
                </a:solidFill>
              </a:rPr>
            </a:br>
            <a:r>
              <a:rPr b="1" lang="en-US" sz="1500">
                <a:solidFill>
                  <a:srgbClr val="0B5394"/>
                </a:solidFill>
              </a:rPr>
              <a:t>					...... recvcnt,recvtype,root,comm) </a:t>
            </a:r>
            <a:br>
              <a:rPr b="1" lang="en-US" sz="1500">
                <a:solidFill>
                  <a:srgbClr val="0B5394"/>
                </a:solidFill>
              </a:rPr>
            </a:br>
            <a:r>
              <a:rPr b="1" lang="en-US" sz="1500">
                <a:solidFill>
                  <a:srgbClr val="0B5394"/>
                </a:solidFill>
              </a:rPr>
              <a:t> </a:t>
            </a:r>
            <a:endParaRPr sz="1500"/>
          </a:p>
          <a:p>
            <a:pPr indent="0" lvl="0" marL="0" rtl="0" algn="l">
              <a:spcBef>
                <a:spcPts val="480"/>
              </a:spcBef>
              <a:spcAft>
                <a:spcPts val="0"/>
              </a:spcAft>
              <a:buNone/>
            </a:pPr>
            <a:r>
              <a:rPr b="1" lang="en-US" sz="1500"/>
              <a:t>MPI_Gather </a:t>
            </a:r>
            <a:endParaRPr sz="1500"/>
          </a:p>
          <a:p>
            <a:pPr indent="-323850" lvl="0" marL="457200" rtl="0" algn="l">
              <a:spcBef>
                <a:spcPts val="480"/>
              </a:spcBef>
              <a:spcAft>
                <a:spcPts val="0"/>
              </a:spcAft>
              <a:buSzPts val="1500"/>
              <a:buChar char="▪"/>
            </a:pPr>
            <a:r>
              <a:rPr lang="en-US" sz="1500"/>
              <a:t>Gathers distinct messages from each task in the group to a single destination task. </a:t>
            </a:r>
            <a:endParaRPr sz="1500"/>
          </a:p>
          <a:p>
            <a:pPr indent="-323850" lvl="0" marL="457200" rtl="0" algn="l">
              <a:spcBef>
                <a:spcPts val="0"/>
              </a:spcBef>
              <a:spcAft>
                <a:spcPts val="0"/>
              </a:spcAft>
              <a:buSzPts val="1500"/>
              <a:buChar char="▪"/>
            </a:pPr>
            <a:r>
              <a:rPr lang="en-US" sz="1500"/>
              <a:t>This routine is the reverse operation of MPI_Scatter. </a:t>
            </a:r>
            <a:br>
              <a:rPr lang="en-US" sz="1500"/>
            </a:br>
            <a:endParaRPr b="1" sz="1500">
              <a:solidFill>
                <a:srgbClr val="0B5394"/>
              </a:solidFill>
            </a:endParaRPr>
          </a:p>
          <a:p>
            <a:pPr indent="0" lvl="0" marL="0" rtl="0" algn="l">
              <a:spcBef>
                <a:spcPts val="480"/>
              </a:spcBef>
              <a:spcAft>
                <a:spcPts val="0"/>
              </a:spcAft>
              <a:buNone/>
            </a:pPr>
            <a:r>
              <a:rPr b="1" lang="en-US" sz="1500">
                <a:solidFill>
                  <a:srgbClr val="0B5394"/>
                </a:solidFill>
              </a:rPr>
              <a:t>	MPI_Gather (&amp;sendbuf,sendcnt,sendtype,&amp;recvbuf, </a:t>
            </a:r>
            <a:br>
              <a:rPr b="1" lang="en-US" sz="1500">
                <a:solidFill>
                  <a:srgbClr val="0B5394"/>
                </a:solidFill>
              </a:rPr>
            </a:br>
            <a:r>
              <a:rPr b="1" lang="en-US" sz="1500">
                <a:solidFill>
                  <a:srgbClr val="0B5394"/>
                </a:solidFill>
              </a:rPr>
              <a:t>					...... recvcount,recvtype,root,comm) </a:t>
            </a:r>
            <a:br>
              <a:rPr b="1" lang="en-US" sz="1500">
                <a:solidFill>
                  <a:srgbClr val="0B5394"/>
                </a:solidFill>
              </a:rPr>
            </a:br>
            <a:r>
              <a:rPr lang="en-US" sz="1500"/>
              <a:t> </a:t>
            </a:r>
            <a:endParaRPr sz="1500"/>
          </a:p>
          <a:p>
            <a:pPr indent="0" lvl="0" marL="0" rtl="0" algn="l">
              <a:spcBef>
                <a:spcPts val="480"/>
              </a:spcBef>
              <a:spcAft>
                <a:spcPts val="0"/>
              </a:spcAft>
              <a:buNone/>
            </a:pPr>
            <a:r>
              <a:t/>
            </a:r>
            <a:endParaRPr sz="1500"/>
          </a:p>
          <a:p>
            <a:pPr indent="0" lvl="0" marL="0" rtl="0" algn="l">
              <a:spcBef>
                <a:spcPts val="480"/>
              </a:spcBef>
              <a:spcAft>
                <a:spcPts val="0"/>
              </a:spcAft>
              <a:buNone/>
            </a:pPr>
            <a:r>
              <a:t/>
            </a:r>
            <a:endParaRPr sz="1500"/>
          </a:p>
          <a:p>
            <a:pPr indent="0" lvl="0" marL="0" rtl="0" algn="l">
              <a:spcBef>
                <a:spcPts val="480"/>
              </a:spcBef>
              <a:spcAft>
                <a:spcPts val="0"/>
              </a:spcAft>
              <a:buNone/>
            </a:pPr>
            <a:r>
              <a:t/>
            </a:r>
            <a:endParaRPr sz="1500"/>
          </a:p>
        </p:txBody>
      </p:sp>
      <p:sp>
        <p:nvSpPr>
          <p:cNvPr id="435" name="Google Shape;435;g3f7887d680b_0_63"/>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Collective Communication Routines</a:t>
            </a:r>
            <a:endParaRPr b="1"/>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g3f7887d680b_0_69"/>
          <p:cNvSpPr txBox="1"/>
          <p:nvPr>
            <p:ph idx="1" type="body"/>
          </p:nvPr>
        </p:nvSpPr>
        <p:spPr>
          <a:xfrm>
            <a:off x="58325" y="772650"/>
            <a:ext cx="89271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600"/>
              <a:t>MPI_Allgather </a:t>
            </a:r>
            <a:endParaRPr sz="1600"/>
          </a:p>
          <a:p>
            <a:pPr indent="-330200" lvl="0" marL="457200" rtl="0" algn="l">
              <a:spcBef>
                <a:spcPts val="480"/>
              </a:spcBef>
              <a:spcAft>
                <a:spcPts val="0"/>
              </a:spcAft>
              <a:buSzPts val="1600"/>
              <a:buChar char="▪"/>
            </a:pPr>
            <a:r>
              <a:rPr lang="en-US" sz="1600"/>
              <a:t>Concatenation of data to all tasks in a group. </a:t>
            </a:r>
            <a:endParaRPr sz="1600"/>
          </a:p>
          <a:p>
            <a:pPr indent="-330200" lvl="0" marL="457200" rtl="0" algn="l">
              <a:spcBef>
                <a:spcPts val="0"/>
              </a:spcBef>
              <a:spcAft>
                <a:spcPts val="0"/>
              </a:spcAft>
              <a:buSzPts val="1600"/>
              <a:buChar char="▪"/>
            </a:pPr>
            <a:r>
              <a:rPr lang="en-US" sz="1600"/>
              <a:t>Each task in the group, in effect, performs a one-to-all broadcasting operation within the group. </a:t>
            </a:r>
            <a:br>
              <a:rPr lang="en-US" sz="1600"/>
            </a:br>
            <a:endParaRPr sz="1600"/>
          </a:p>
          <a:p>
            <a:pPr indent="0" lvl="0" marL="0" rtl="0" algn="l">
              <a:spcBef>
                <a:spcPts val="480"/>
              </a:spcBef>
              <a:spcAft>
                <a:spcPts val="0"/>
              </a:spcAft>
              <a:buNone/>
            </a:pPr>
            <a:r>
              <a:rPr lang="en-US" sz="1600"/>
              <a:t>	</a:t>
            </a:r>
            <a:r>
              <a:rPr b="1" lang="en-US" sz="1600">
                <a:solidFill>
                  <a:srgbClr val="0B5394"/>
                </a:solidFill>
              </a:rPr>
              <a:t>MPI_Allgather (&amp;sendbuf,sendcount,sendtype,&amp;recvbuf, recvcount,recvtype,comm)</a:t>
            </a:r>
            <a:r>
              <a:rPr lang="en-US" sz="1600"/>
              <a:t> </a:t>
            </a:r>
            <a:br>
              <a:rPr lang="en-US" sz="1600"/>
            </a:br>
            <a:endParaRPr sz="1600"/>
          </a:p>
          <a:p>
            <a:pPr indent="0" lvl="0" marL="0" rtl="0" algn="l">
              <a:spcBef>
                <a:spcPts val="480"/>
              </a:spcBef>
              <a:spcAft>
                <a:spcPts val="0"/>
              </a:spcAft>
              <a:buNone/>
            </a:pPr>
            <a:r>
              <a:rPr lang="en-US" sz="1600"/>
              <a:t> </a:t>
            </a:r>
            <a:endParaRPr sz="1600"/>
          </a:p>
          <a:p>
            <a:pPr indent="0" lvl="0" marL="0" rtl="0" algn="l">
              <a:spcBef>
                <a:spcPts val="480"/>
              </a:spcBef>
              <a:spcAft>
                <a:spcPts val="0"/>
              </a:spcAft>
              <a:buNone/>
            </a:pPr>
            <a:r>
              <a:rPr b="1" lang="en-US" sz="1600"/>
              <a:t>MPI_Reduce </a:t>
            </a:r>
            <a:endParaRPr sz="1600"/>
          </a:p>
          <a:p>
            <a:pPr indent="-330200" lvl="0" marL="457200" rtl="0" algn="l">
              <a:spcBef>
                <a:spcPts val="480"/>
              </a:spcBef>
              <a:spcAft>
                <a:spcPts val="0"/>
              </a:spcAft>
              <a:buSzPts val="1600"/>
              <a:buChar char="▪"/>
            </a:pPr>
            <a:r>
              <a:rPr lang="en-US" sz="1600"/>
              <a:t>Applies a reduction operation on all tasks in the group and places the result in one task. </a:t>
            </a:r>
            <a:br>
              <a:rPr lang="en-US" sz="1600"/>
            </a:br>
            <a:endParaRPr sz="1600"/>
          </a:p>
          <a:p>
            <a:pPr indent="0" lvl="0" marL="0" rtl="0" algn="l">
              <a:spcBef>
                <a:spcPts val="480"/>
              </a:spcBef>
              <a:spcAft>
                <a:spcPts val="0"/>
              </a:spcAft>
              <a:buNone/>
            </a:pPr>
            <a:r>
              <a:rPr b="1" lang="en-US" sz="1600">
                <a:solidFill>
                  <a:srgbClr val="0B5394"/>
                </a:solidFill>
              </a:rPr>
              <a:t>	MPI_Reduce (&amp;sendbuf,&amp;recvbuf,count,datatype,op,root,comm) </a:t>
            </a:r>
            <a:br>
              <a:rPr lang="en-US" sz="1600"/>
            </a:br>
            <a:r>
              <a:rPr lang="en-US" sz="1600"/>
              <a:t> </a:t>
            </a:r>
            <a:endParaRPr sz="1600"/>
          </a:p>
          <a:p>
            <a:pPr indent="0" lvl="0" marL="0" rtl="0" algn="l">
              <a:spcBef>
                <a:spcPts val="480"/>
              </a:spcBef>
              <a:spcAft>
                <a:spcPts val="0"/>
              </a:spcAft>
              <a:buNone/>
            </a:pPr>
            <a:r>
              <a:t/>
            </a:r>
            <a:endParaRPr sz="1600"/>
          </a:p>
          <a:p>
            <a:pPr indent="0" lvl="0" marL="0" rtl="0" algn="l">
              <a:spcBef>
                <a:spcPts val="480"/>
              </a:spcBef>
              <a:spcAft>
                <a:spcPts val="0"/>
              </a:spcAft>
              <a:buNone/>
            </a:pPr>
            <a:r>
              <a:t/>
            </a:r>
            <a:endParaRPr sz="1600"/>
          </a:p>
          <a:p>
            <a:pPr indent="0" lvl="0" marL="0" rtl="0" algn="l">
              <a:spcBef>
                <a:spcPts val="480"/>
              </a:spcBef>
              <a:spcAft>
                <a:spcPts val="0"/>
              </a:spcAft>
              <a:buNone/>
            </a:pPr>
            <a:r>
              <a:t/>
            </a:r>
            <a:endParaRPr sz="1600"/>
          </a:p>
        </p:txBody>
      </p:sp>
      <p:sp>
        <p:nvSpPr>
          <p:cNvPr id="442" name="Google Shape;442;g3f7887d680b_0_69"/>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Collective Communication Routines</a:t>
            </a:r>
            <a:endParaRPr b="1"/>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g3f7887d680b_0_75"/>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600"/>
              <a:t>MPI_Allreduce </a:t>
            </a:r>
            <a:endParaRPr b="1" sz="1600"/>
          </a:p>
          <a:p>
            <a:pPr indent="-330200" lvl="0" marL="457200" rtl="0" algn="l">
              <a:spcBef>
                <a:spcPts val="480"/>
              </a:spcBef>
              <a:spcAft>
                <a:spcPts val="0"/>
              </a:spcAft>
              <a:buSzPts val="1600"/>
              <a:buChar char="▪"/>
            </a:pPr>
            <a:r>
              <a:rPr lang="en-US" sz="1600"/>
              <a:t>Applies a reduction operation and places the result in all tasks in the group. </a:t>
            </a:r>
            <a:endParaRPr sz="1600"/>
          </a:p>
          <a:p>
            <a:pPr indent="-330200" lvl="0" marL="457200" rtl="0" algn="l">
              <a:spcBef>
                <a:spcPts val="0"/>
              </a:spcBef>
              <a:spcAft>
                <a:spcPts val="0"/>
              </a:spcAft>
              <a:buSzPts val="1600"/>
              <a:buChar char="▪"/>
            </a:pPr>
            <a:r>
              <a:rPr lang="en-US" sz="1600"/>
              <a:t>This is equivalent to an MPI_Reduce followed by an MPI_Bcast. </a:t>
            </a:r>
            <a:br>
              <a:rPr lang="en-US" sz="1600"/>
            </a:br>
            <a:endParaRPr sz="1600"/>
          </a:p>
          <a:p>
            <a:pPr indent="0" lvl="0" marL="0" rtl="0" algn="l">
              <a:spcBef>
                <a:spcPts val="480"/>
              </a:spcBef>
              <a:spcAft>
                <a:spcPts val="0"/>
              </a:spcAft>
              <a:buNone/>
            </a:pPr>
            <a:r>
              <a:rPr lang="en-US" sz="1600"/>
              <a:t>	</a:t>
            </a:r>
            <a:r>
              <a:rPr b="1" lang="en-US" sz="1600">
                <a:solidFill>
                  <a:srgbClr val="0B5394"/>
                </a:solidFill>
              </a:rPr>
              <a:t>MPI_Allreduce (&amp;sendbuf,&amp;recvbuf,count,datatype,op,comm) </a:t>
            </a:r>
            <a:br>
              <a:rPr b="1" lang="en-US" sz="1600">
                <a:solidFill>
                  <a:srgbClr val="0B5394"/>
                </a:solidFill>
              </a:rPr>
            </a:br>
            <a:r>
              <a:rPr lang="en-US" sz="1600"/>
              <a:t> </a:t>
            </a:r>
            <a:endParaRPr sz="1600"/>
          </a:p>
          <a:p>
            <a:pPr indent="0" lvl="0" marL="0" rtl="0" algn="l">
              <a:spcBef>
                <a:spcPts val="480"/>
              </a:spcBef>
              <a:spcAft>
                <a:spcPts val="0"/>
              </a:spcAft>
              <a:buNone/>
            </a:pPr>
            <a:r>
              <a:rPr b="1" lang="en-US" sz="1600"/>
              <a:t>MPI_Reduce_scatter </a:t>
            </a:r>
            <a:endParaRPr sz="1600"/>
          </a:p>
          <a:p>
            <a:pPr indent="-330200" lvl="0" marL="457200" rtl="0" algn="l">
              <a:spcBef>
                <a:spcPts val="480"/>
              </a:spcBef>
              <a:spcAft>
                <a:spcPts val="0"/>
              </a:spcAft>
              <a:buSzPts val="1600"/>
              <a:buChar char="▪"/>
            </a:pPr>
            <a:r>
              <a:rPr lang="en-US" sz="1600"/>
              <a:t>First does an element-wise reduction on a vector across all tasks in the group. Next, the result vector is split into disjoint segments and distributed across the tasks. </a:t>
            </a:r>
            <a:endParaRPr sz="1600"/>
          </a:p>
          <a:p>
            <a:pPr indent="-330200" lvl="0" marL="457200" rtl="0" algn="l">
              <a:spcBef>
                <a:spcPts val="0"/>
              </a:spcBef>
              <a:spcAft>
                <a:spcPts val="0"/>
              </a:spcAft>
              <a:buSzPts val="1600"/>
              <a:buChar char="▪"/>
            </a:pPr>
            <a:r>
              <a:rPr lang="en-US" sz="1600"/>
              <a:t>This is equivalent to an MPI_Reduce followed by an MPI_Scatter operation. </a:t>
            </a:r>
            <a:br>
              <a:rPr lang="en-US" sz="1600"/>
            </a:br>
            <a:endParaRPr sz="1600"/>
          </a:p>
          <a:p>
            <a:pPr indent="0" lvl="0" marL="0" rtl="0" algn="l">
              <a:spcBef>
                <a:spcPts val="480"/>
              </a:spcBef>
              <a:spcAft>
                <a:spcPts val="0"/>
              </a:spcAft>
              <a:buNone/>
            </a:pPr>
            <a:r>
              <a:rPr lang="en-US" sz="1600"/>
              <a:t>	</a:t>
            </a:r>
            <a:r>
              <a:rPr b="1" lang="en-US" sz="1600">
                <a:solidFill>
                  <a:srgbClr val="0B5394"/>
                </a:solidFill>
              </a:rPr>
              <a:t>MPI_Reduce_scatter (&amp;sendbuf,&amp;recvbuf,recvcount,datatype, op,comm) </a:t>
            </a:r>
            <a:br>
              <a:rPr b="1" lang="en-US" sz="1600">
                <a:solidFill>
                  <a:srgbClr val="0B5394"/>
                </a:solidFill>
              </a:rPr>
            </a:br>
            <a:endParaRPr b="1" sz="1600">
              <a:solidFill>
                <a:srgbClr val="0B5394"/>
              </a:solidFill>
            </a:endParaRPr>
          </a:p>
          <a:p>
            <a:pPr indent="0" lvl="0" marL="0" rtl="0" algn="l">
              <a:spcBef>
                <a:spcPts val="480"/>
              </a:spcBef>
              <a:spcAft>
                <a:spcPts val="0"/>
              </a:spcAft>
              <a:buNone/>
            </a:pPr>
            <a:r>
              <a:t/>
            </a:r>
            <a:endParaRPr sz="1600"/>
          </a:p>
        </p:txBody>
      </p:sp>
      <p:sp>
        <p:nvSpPr>
          <p:cNvPr id="449" name="Google Shape;449;g3f7887d680b_0_75"/>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Collective Communication Routines</a:t>
            </a:r>
            <a:endParaRPr b="1"/>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g3f7887d680b_0_81"/>
          <p:cNvSpPr txBox="1"/>
          <p:nvPr>
            <p:ph idx="1" type="body"/>
          </p:nvPr>
        </p:nvSpPr>
        <p:spPr>
          <a:xfrm>
            <a:off x="262110" y="784545"/>
            <a:ext cx="86583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600"/>
              <a:t>MPI_Alltoall </a:t>
            </a:r>
            <a:endParaRPr b="1" sz="1600"/>
          </a:p>
          <a:p>
            <a:pPr indent="0" lvl="0" marL="0" rtl="0" algn="l">
              <a:spcBef>
                <a:spcPts val="480"/>
              </a:spcBef>
              <a:spcAft>
                <a:spcPts val="0"/>
              </a:spcAft>
              <a:buNone/>
            </a:pPr>
            <a:r>
              <a:rPr lang="en-US" sz="1600"/>
              <a:t>Each task in a group performs a scatter operation, sending a distinct message to all the tasks in the group in order by index. </a:t>
            </a:r>
            <a:br>
              <a:rPr lang="en-US" sz="1600"/>
            </a:br>
            <a:endParaRPr sz="1600"/>
          </a:p>
          <a:p>
            <a:pPr indent="0" lvl="0" marL="0" rtl="0" algn="l">
              <a:spcBef>
                <a:spcPts val="480"/>
              </a:spcBef>
              <a:spcAft>
                <a:spcPts val="0"/>
              </a:spcAft>
              <a:buNone/>
            </a:pPr>
            <a:r>
              <a:rPr lang="en-US" sz="1600"/>
              <a:t>	</a:t>
            </a:r>
            <a:r>
              <a:rPr b="1" lang="en-US" sz="1600">
                <a:solidFill>
                  <a:srgbClr val="0B5394"/>
                </a:solidFill>
              </a:rPr>
              <a:t>MPI_Alltoall (&amp;sendbuf,sendcount,sendtype,&amp;recvbuf, </a:t>
            </a:r>
            <a:br>
              <a:rPr b="1" lang="en-US" sz="1600">
                <a:solidFill>
                  <a:srgbClr val="0B5394"/>
                </a:solidFill>
              </a:rPr>
            </a:br>
            <a:r>
              <a:rPr b="1" lang="en-US" sz="1600">
                <a:solidFill>
                  <a:srgbClr val="0B5394"/>
                </a:solidFill>
              </a:rPr>
              <a:t>					           recvcnt,recvtype,comm) </a:t>
            </a:r>
            <a:br>
              <a:rPr b="1" lang="en-US" sz="1600">
                <a:solidFill>
                  <a:srgbClr val="0B5394"/>
                </a:solidFill>
              </a:rPr>
            </a:br>
            <a:r>
              <a:rPr lang="en-US" sz="1600"/>
              <a:t>	</a:t>
            </a:r>
            <a:endParaRPr sz="1600"/>
          </a:p>
          <a:p>
            <a:pPr indent="0" lvl="0" marL="0" rtl="0" algn="l">
              <a:spcBef>
                <a:spcPts val="480"/>
              </a:spcBef>
              <a:spcAft>
                <a:spcPts val="0"/>
              </a:spcAft>
              <a:buNone/>
            </a:pPr>
            <a:r>
              <a:rPr b="1" lang="en-US" sz="1600"/>
              <a:t>MPI_Scan </a:t>
            </a:r>
            <a:endParaRPr sz="1600"/>
          </a:p>
          <a:p>
            <a:pPr indent="0" lvl="0" marL="0" rtl="0" algn="l">
              <a:spcBef>
                <a:spcPts val="480"/>
              </a:spcBef>
              <a:spcAft>
                <a:spcPts val="0"/>
              </a:spcAft>
              <a:buNone/>
            </a:pPr>
            <a:r>
              <a:rPr lang="en-US" sz="1600"/>
              <a:t>Performs a scan operation with respect to a reduction operation across a task group. </a:t>
            </a:r>
            <a:br>
              <a:rPr lang="en-US" sz="1600"/>
            </a:br>
            <a:endParaRPr sz="1600"/>
          </a:p>
          <a:p>
            <a:pPr indent="0" lvl="0" marL="0" rtl="0" algn="l">
              <a:spcBef>
                <a:spcPts val="480"/>
              </a:spcBef>
              <a:spcAft>
                <a:spcPts val="0"/>
              </a:spcAft>
              <a:buNone/>
            </a:pPr>
            <a:r>
              <a:rPr lang="en-US" sz="1600"/>
              <a:t>	</a:t>
            </a:r>
            <a:r>
              <a:rPr b="1" lang="en-US" sz="1600">
                <a:solidFill>
                  <a:srgbClr val="0B5394"/>
                </a:solidFill>
              </a:rPr>
              <a:t>MPI_Scan (&amp;sendbuf,&amp;recvbuf,count,datatype,op,comm) </a:t>
            </a:r>
            <a:br>
              <a:rPr b="1" lang="en-US" sz="1600">
                <a:solidFill>
                  <a:srgbClr val="0B5394"/>
                </a:solidFill>
              </a:rPr>
            </a:br>
            <a:r>
              <a:rPr lang="en-US" sz="1600"/>
              <a:t> </a:t>
            </a:r>
            <a:endParaRPr sz="1600"/>
          </a:p>
          <a:p>
            <a:pPr indent="0" lvl="0" marL="0" rtl="0" algn="l">
              <a:spcBef>
                <a:spcPts val="480"/>
              </a:spcBef>
              <a:spcAft>
                <a:spcPts val="0"/>
              </a:spcAft>
              <a:buNone/>
            </a:pPr>
            <a:r>
              <a:t/>
            </a:r>
            <a:endParaRPr sz="1600"/>
          </a:p>
          <a:p>
            <a:pPr indent="0" lvl="0" marL="0" rtl="0" algn="l">
              <a:spcBef>
                <a:spcPts val="480"/>
              </a:spcBef>
              <a:spcAft>
                <a:spcPts val="0"/>
              </a:spcAft>
              <a:buNone/>
            </a:pPr>
            <a:r>
              <a:t/>
            </a:r>
            <a:endParaRPr sz="1600"/>
          </a:p>
          <a:p>
            <a:pPr indent="0" lvl="0" marL="0" rtl="0" algn="l">
              <a:spcBef>
                <a:spcPts val="480"/>
              </a:spcBef>
              <a:spcAft>
                <a:spcPts val="0"/>
              </a:spcAft>
              <a:buNone/>
            </a:pPr>
            <a:r>
              <a:t/>
            </a:r>
            <a:endParaRPr sz="1600"/>
          </a:p>
        </p:txBody>
      </p:sp>
      <p:sp>
        <p:nvSpPr>
          <p:cNvPr id="456" name="Google Shape;456;g3f7887d680b_0_81"/>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Collective Communication Routines</a:t>
            </a:r>
            <a:endParaRPr b="1"/>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g3f7887d680b_0_87"/>
          <p:cNvSpPr txBox="1"/>
          <p:nvPr>
            <p:ph idx="1" type="body"/>
          </p:nvPr>
        </p:nvSpPr>
        <p:spPr>
          <a:xfrm>
            <a:off x="108165" y="784550"/>
            <a:ext cx="4463100" cy="3598200"/>
          </a:xfrm>
          <a:prstGeom prst="rect">
            <a:avLst/>
          </a:prstGeom>
        </p:spPr>
        <p:txBody>
          <a:bodyPr anchorCtr="0" anchor="t" bIns="45700" lIns="91425" spcFirstLastPara="1" rIns="91425" wrap="square" tIns="45700">
            <a:noAutofit/>
          </a:bodyPr>
          <a:lstStyle/>
          <a:p>
            <a:pPr indent="0" lvl="0" marL="0" rtl="0" algn="l">
              <a:spcBef>
                <a:spcPts val="480"/>
              </a:spcBef>
              <a:spcAft>
                <a:spcPts val="0"/>
              </a:spcAft>
              <a:buNone/>
            </a:pPr>
            <a:r>
              <a:rPr b="1" lang="en-US" sz="1100">
                <a:latin typeface="Courier New"/>
                <a:ea typeface="Courier New"/>
                <a:cs typeface="Courier New"/>
                <a:sym typeface="Courier New"/>
              </a:rPr>
              <a:t>#include "mpi.h" </a:t>
            </a:r>
            <a:endParaRPr b="1" sz="1100">
              <a:latin typeface="Courier New"/>
              <a:ea typeface="Courier New"/>
              <a:cs typeface="Courier New"/>
              <a:sym typeface="Courier New"/>
            </a:endParaRPr>
          </a:p>
          <a:p>
            <a:pPr indent="0" lvl="0" marL="0" rtl="0" algn="l">
              <a:spcBef>
                <a:spcPts val="480"/>
              </a:spcBef>
              <a:spcAft>
                <a:spcPts val="0"/>
              </a:spcAft>
              <a:buNone/>
            </a:pPr>
            <a:r>
              <a:rPr b="1" lang="en-US" sz="1100">
                <a:latin typeface="Courier New"/>
                <a:ea typeface="Courier New"/>
                <a:cs typeface="Courier New"/>
                <a:sym typeface="Courier New"/>
              </a:rPr>
              <a:t>#include &lt;stdio.h&gt;</a:t>
            </a:r>
            <a:endParaRPr b="1" sz="1100">
              <a:latin typeface="Courier New"/>
              <a:ea typeface="Courier New"/>
              <a:cs typeface="Courier New"/>
              <a:sym typeface="Courier New"/>
            </a:endParaRPr>
          </a:p>
          <a:p>
            <a:pPr indent="0" lvl="0" marL="0" rtl="0" algn="l">
              <a:spcBef>
                <a:spcPts val="480"/>
              </a:spcBef>
              <a:spcAft>
                <a:spcPts val="0"/>
              </a:spcAft>
              <a:buNone/>
            </a:pPr>
            <a:r>
              <a:rPr b="1" lang="en-US" sz="1100">
                <a:latin typeface="Courier New"/>
                <a:ea typeface="Courier New"/>
                <a:cs typeface="Courier New"/>
                <a:sym typeface="Courier New"/>
              </a:rPr>
              <a:t> #define SIZE 4 </a:t>
            </a:r>
            <a:endParaRPr b="1" sz="1100">
              <a:latin typeface="Courier New"/>
              <a:ea typeface="Courier New"/>
              <a:cs typeface="Courier New"/>
              <a:sym typeface="Courier New"/>
            </a:endParaRPr>
          </a:p>
          <a:p>
            <a:pPr indent="0" lvl="0" marL="0" rtl="0" algn="l">
              <a:spcBef>
                <a:spcPts val="480"/>
              </a:spcBef>
              <a:spcAft>
                <a:spcPts val="0"/>
              </a:spcAft>
              <a:buNone/>
            </a:pPr>
            <a:r>
              <a:rPr b="1" lang="en-US" sz="1100">
                <a:latin typeface="Courier New"/>
                <a:ea typeface="Courier New"/>
                <a:cs typeface="Courier New"/>
                <a:sym typeface="Courier New"/>
              </a:rPr>
              <a:t>int main(argc,argv) </a:t>
            </a:r>
            <a:endParaRPr b="1" sz="1100">
              <a:latin typeface="Courier New"/>
              <a:ea typeface="Courier New"/>
              <a:cs typeface="Courier New"/>
              <a:sym typeface="Courier New"/>
            </a:endParaRPr>
          </a:p>
          <a:p>
            <a:pPr indent="0" lvl="0" marL="0" rtl="0" algn="l">
              <a:spcBef>
                <a:spcPts val="480"/>
              </a:spcBef>
              <a:spcAft>
                <a:spcPts val="0"/>
              </a:spcAft>
              <a:buNone/>
            </a:pPr>
            <a:r>
              <a:rPr b="1" lang="en-US" sz="1100">
                <a:latin typeface="Courier New"/>
                <a:ea typeface="Courier New"/>
                <a:cs typeface="Courier New"/>
                <a:sym typeface="Courier New"/>
              </a:rPr>
              <a:t>int argc; char *argv[]; </a:t>
            </a:r>
            <a:endParaRPr b="1" sz="1100">
              <a:latin typeface="Courier New"/>
              <a:ea typeface="Courier New"/>
              <a:cs typeface="Courier New"/>
              <a:sym typeface="Courier New"/>
            </a:endParaRPr>
          </a:p>
          <a:p>
            <a:pPr indent="0" lvl="0" marL="0" rtl="0" algn="l">
              <a:spcBef>
                <a:spcPts val="480"/>
              </a:spcBef>
              <a:spcAft>
                <a:spcPts val="0"/>
              </a:spcAft>
              <a:buNone/>
            </a:pPr>
            <a:r>
              <a:rPr b="1" lang="en-US" sz="1100">
                <a:latin typeface="Courier New"/>
                <a:ea typeface="Courier New"/>
                <a:cs typeface="Courier New"/>
                <a:sym typeface="Courier New"/>
              </a:rPr>
              <a:t>{ int numtasks, rank, sendcount, recvcount, source; </a:t>
            </a:r>
            <a:endParaRPr b="1" sz="1100">
              <a:latin typeface="Courier New"/>
              <a:ea typeface="Courier New"/>
              <a:cs typeface="Courier New"/>
              <a:sym typeface="Courier New"/>
            </a:endParaRPr>
          </a:p>
          <a:p>
            <a:pPr indent="0" lvl="0" marL="0" rtl="0" algn="l">
              <a:spcBef>
                <a:spcPts val="480"/>
              </a:spcBef>
              <a:spcAft>
                <a:spcPts val="0"/>
              </a:spcAft>
              <a:buNone/>
            </a:pPr>
            <a:r>
              <a:rPr b="1" lang="en-US" sz="1100">
                <a:latin typeface="Courier New"/>
                <a:ea typeface="Courier New"/>
                <a:cs typeface="Courier New"/>
                <a:sym typeface="Courier New"/>
              </a:rPr>
              <a:t>float sendbuf[SIZE][SIZE] = { {1.0, 2.0, 3.0, 4.0}, {5.0, 6.0, 7.0, 8.0}, {9.0, 10.0, 11.0, 12.0}, {13.0, 14.0, 15.0, 16.0} }; </a:t>
            </a:r>
            <a:endParaRPr b="1" sz="1100">
              <a:latin typeface="Courier New"/>
              <a:ea typeface="Courier New"/>
              <a:cs typeface="Courier New"/>
              <a:sym typeface="Courier New"/>
            </a:endParaRPr>
          </a:p>
          <a:p>
            <a:pPr indent="0" lvl="0" marL="0" rtl="0" algn="l">
              <a:spcBef>
                <a:spcPts val="480"/>
              </a:spcBef>
              <a:spcAft>
                <a:spcPts val="0"/>
              </a:spcAft>
              <a:buNone/>
            </a:pPr>
            <a:r>
              <a:rPr b="1" lang="en-US" sz="1100">
                <a:latin typeface="Courier New"/>
                <a:ea typeface="Courier New"/>
                <a:cs typeface="Courier New"/>
                <a:sym typeface="Courier New"/>
              </a:rPr>
              <a:t>float recvbuf[SIZE]; </a:t>
            </a:r>
            <a:endParaRPr b="1" sz="1100">
              <a:latin typeface="Courier New"/>
              <a:ea typeface="Courier New"/>
              <a:cs typeface="Courier New"/>
              <a:sym typeface="Courier New"/>
            </a:endParaRPr>
          </a:p>
          <a:p>
            <a:pPr indent="0" lvl="0" marL="0" rtl="0" algn="l">
              <a:spcBef>
                <a:spcPts val="480"/>
              </a:spcBef>
              <a:spcAft>
                <a:spcPts val="0"/>
              </a:spcAft>
              <a:buNone/>
            </a:pPr>
            <a:r>
              <a:rPr b="1" lang="en-US" sz="1100">
                <a:latin typeface="Courier New"/>
                <a:ea typeface="Courier New"/>
                <a:cs typeface="Courier New"/>
                <a:sym typeface="Courier New"/>
              </a:rPr>
              <a:t>MPI_Init(&amp;argc,&amp;argv); </a:t>
            </a:r>
            <a:endParaRPr b="1" sz="1100">
              <a:latin typeface="Courier New"/>
              <a:ea typeface="Courier New"/>
              <a:cs typeface="Courier New"/>
              <a:sym typeface="Courier New"/>
            </a:endParaRPr>
          </a:p>
          <a:p>
            <a:pPr indent="0" lvl="0" marL="0" rtl="0" algn="l">
              <a:spcBef>
                <a:spcPts val="480"/>
              </a:spcBef>
              <a:spcAft>
                <a:spcPts val="0"/>
              </a:spcAft>
              <a:buNone/>
            </a:pPr>
            <a:r>
              <a:rPr b="1" lang="en-US" sz="1100">
                <a:latin typeface="Courier New"/>
                <a:ea typeface="Courier New"/>
                <a:cs typeface="Courier New"/>
                <a:sym typeface="Courier New"/>
              </a:rPr>
              <a:t>MPI_Comm_rank(MPI_COMM_WORLD, &amp;rank); </a:t>
            </a:r>
            <a:endParaRPr b="1" sz="1100">
              <a:latin typeface="Courier New"/>
              <a:ea typeface="Courier New"/>
              <a:cs typeface="Courier New"/>
              <a:sym typeface="Courier New"/>
            </a:endParaRPr>
          </a:p>
          <a:p>
            <a:pPr indent="0" lvl="0" marL="0" rtl="0" algn="l">
              <a:spcBef>
                <a:spcPts val="480"/>
              </a:spcBef>
              <a:spcAft>
                <a:spcPts val="0"/>
              </a:spcAft>
              <a:buNone/>
            </a:pPr>
            <a:r>
              <a:rPr b="1" lang="en-US" sz="1100">
                <a:latin typeface="Courier New"/>
                <a:ea typeface="Courier New"/>
                <a:cs typeface="Courier New"/>
                <a:sym typeface="Courier New"/>
              </a:rPr>
              <a:t>MPI_Comm_size(MPI_COMM_WORLD, &amp;numtasks); </a:t>
            </a:r>
            <a:endParaRPr b="1" sz="1100">
              <a:latin typeface="Courier New"/>
              <a:ea typeface="Courier New"/>
              <a:cs typeface="Courier New"/>
              <a:sym typeface="Courier New"/>
            </a:endParaRPr>
          </a:p>
          <a:p>
            <a:pPr indent="0" lvl="0" marL="0" rtl="0" algn="l">
              <a:spcBef>
                <a:spcPts val="480"/>
              </a:spcBef>
              <a:spcAft>
                <a:spcPts val="0"/>
              </a:spcAft>
              <a:buNone/>
            </a:pPr>
            <a:r>
              <a:t/>
            </a:r>
            <a:endParaRPr b="1" sz="1100">
              <a:latin typeface="Courier New"/>
              <a:ea typeface="Courier New"/>
              <a:cs typeface="Courier New"/>
              <a:sym typeface="Courier New"/>
            </a:endParaRPr>
          </a:p>
          <a:p>
            <a:pPr indent="0" lvl="0" marL="0" rtl="0" algn="l">
              <a:spcBef>
                <a:spcPts val="480"/>
              </a:spcBef>
              <a:spcAft>
                <a:spcPts val="0"/>
              </a:spcAft>
              <a:buNone/>
            </a:pPr>
            <a:r>
              <a:t/>
            </a:r>
            <a:endParaRPr b="1" sz="1100">
              <a:latin typeface="Courier New"/>
              <a:ea typeface="Courier New"/>
              <a:cs typeface="Courier New"/>
              <a:sym typeface="Courier New"/>
            </a:endParaRPr>
          </a:p>
        </p:txBody>
      </p:sp>
      <p:sp>
        <p:nvSpPr>
          <p:cNvPr id="463" name="Google Shape;463;g3f7887d680b_0_87"/>
          <p:cNvSpPr txBox="1"/>
          <p:nvPr>
            <p:ph idx="2" type="body"/>
          </p:nvPr>
        </p:nvSpPr>
        <p:spPr>
          <a:xfrm>
            <a:off x="279082" y="119856"/>
            <a:ext cx="8641500" cy="4695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a:t>Examples: Collective Communications</a:t>
            </a:r>
            <a:endParaRPr b="1"/>
          </a:p>
        </p:txBody>
      </p:sp>
      <p:sp>
        <p:nvSpPr>
          <p:cNvPr id="464" name="Google Shape;464;g3f7887d680b_0_87"/>
          <p:cNvSpPr txBox="1"/>
          <p:nvPr/>
        </p:nvSpPr>
        <p:spPr>
          <a:xfrm>
            <a:off x="4686605" y="745625"/>
            <a:ext cx="4572900" cy="2416500"/>
          </a:xfrm>
          <a:prstGeom prst="rect">
            <a:avLst/>
          </a:prstGeom>
          <a:noFill/>
          <a:ln>
            <a:noFill/>
          </a:ln>
        </p:spPr>
        <p:txBody>
          <a:bodyPr anchorCtr="0" anchor="t" bIns="91425" lIns="91425" spcFirstLastPara="1" rIns="91425" wrap="square" tIns="91425">
            <a:spAutoFit/>
          </a:bodyPr>
          <a:lstStyle/>
          <a:p>
            <a:pPr indent="0" lvl="0" marL="0" rtl="0" algn="l">
              <a:spcBef>
                <a:spcPts val="480"/>
              </a:spcBef>
              <a:spcAft>
                <a:spcPts val="0"/>
              </a:spcAft>
              <a:buNone/>
            </a:pPr>
            <a:r>
              <a:rPr b="1" lang="en-US" sz="1100">
                <a:solidFill>
                  <a:schemeClr val="dk1"/>
                </a:solidFill>
                <a:latin typeface="Courier New"/>
                <a:ea typeface="Courier New"/>
                <a:cs typeface="Courier New"/>
                <a:sym typeface="Courier New"/>
              </a:rPr>
              <a:t>if (numtasks == SIZE) </a:t>
            </a:r>
            <a:endParaRPr b="1" sz="11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100">
                <a:solidFill>
                  <a:schemeClr val="dk1"/>
                </a:solidFill>
                <a:latin typeface="Courier New"/>
                <a:ea typeface="Courier New"/>
                <a:cs typeface="Courier New"/>
                <a:sym typeface="Courier New"/>
              </a:rPr>
              <a:t>{ source = 1; sendcount = SIZE; recvcount = SIZE; </a:t>
            </a:r>
            <a:endParaRPr b="1" sz="11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100">
                <a:solidFill>
                  <a:srgbClr val="FF0000"/>
                </a:solidFill>
                <a:latin typeface="Courier New"/>
                <a:ea typeface="Courier New"/>
                <a:cs typeface="Courier New"/>
                <a:sym typeface="Courier New"/>
              </a:rPr>
              <a:t>MPI_Scatter(sendbuf,sendcount,MPI_FLOAT,recvbuf,recvcount, MPI_FLOAT,source,MPI_COMM_WORLD);</a:t>
            </a:r>
            <a:r>
              <a:rPr b="1" lang="en-US" sz="1100">
                <a:solidFill>
                  <a:schemeClr val="dk1"/>
                </a:solidFill>
                <a:latin typeface="Courier New"/>
                <a:ea typeface="Courier New"/>
                <a:cs typeface="Courier New"/>
                <a:sym typeface="Courier New"/>
              </a:rPr>
              <a:t> </a:t>
            </a:r>
            <a:endParaRPr b="1" sz="11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100">
                <a:solidFill>
                  <a:schemeClr val="dk1"/>
                </a:solidFill>
                <a:latin typeface="Courier New"/>
                <a:ea typeface="Courier New"/>
                <a:cs typeface="Courier New"/>
                <a:sym typeface="Courier New"/>
              </a:rPr>
              <a:t>printf("rank= %d Results: %f %f %f %f\n",rank,recvbuf[0], recvbuf[1],recvbuf[2],recvbuf[3]); } </a:t>
            </a:r>
            <a:endParaRPr b="1" sz="11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100">
                <a:solidFill>
                  <a:schemeClr val="dk1"/>
                </a:solidFill>
                <a:latin typeface="Courier New"/>
                <a:ea typeface="Courier New"/>
                <a:cs typeface="Courier New"/>
                <a:sym typeface="Courier New"/>
              </a:rPr>
              <a:t>else printf("Must specify %d processors. Terminating.\n",SIZE); </a:t>
            </a:r>
            <a:endParaRPr b="1" sz="11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100">
                <a:solidFill>
                  <a:schemeClr val="dk1"/>
                </a:solidFill>
                <a:latin typeface="Courier New"/>
                <a:ea typeface="Courier New"/>
                <a:cs typeface="Courier New"/>
                <a:sym typeface="Courier New"/>
              </a:rPr>
              <a:t>MPI_Finalize(); </a:t>
            </a:r>
            <a:endParaRPr b="1" sz="1100">
              <a:solidFill>
                <a:schemeClr val="dk1"/>
              </a:solidFill>
              <a:latin typeface="Courier New"/>
              <a:ea typeface="Courier New"/>
              <a:cs typeface="Courier New"/>
              <a:sym typeface="Courier New"/>
            </a:endParaRPr>
          </a:p>
          <a:p>
            <a:pPr indent="0" lvl="0" marL="0" rtl="0" algn="l">
              <a:spcBef>
                <a:spcPts val="480"/>
              </a:spcBef>
              <a:spcAft>
                <a:spcPts val="0"/>
              </a:spcAft>
              <a:buNone/>
            </a:pPr>
            <a:r>
              <a:rPr b="1" lang="en-US" sz="1100">
                <a:solidFill>
                  <a:schemeClr val="dk1"/>
                </a:solidFill>
                <a:latin typeface="Courier New"/>
                <a:ea typeface="Courier New"/>
                <a:cs typeface="Courier New"/>
                <a:sym typeface="Courier New"/>
              </a:rPr>
              <a:t>} </a:t>
            </a:r>
            <a:endParaRPr sz="11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7"/>
          <p:cNvSpPr txBox="1"/>
          <p:nvPr>
            <p:ph idx="1" type="body"/>
          </p:nvPr>
        </p:nvSpPr>
        <p:spPr>
          <a:xfrm>
            <a:off x="274320" y="1887378"/>
            <a:ext cx="4097338" cy="102854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FFFF"/>
              </a:buClr>
              <a:buSzPts val="3000"/>
              <a:buNone/>
            </a:pPr>
            <a:r>
              <a:rPr lang="en-US"/>
              <a:t>Practice activities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g3f5977d359e_0_218"/>
          <p:cNvSpPr txBox="1"/>
          <p:nvPr>
            <p:ph idx="1" type="body"/>
          </p:nvPr>
        </p:nvSpPr>
        <p:spPr>
          <a:xfrm>
            <a:off x="262110" y="784545"/>
            <a:ext cx="8658300" cy="3598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80"/>
              </a:spcBef>
              <a:spcAft>
                <a:spcPts val="0"/>
              </a:spcAft>
              <a:buNone/>
            </a:pPr>
            <a:r>
              <a:rPr lang="en-US" sz="1800"/>
              <a:t>Please try out the following:</a:t>
            </a:r>
            <a:endParaRPr sz="1800"/>
          </a:p>
          <a:p>
            <a:pPr indent="-342900" lvl="0" marL="457200" rtl="0" algn="l">
              <a:lnSpc>
                <a:spcPct val="100000"/>
              </a:lnSpc>
              <a:spcBef>
                <a:spcPts val="480"/>
              </a:spcBef>
              <a:spcAft>
                <a:spcPts val="0"/>
              </a:spcAft>
              <a:buSzPts val="1800"/>
              <a:buChar char="▪"/>
            </a:pPr>
            <a:r>
              <a:rPr lang="en-US" sz="1800"/>
              <a:t>Download and run the following sample MPI code files from this </a:t>
            </a:r>
            <a:r>
              <a:rPr lang="en-US" sz="1800" u="sng">
                <a:solidFill>
                  <a:schemeClr val="hlink"/>
                </a:solidFill>
                <a:hlinkClick r:id="rId3"/>
              </a:rPr>
              <a:t>folder</a:t>
            </a:r>
            <a:endParaRPr sz="1800"/>
          </a:p>
          <a:p>
            <a:pPr indent="-342900" lvl="0" marL="457200" rtl="0" algn="l">
              <a:lnSpc>
                <a:spcPct val="100000"/>
              </a:lnSpc>
              <a:spcBef>
                <a:spcPts val="0"/>
              </a:spcBef>
              <a:spcAft>
                <a:spcPts val="0"/>
              </a:spcAft>
              <a:buSzPts val="1800"/>
              <a:buChar char="▪"/>
            </a:pPr>
            <a:r>
              <a:rPr lang="en-US" sz="1800"/>
              <a:t>In each compiled code, observe the output</a:t>
            </a:r>
            <a:endParaRPr sz="1800"/>
          </a:p>
          <a:p>
            <a:pPr indent="-342900" lvl="0" marL="457200" rtl="0" algn="l">
              <a:lnSpc>
                <a:spcPct val="100000"/>
              </a:lnSpc>
              <a:spcBef>
                <a:spcPts val="0"/>
              </a:spcBef>
              <a:spcAft>
                <a:spcPts val="0"/>
              </a:spcAft>
              <a:buSzPts val="1800"/>
              <a:buChar char="▪"/>
            </a:pPr>
            <a:r>
              <a:rPr lang="en-US" sz="1800"/>
              <a:t>You are also encouraged to attempt the practice activities based on this </a:t>
            </a:r>
            <a:r>
              <a:rPr lang="en-US" sz="1800" u="sng">
                <a:solidFill>
                  <a:schemeClr val="hlink"/>
                </a:solidFill>
                <a:hlinkClick r:id="rId4"/>
              </a:rPr>
              <a:t>document</a:t>
            </a:r>
            <a:r>
              <a:rPr lang="en-US" sz="1800"/>
              <a:t>.</a:t>
            </a:r>
            <a:endParaRPr sz="1800"/>
          </a:p>
          <a:p>
            <a:pPr indent="-342900" lvl="1" marL="914400" rtl="0" algn="l">
              <a:lnSpc>
                <a:spcPct val="100000"/>
              </a:lnSpc>
              <a:spcBef>
                <a:spcPts val="0"/>
              </a:spcBef>
              <a:spcAft>
                <a:spcPts val="0"/>
              </a:spcAft>
              <a:buSzPts val="1800"/>
              <a:buChar char="–"/>
            </a:pPr>
            <a:r>
              <a:rPr lang="en-US" sz="1800"/>
              <a:t>The document </a:t>
            </a:r>
            <a:r>
              <a:rPr lang="en-US" sz="1800"/>
              <a:t>contains</a:t>
            </a:r>
            <a:r>
              <a:rPr lang="en-US" sz="1800"/>
              <a:t> 5 activities</a:t>
            </a:r>
            <a:endParaRPr sz="1800"/>
          </a:p>
          <a:p>
            <a:pPr indent="-342900" lvl="1" marL="914400" rtl="0" algn="l">
              <a:lnSpc>
                <a:spcPct val="100000"/>
              </a:lnSpc>
              <a:spcBef>
                <a:spcPts val="0"/>
              </a:spcBef>
              <a:spcAft>
                <a:spcPts val="0"/>
              </a:spcAft>
              <a:buSzPts val="1800"/>
              <a:buChar char="–"/>
            </a:pPr>
            <a:r>
              <a:rPr lang="en-US" sz="1800"/>
              <a:t>The last activity requires you to parallelise the computation of a pi approximation algorithm. The </a:t>
            </a:r>
            <a:r>
              <a:rPr lang="en-US" sz="1800"/>
              <a:t>starter code for these activities are available in the folder linked above.</a:t>
            </a:r>
            <a:endParaRPr sz="1800"/>
          </a:p>
          <a:p>
            <a:pPr indent="0" lvl="0" marL="0" rtl="0" algn="l">
              <a:lnSpc>
                <a:spcPct val="100000"/>
              </a:lnSpc>
              <a:spcBef>
                <a:spcPts val="0"/>
              </a:spcBef>
              <a:spcAft>
                <a:spcPts val="0"/>
              </a:spcAft>
              <a:buNone/>
            </a:pPr>
            <a:r>
              <a:t/>
            </a:r>
            <a:endParaRPr sz="1800"/>
          </a:p>
        </p:txBody>
      </p:sp>
      <p:sp>
        <p:nvSpPr>
          <p:cNvPr id="476" name="Google Shape;476;g3f5977d359e_0_218"/>
          <p:cNvSpPr txBox="1"/>
          <p:nvPr>
            <p:ph idx="2" type="body"/>
          </p:nvPr>
        </p:nvSpPr>
        <p:spPr>
          <a:xfrm>
            <a:off x="279082" y="119856"/>
            <a:ext cx="8641500" cy="46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800"/>
              <a:buNone/>
            </a:pPr>
            <a:r>
              <a:rPr lang="en-US"/>
              <a:t>In-class &amp; take home coding practice</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g3f7887d680b_1_0"/>
          <p:cNvSpPr txBox="1"/>
          <p:nvPr>
            <p:ph idx="1" type="body"/>
          </p:nvPr>
        </p:nvSpPr>
        <p:spPr>
          <a:xfrm>
            <a:off x="274328" y="1887375"/>
            <a:ext cx="6384300" cy="1028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FFFFFF"/>
              </a:buClr>
              <a:buSzPts val="3000"/>
              <a:buNone/>
            </a:pPr>
            <a:r>
              <a:rPr lang="en-US"/>
              <a:t>Week 6 - Applied Tasks overview</a:t>
            </a:r>
            <a:endParaRPr/>
          </a:p>
          <a:p>
            <a:pPr indent="0" lvl="0" marL="0" rtl="0" algn="l">
              <a:lnSpc>
                <a:spcPct val="100000"/>
              </a:lnSpc>
              <a:spcBef>
                <a:spcPts val="0"/>
              </a:spcBef>
              <a:spcAft>
                <a:spcPts val="0"/>
              </a:spcAft>
              <a:buClr>
                <a:srgbClr val="FFFFFF"/>
              </a:buClr>
              <a:buSzPts val="3000"/>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3f7887d680b_1_4"/>
          <p:cNvSpPr txBox="1"/>
          <p:nvPr>
            <p:ph idx="1" type="body"/>
          </p:nvPr>
        </p:nvSpPr>
        <p:spPr>
          <a:xfrm>
            <a:off x="262110" y="784545"/>
            <a:ext cx="8658300" cy="3598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480"/>
              </a:spcBef>
              <a:spcAft>
                <a:spcPts val="0"/>
              </a:spcAft>
              <a:buNone/>
            </a:pPr>
            <a:r>
              <a:rPr lang="en-US" sz="1800"/>
              <a:t>In Week 6, we will assess our first applied assessments (Applied #1). </a:t>
            </a:r>
            <a:endParaRPr sz="1800"/>
          </a:p>
          <a:p>
            <a:pPr indent="-342900" lvl="0" marL="457200" rtl="0" algn="l">
              <a:lnSpc>
                <a:spcPct val="100000"/>
              </a:lnSpc>
              <a:spcBef>
                <a:spcPts val="480"/>
              </a:spcBef>
              <a:spcAft>
                <a:spcPts val="0"/>
              </a:spcAft>
              <a:buSzPts val="1800"/>
              <a:buChar char="▪"/>
            </a:pPr>
            <a:r>
              <a:rPr lang="en-US" sz="1800"/>
              <a:t>Please read the Week 6 applied specifications and marking guidelines that are available on Moodle (Week 6)</a:t>
            </a:r>
            <a:endParaRPr sz="1800"/>
          </a:p>
          <a:p>
            <a:pPr indent="0" lvl="0" marL="457200" rtl="0" algn="l">
              <a:lnSpc>
                <a:spcPct val="100000"/>
              </a:lnSpc>
              <a:spcBef>
                <a:spcPts val="480"/>
              </a:spcBef>
              <a:spcAft>
                <a:spcPts val="0"/>
              </a:spcAft>
              <a:buNone/>
            </a:pPr>
            <a:r>
              <a:t/>
            </a:r>
            <a:endParaRPr sz="1800"/>
          </a:p>
          <a:p>
            <a:pPr indent="-342900" lvl="0" marL="457200" rtl="0" algn="l">
              <a:lnSpc>
                <a:spcPct val="100000"/>
              </a:lnSpc>
              <a:spcBef>
                <a:spcPts val="480"/>
              </a:spcBef>
              <a:spcAft>
                <a:spcPts val="0"/>
              </a:spcAft>
              <a:buSzPts val="1800"/>
              <a:buChar char="▪"/>
            </a:pPr>
            <a:r>
              <a:rPr lang="en-US" sz="1800"/>
              <a:t>Discuss with your peers on the tasks in this applied. Refer to your lecture materials and also the sample MPI code discussed in Week 5 to help in the design of the architecture.</a:t>
            </a:r>
            <a:endParaRPr sz="1800"/>
          </a:p>
          <a:p>
            <a:pPr indent="0" lvl="0" marL="457200" rtl="0" algn="l">
              <a:lnSpc>
                <a:spcPct val="100000"/>
              </a:lnSpc>
              <a:spcBef>
                <a:spcPts val="480"/>
              </a:spcBef>
              <a:spcAft>
                <a:spcPts val="0"/>
              </a:spcAft>
              <a:buNone/>
            </a:pPr>
            <a:r>
              <a:t/>
            </a:r>
            <a:endParaRPr sz="1800"/>
          </a:p>
          <a:p>
            <a:pPr indent="-342900" lvl="0" marL="457200" rtl="0" algn="l">
              <a:lnSpc>
                <a:spcPct val="100000"/>
              </a:lnSpc>
              <a:spcBef>
                <a:spcPts val="480"/>
              </a:spcBef>
              <a:spcAft>
                <a:spcPts val="0"/>
              </a:spcAft>
              <a:buSzPts val="1800"/>
              <a:buChar char="▪"/>
            </a:pPr>
            <a:r>
              <a:rPr lang="en-US" sz="1800"/>
              <a:t>Reach out to your tutor or teaching assistant if you require any clarification on the </a:t>
            </a:r>
            <a:r>
              <a:rPr lang="en-US" sz="1800"/>
              <a:t>assessments</a:t>
            </a:r>
            <a:r>
              <a:rPr lang="en-US" sz="1800"/>
              <a:t> requirements.</a:t>
            </a:r>
            <a:endParaRPr sz="1800"/>
          </a:p>
          <a:p>
            <a:pPr indent="0" lvl="0" marL="0" rtl="0" algn="l">
              <a:lnSpc>
                <a:spcPct val="100000"/>
              </a:lnSpc>
              <a:spcBef>
                <a:spcPts val="0"/>
              </a:spcBef>
              <a:spcAft>
                <a:spcPts val="0"/>
              </a:spcAft>
              <a:buNone/>
            </a:pPr>
            <a:r>
              <a:t/>
            </a:r>
            <a:endParaRPr sz="1800"/>
          </a:p>
        </p:txBody>
      </p:sp>
      <p:sp>
        <p:nvSpPr>
          <p:cNvPr id="488" name="Google Shape;488;g3f7887d680b_1_4"/>
          <p:cNvSpPr txBox="1"/>
          <p:nvPr>
            <p:ph idx="2" type="body"/>
          </p:nvPr>
        </p:nvSpPr>
        <p:spPr>
          <a:xfrm>
            <a:off x="279082" y="119856"/>
            <a:ext cx="8641500" cy="46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560"/>
              </a:spcBef>
              <a:spcAft>
                <a:spcPts val="0"/>
              </a:spcAft>
              <a:buSzPts val="2800"/>
              <a:buNone/>
            </a:pPr>
            <a:r>
              <a:rPr lang="en-US"/>
              <a:t>Week 6 - Applied tasks overview</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Custo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E70D43"/>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3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2022-10-13T07:44:31Z</dcterms:created>
  <dc:creator>Carlo Kopp</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