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(0:12)</a:t>
            </a:r>
          </a:p>
          <a:p>
            <a:r>
              <a:t>Hi, I'm Erwyna and this is Taabish.</a:t>
            </a:r>
          </a:p>
          <a:p>
            <a:r>
              <a:t>Taabish covers Task 1: rotating big images on a GPU with CUDA.</a:t>
            </a:r>
          </a:p>
          <a:p>
            <a:r>
              <a:t>I cover Task 2: the ethics of scaling HPC for AI, then our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TAABISH (0:20)</a:t>
            </a:r>
          </a:p>
          <a:p>
            <a:r>
              <a:t>An 8K image has about 33 million pixels.</a:t>
            </a:r>
          </a:p>
          <a:p>
            <a:r>
              <a:t>Each output pixel depends only on the input, so this is data parallel.</a:t>
            </a:r>
          </a:p>
          <a:p>
            <a:r>
              <a:t>We use inverse mapping: one thread per output pixel.</a:t>
            </a:r>
          </a:p>
          <a:p>
            <a:r>
              <a:t>Each thread rotates back to find its source pixel. One writer per pixel, no holes.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TAABISH (0:35)</a:t>
            </a:r>
          </a:p>
          <a:p>
            <a:r>
              <a:t>cudaMalloc reserves both buffers in GPU memory.</a:t>
            </a:r>
          </a:p>
          <a:p>
            <a:r>
              <a:t>For host to device, the GPU's DMA copy engine pulls the bytes over PCIe.</a:t>
            </a:r>
          </a:p>
          <a:p>
            <a:r>
              <a:t>From pageable memory, the driver first copies into a pinned staging buffer.</a:t>
            </a:r>
          </a:p>
          <a:p>
            <a:r>
              <a:t>cudaMallocHost gives pinned memory, so the DMA reads it directly.</a:t>
            </a:r>
          </a:p>
          <a:p>
            <a:r>
              <a:t>The kernel works only in GPU memory, then device to host brings the result back.</a:t>
            </a:r>
          </a:p>
          <a:p>
            <a:r>
              <a:t>PCIe is the narrow pipe: pinned ran at 12.3 GB per second, GPU memory is 320.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TAABISH (0:25)</a:t>
            </a:r>
          </a:p>
          <a:p>
            <a:r>
              <a:t>The host allocates, copies, picks the launch size, launches the kernel, then syncs and checks errors.</a:t>
            </a:r>
          </a:p>
          <a:p>
            <a:r>
              <a:t>The device runs thousands of threads, SIMT style.</a:t>
            </a:r>
          </a:p>
          <a:p>
            <a:r>
              <a:t>Our block is 16 by 16: 256 threads, or 8 warps of 32.</a:t>
            </a:r>
          </a:p>
          <a:p>
            <a:r>
              <a:t>For 8K the grid is 480 by 270 blocks, one thread per pixel.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TAABISH (0:20)</a:t>
            </a:r>
          </a:p>
          <a:p>
            <a:r>
              <a:t>This is the kernel from our submission.</a:t>
            </a:r>
          </a:p>
          <a:p>
            <a:r>
              <a:t>Each thread finds its pixel from blockIdx times blockDim plus threadIdx.</a:t>
            </a:r>
          </a:p>
          <a:p>
            <a:r>
              <a:t>The guard drops threads past the edge.</a:t>
            </a:r>
          </a:p>
          <a:p>
            <a:r>
              <a:t>It rotates back to the source pixel, so every output pixel has one writer.</a:t>
            </a:r>
          </a:p>
          <a:p>
            <a:r>
              <a:t>The launch rounds the grid up, and we check the error straight after, because launches are asynchronous.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TAABISH (0:40)</a:t>
            </a:r>
          </a:p>
          <a:p>
            <a:r>
              <a:t>We built one version per CUDA feature: 1D grid, 2D blocks, bilinear, pageable, streams, texture.</a:t>
            </a:r>
          </a:p>
          <a:p>
            <a:r>
              <a:t>The 2D grid beat the 1D grid, 1.55 against 2.96 milliseconds.</a:t>
            </a:r>
          </a:p>
          <a:p>
            <a:r>
              <a:t>Against one CPU core the kernel is 328 times faster.</a:t>
            </a:r>
          </a:p>
          <a:p>
            <a:r>
              <a:t>But end to end it is only 29.6 times, because copies take 91 percent of the time.</a:t>
            </a:r>
          </a:p>
          <a:p>
            <a:r>
              <a:t>Amdahl caps us at 32.6 times.</a:t>
            </a:r>
          </a:p>
          <a:p>
            <a:r>
              <a:t>A 14-thread laptop beats the T4 end to end. So the kernel is memory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TAABISH (0:30)</a:t>
            </a:r>
          </a:p>
          <a:p>
            <a:r>
              <a:t>GPUDirect Storage lets NVMe DMA straight into GPU memory.</a:t>
            </a:r>
          </a:p>
          <a:p>
            <a:r>
              <a:t>The CPU only keeps the control path, so the host bounce buffer goes away.</a:t>
            </a:r>
          </a:p>
          <a:p>
            <a:r>
              <a:t>For the company: yes, but only for the bulk pipeline, and only if frames are raw or decoded on the GPU with nvJPEG.</a:t>
            </a:r>
          </a:p>
          <a:p>
            <a:r>
              <a:t>It does not help one photo, JPEGs decoded on the CPU, or images already in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(0:15)</a:t>
            </a:r>
          </a:p>
          <a:p>
            <a:r>
              <a:t>The IEA says data centres used 415 terawatt hours in 2024.</a:t>
            </a:r>
          </a:p>
          <a:p>
            <a:r>
              <a:t>That could reach about 1,200 by 2035, and GPU servers drive the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(0:20)</a:t>
            </a:r>
          </a:p>
          <a:p>
            <a:r>
              <a:t>Frontier and LUMI use the same MI250X nodes, and their GFLOPS per watt are almost equal.</a:t>
            </a:r>
          </a:p>
          <a:p>
            <a:r>
              <a:t>But LUMI runs on hydropower and heats part of a Finnish town.</a:t>
            </a:r>
          </a:p>
          <a:p>
            <a:r>
              <a:t>So a FLOP's carbon cost depends on the grid, not only the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(0:22)</a:t>
            </a:r>
          </a:p>
          <a:p>
            <a:r>
              <a:t>Johor went from 10 megawatts to over a gigawatt in about three years.</a:t>
            </a:r>
          </a:p>
          <a:p>
            <a:r>
              <a:t>Data centres could use almost a third of Peninsular electricity by 2035, on a grid that is 79 percent fossil.</a:t>
            </a:r>
          </a:p>
          <a:p>
            <a:r>
              <a:t>Kajaani in Finland is the opposite: hydropower, cold air, and waste heat for the town.</a:t>
            </a:r>
          </a:p>
          <a:p>
            <a:r>
              <a:t>One myth check: AI does not emit more CO2 than aviation today. That is a 2030 projection.</a:t>
            </a:r>
          </a:p>
          <a:p>
            <a:r>
              <a:t>(If asked: Johor also stopped approving new water-hungry Tier 1 and 2 sites.)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(0:35)</a:t>
            </a:r>
          </a:p>
          <a:p>
            <a:r>
              <a:t>Where the GPUs are decides which country's law covers the data.</a:t>
            </a:r>
          </a:p>
          <a:p>
            <a:r>
              <a:t>In data-parallel training, nodes swap gradients, and gradients can leak training data. So data residency becomes a scheduling rule.</a:t>
            </a:r>
          </a:p>
          <a:p>
            <a:r>
              <a:t>Security is dual-use: the same chips train a hospital model or a military model. The US limits exports, and since July 2025 Malaysia needs a permit.</a:t>
            </a:r>
          </a:p>
          <a:p>
            <a:r>
              <a:t>Fairness has a compute cost too: Malay is under 0.1 percent of web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(0:25)</a:t>
            </a:r>
          </a:p>
          <a:p>
            <a:r>
              <a:t>Over 90 percent of notable 2025 models came from industry.</a:t>
            </a:r>
          </a:p>
          <a:p>
            <a:r>
              <a:t>Frontier training compute grows about five times a year, and the best academic model sits about three thousand times lower.</a:t>
            </a:r>
          </a:p>
          <a:p>
            <a:r>
              <a:t>Most academics have one to eight GPUs. (If asked: NCI Gadi has 776 GPUs and demand near three times its allocation.)</a:t>
            </a:r>
          </a:p>
          <a:p>
            <a:r>
              <a:t>If only companies can train frontier models, only companies can audit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(0:35)</a:t>
            </a:r>
          </a:p>
          <a:p>
            <a:r>
              <a:t>UNESCO, the OECD and Malaysia's AIGE give values, but no number to report.</a:t>
            </a:r>
          </a:p>
          <a:p>
            <a:r>
              <a:t>The EU is closer: the AI Act flags models above 10 to the 25 FLOP, and big sites must report PUE.</a:t>
            </a:r>
          </a:p>
          <a:p>
            <a:r>
              <a:t>So we propose SCALE. Each step is a Slurm setting and a reported number.</a:t>
            </a:r>
          </a:p>
          <a:p>
            <a:r>
              <a:t>Size right. Carbon-aware: jobs that can wait cut CO2 by up to 19 percent. Account every joule. Lawful, local data. Equitable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(0:28)</a:t>
            </a:r>
          </a:p>
          <a:p>
            <a:r>
              <a:t>Task 1 limits: a one-core CPU baseline on a shared Colab VM, so our speed-ups belong to that setup, and we could not test GDS.</a:t>
            </a:r>
          </a:p>
          <a:p>
            <a:r>
              <a:t>Next: nvJPEG, GDS and streams on a GDS server.</a:t>
            </a:r>
          </a:p>
          <a:p>
            <a:r>
              <a:t>Task 2 limits: most model energy figures are estimates, so we measured ours: about 0.7 joules per 8K image on the T4.</a:t>
            </a:r>
          </a:p>
          <a:p>
            <a:r>
              <a:t>Google's fleet only saved 1 to 2 percent at peak-carbon hours.</a:t>
            </a:r>
          </a:p>
          <a:p>
            <a:r>
              <a:t>Takeaways: rotation is memory bound, so PCIe sets the ceiling. And the cost of a FLOP depends on where and for whom it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ERWYNA (0:03)</a:t>
            </a:r>
          </a:p>
          <a:p>
            <a:r>
              <a:t>Thank you. Any questions?</a:t>
            </a:r>
          </a:p>
          <a:p/>
          <a:p>
            <a:r>
              <a:t>Q&amp;A RULE: verdict first, then the mechanism, then our number. Use parallel terms, no analogies. Name the problem before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(Taabish). Only for Q&amp;A. H2D 8.06 ms, kernel 1.55 ms, D2H 7.58 ms, total 17.19 ms. CPU one core 509.3 ms. Mismatch 0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(Taabish). Only for Q&amp;A. Pageable 4.6 GB/s vs pinned 12.3 GB/s. Streams: 1.8x on a batch of 8 images, 1.36x on one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(Taabish). Only for Q&amp;A. Image i goes to stream i % 4. Async copies need pinned RAM. Same stream runs in order; different streams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(Taabish). Only for Q&amp;A. Nearest: flat from 64 to 256 threads per block (about 1.44 to 1.45 ms); 32x32 slower (1.88 ms) from register and cache pressure. Bilinear: 16x8 fastest (2.83 ms). End-to-end speed-up grows from 19x at 640x360 to 35x at 16K for nearest. Run to run the v2 kernel varied 1.45 to 2.11 ms; copies stayed 8.06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(Taabish). Only for Q&amp;A. Each stage is timed on the GPU clock with a pair of events. Warm-up run discarded, then mean of 10. Built with --fmad=false so v1 to v5 match the CPU byte for byte. v6 texture differs in 257,964 bytes (0.26%), each by at most 1, from the texture unit's low-precision filter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(Taabish). Only for Q&amp;A. T4 balance is about 25 FLOP per byte. Rotation does a few FLOPs per byte moved, so the kernel is memory bound. PCIe is about 20x narrower than GDDR6, so copies are 91 percent of the time for one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(Taabish). Only for Q&amp;A. cuFileDriverOpen, cuFileHandleRegister (file opened with O_DIRECT), cuFileBufRegister (GPU buffer), then cuFileRead into GPU memory. The CPU issues the calls; data DMAs from NVMe to GPU with no host bounce buffer. Without nvidia-fs and the rest, cuFile falls back to a host bounce buffer, which is what Colab would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(Taabish). Only for Q&amp;A. SIMD: one instruction on a wide register, lanes in lockstep, divergence is masked and wastes lanes. SIMT: warps of 32 threads run one instruction, each with its own index; divergent branches serialise inside the warp. NPU: fixed matrix-multiply units (systolic array) for low-precision inference, high TOPS per watt, little flexibility. Rotation is a gather, so it maps poorly.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 Full references. Small type is deliberate: this is a reference list, not a slide to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 Full references. Small type is deliberate: this is a reference list, not a slide to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 Full references. Small type is deliberate: this is a reference list, not a slide to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BFD4FF"/>
                </a:solidFill>
                <a:latin typeface="Arial"/>
              </a:rPr>
              <a:t>Monash FIT3143 Parallel Computing  |  Applied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GPU Image Rotation and the Ethics of Scaling HPC for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Erwyna Soo Wen Xin (36555789)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Taabish Farooq Bhat (35473932)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BFD4FF"/>
                </a:solidFill>
                <a:latin typeface="Arial"/>
              </a:rPr>
              <a:t>esoo0013@student.monash.edu   |   ttaa0006@student.monash.edu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3474720" cy="7315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Task 1: GPU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5486400"/>
            <a:ext cx="3474720" cy="7315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Task 2: Ethics of HPC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5486400"/>
            <a:ext cx="3474720" cy="7315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Limits and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Task 1: 33 million independent pixels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Taabish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8K = 7680 x 4320.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4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8K image: 33,177,600 pixels</a:t>
            </a:r>
          </a:p>
          <a:p>
            <a:pPr algn="l" marL="365760" indent="-365760">
              <a:spcAft>
                <a:spcPts val="14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Every pixel is independent</a:t>
            </a:r>
          </a:p>
          <a:p>
            <a:pPr algn="l" marL="365760" indent="-365760">
              <a:spcAft>
                <a:spcPts val="14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So the job is data parallel</a:t>
            </a:r>
          </a:p>
          <a:p>
            <a:pPr algn="l" marL="365760" indent="-365760">
              <a:spcAft>
                <a:spcPts val="14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One thread per output pixel</a:t>
            </a:r>
          </a:p>
          <a:p>
            <a:pPr algn="l" marL="365760" indent="-365760">
              <a:spcAft>
                <a:spcPts val="14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One writer per pixel, no holes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Output pixel (x, 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6324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Rotate back (R transpose)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48056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Source pixel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823960" y="2697480"/>
            <a:ext cx="457200" cy="365760"/>
          </a:xfrm>
          <a:prstGeom prst="downArrow">
            <a:avLst/>
          </a:prstGeom>
          <a:solidFill>
            <a:srgbClr val="BF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8823960" y="4114800"/>
            <a:ext cx="457200" cy="365760"/>
          </a:xfrm>
          <a:prstGeom prst="downArrow">
            <a:avLst/>
          </a:prstGeom>
          <a:solidFill>
            <a:srgbClr val="BF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57784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Inverse mapping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1a. Host to device and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Taabish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NVIDIA (n.d.-d, 2026a, 2026b). Measured on Tesla T4.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CPU memory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(host)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GPU memory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(device)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49039" y="1691640"/>
            <a:ext cx="4663440" cy="731520"/>
          </a:xfrm>
          <a:prstGeom prst="rightArrow">
            <a:avLst/>
          </a:prstGeom>
          <a:solidFill>
            <a:srgbClr val="BF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4688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PCIe: 12.3 GB/s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74320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GDDR6: 320 GB/s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1064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Pageable memory: extra staging copy, 4.6 GB/s</a:t>
            </a:r>
          </a:p>
          <a:p>
            <a:pPr algn="l" marL="365760" indent="-365760">
              <a:spcAft>
                <a:spcPts val="10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Pinned memory: direct DMA, 12.3 GB/s</a:t>
            </a:r>
          </a:p>
          <a:p>
            <a:pPr algn="l" marL="365760" indent="-365760">
              <a:spcAft>
                <a:spcPts val="10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The kernel only works inside GPU memory</a:t>
            </a:r>
          </a:p>
          <a:p>
            <a:pPr algn="l" marL="365760" indent="-365760">
              <a:spcAft>
                <a:spcPts val="10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Unified Memory and zero-copy move data on demand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1b. CUDA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Taabish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NVIDIA (2026b).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5836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6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Host (CPU): allocate, copy, launch, sync</a:t>
            </a:r>
          </a:p>
          <a:p>
            <a:pPr algn="l" marL="365760" indent="-365760">
              <a:spcAft>
                <a:spcPts val="16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Device (GPU): thousands of SIMT threads</a:t>
            </a:r>
          </a:p>
          <a:p>
            <a:pPr algn="l" marL="365760" indent="-365760">
              <a:spcAft>
                <a:spcPts val="16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Block: 16 x 16 = 256 threads = 8 warps</a:t>
            </a:r>
          </a:p>
          <a:p>
            <a:pPr algn="l" marL="365760" indent="-365760">
              <a:spcAft>
                <a:spcPts val="16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Grid: 480 x 270 = 129,600 blocks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4206240" cy="33832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1645920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49056" y="1645920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17152" y="1645920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85248" y="1645920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53344" y="1645920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2414016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49056" y="2414016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17152" y="2414016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85248" y="2414016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53344" y="2414016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0" y="3182112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49056" y="3182112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17152" y="3182112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85248" y="3182112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53344" y="3182112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0" y="3950208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49056" y="3950208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7152" y="3950208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85248" y="3950208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53344" y="3950208"/>
            <a:ext cx="676656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489204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Grid of blocks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44068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Block: 16 x 16 threads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1b. Our kernel and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Taabish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rotate_cuda.cu in our submission zip.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31750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19"/>
            <a:ext cx="5120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YOUR SCREENSHOT 1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Kernel rotate_nn_2d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rotate_cuda.cu lines 145 to 158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31750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512064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YOUR SCREENSHOT 2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Grid size and launch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rotate_cuda.cu lines 360 to 383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Thread finds its pixel from blockIdx, blockDim, threadIdx</a:t>
            </a:r>
          </a:p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Guard drops extra threads; grid is rounded up</a:t>
            </a:r>
          </a:p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Launch is async, so we check the error right after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1b. Each feature, measured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Taabish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Tesla T4, 8K at 30 degrees, v2 nearest, mean of 10 runs. CPU baseline: one 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766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1_spee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8972"/>
            <a:ext cx="6766560" cy="2862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526280"/>
            <a:ext cx="6766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6 versions built, one per feature</a:t>
            </a:r>
          </a:p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2D grid beat 1D: 1.55 vs 2.96 ms</a:t>
            </a:r>
          </a:p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Amdahl cap: 32.6x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4173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2563EB"/>
                </a:solidFill>
                <a:latin typeface="Arial"/>
              </a:rPr>
              <a:t>328x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762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kernel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9718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30175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2563EB"/>
                </a:solidFill>
                <a:latin typeface="Arial"/>
              </a:rPr>
              <a:t>29.6x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7764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end to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5720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6177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2563EB"/>
                </a:solidFill>
                <a:latin typeface="Arial"/>
              </a:rPr>
              <a:t>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3766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time is copies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1c. GPUDirect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Taabish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Thompson &amp; Newburn (2019); NVIDIA (n.d.-a).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2563EB"/>
                </a:solidFill>
                <a:latin typeface="Arial"/>
              </a:rPr>
              <a:t>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Bulk raw frames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JPEGs decoded on the GPU (nvJPEG)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Disk I/O is the bottleneck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B2A5B"/>
                </a:solidFill>
                <a:latin typeface="Arial"/>
              </a:rPr>
              <a:t>Does not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1206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200"/>
              </a:spcAft>
              <a:buClr>
                <a:srgbClr val="0B2A5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One photo</a:t>
            </a:r>
          </a:p>
          <a:p>
            <a:pPr algn="l" marL="365760" indent="-365760">
              <a:spcAft>
                <a:spcPts val="1200"/>
              </a:spcAft>
              <a:buClr>
                <a:srgbClr val="0B2A5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JPEGs decoded on the CPU</a:t>
            </a:r>
          </a:p>
          <a:p>
            <a:pPr algn="l" marL="365760" indent="-365760">
              <a:spcAft>
                <a:spcPts val="1200"/>
              </a:spcAft>
              <a:buClr>
                <a:srgbClr val="0B2A5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Images already in 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Not tested: Colab has no nvidia-fs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2a. Data centre demand keeps climbing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Erwyna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International Energy Agency (IEA, 2025).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7665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2_iea_datacentre_electr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5905"/>
            <a:ext cx="6766560" cy="3806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3716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563EB"/>
                </a:solidFill>
                <a:latin typeface="Arial"/>
              </a:rPr>
              <a:t>415 TWh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762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in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718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30175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563EB"/>
                </a:solidFill>
                <a:latin typeface="Arial"/>
              </a:rPr>
              <a:t>945 TWh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7764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by 2030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5720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46177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563EB"/>
                </a:solidFill>
                <a:latin typeface="Arial"/>
              </a:rPr>
              <a:t>1,200 TWh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3766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by 2035 (about)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6766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GPU servers drive the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2a. Same chip, different grid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Erwyna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TOP500 (2026); LUMI consortium (2023).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3749039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B2A5B"/>
                </a:solidFill>
                <a:latin typeface="Arial"/>
              </a:rPr>
              <a:t>Frontier (USA)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>
                <a:solidFill>
                  <a:srgbClr val="2563EB"/>
                </a:solidFill>
                <a:latin typeface="Arial"/>
              </a:rPr>
              <a:t>55.0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GFLOPS per watt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3749039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B2A5B"/>
                </a:solidFill>
                <a:latin typeface="Arial"/>
              </a:rPr>
              <a:t>LUMI (Finland)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>
                <a:solidFill>
                  <a:srgbClr val="2563EB"/>
                </a:solidFill>
                <a:latin typeface="Arial"/>
              </a:rPr>
              <a:t>53.4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GFLOPS per watt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100% hydropower</a:t>
            </a:r>
          </a:p>
          <a:p>
            <a:pPr algn="l" marL="365760" indent="-365760">
              <a:spcAft>
                <a:spcPts val="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Waste heat warms a town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49240"/>
            <a:ext cx="11155680" cy="914400"/>
          </a:xfrm>
          <a:prstGeom prst="roundRect">
            <a:avLst>
              <a:gd name="adj" fmla="val 2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Carbon per FLOP depends on the grid, not only the chip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2a. Malaysia lens and a myth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Erwyna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Ember (2026); Loo (2025); Bernama (2026); LUMI consortium (2023); Jamison et al. (2025); Giles (2025); IEA (2025).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33832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B2A5B"/>
                </a:solidFill>
                <a:latin typeface="Arial"/>
              </a:rPr>
              <a:t>Johor, Malaysia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1206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79% fossil grid</a:t>
            </a:r>
          </a:p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10 MW to 1.3 GW in 3 years</a:t>
            </a:r>
          </a:p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Up to 31% of Peninsular power by 2035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33832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B2A5B"/>
                </a:solidFill>
                <a:latin typeface="Arial"/>
              </a:rPr>
              <a:t>Kajaani, Finland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1206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100% hydropower</a:t>
            </a:r>
          </a:p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Cold climate cooling</a:t>
            </a:r>
          </a:p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Waste heat warms the town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155680" cy="1325880"/>
          </a:xfrm>
          <a:prstGeom prst="roundRect">
            <a:avLst>
              <a:gd name="adj" fmla="val 15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10789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Arial"/>
              </a:rPr>
              <a:t>Myth: "AI out-emits aviation"</a:t>
            </a:r>
          </a:p>
          <a:p>
            <a:pPr algn="l"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Arial"/>
              </a:rPr>
              <a:t>It is a 2030 projection. Today: about 180 Mt CO2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2b. Governance, security and fairness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Erwyna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Pilz et al. (2025); Zhu et al. (2019); BIS (2022); MITI (2025); Common Crawl (2026); Ahuja et al. (2023).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155680" cy="15087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83210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65760" indent="-365760">
              <a:spcAft>
                <a:spcPts val="4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75% of AI supercomputer power is in the US</a:t>
            </a:r>
          </a:p>
          <a:p>
            <a:pPr algn="l" marL="365760" indent="-365760">
              <a:spcAft>
                <a:spcPts val="4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Gradients can leak data: keep it local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11155680" cy="15087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063239"/>
            <a:ext cx="83210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65760" indent="-365760">
              <a:spcAft>
                <a:spcPts val="4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Dual-use chips: hospital or military</a:t>
            </a:r>
          </a:p>
          <a:p>
            <a:pPr algn="l" marL="365760" indent="-365760">
              <a:spcAft>
                <a:spcPts val="4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US export limits; Malaysia needs permits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155680" cy="15087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Fairness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709159"/>
            <a:ext cx="83210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65760" indent="-365760">
              <a:spcAft>
                <a:spcPts val="4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Malay is 0.086% of web text</a:t>
            </a:r>
          </a:p>
          <a:p>
            <a:pPr algn="l" marL="365760" indent="-365760">
              <a:spcAft>
                <a:spcPts val="4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Tamil needs about 10 tokens per word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2c. The compute divide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Erwyna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Stanford HAI (2026); Epoch AI (2026); Khandelwal et al. (2025); NCI (n.d.-a, n.d.-b).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7665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3_epoch_training_comp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5905"/>
            <a:ext cx="6766560" cy="3806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3716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2563EB"/>
                </a:solidFill>
                <a:latin typeface="Arial"/>
              </a:rPr>
              <a:t>&gt;90%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762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of models: industry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718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30175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563EB"/>
                </a:solidFill>
                <a:latin typeface="Arial"/>
              </a:rPr>
              <a:t>5x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7764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frontier compute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5720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4617720"/>
            <a:ext cx="41148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2563EB"/>
                </a:solidFill>
                <a:latin typeface="Arial"/>
              </a:rPr>
              <a:t>1 to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376672"/>
            <a:ext cx="4114800" cy="6144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academic GPUs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6766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Only companies can audit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2d. Our SCALE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Erwyna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UNESCO (2021); OECD (2024); MOSTI (2024); European Parliament &amp; Council (2024); Wiesner et al. (2021).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868680" cy="8046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25880"/>
            <a:ext cx="100584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Size right: stop when efficiency drops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21991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221991"/>
            <a:ext cx="868680" cy="8046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21991"/>
            <a:ext cx="100584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Carbon-aware: run flexible jobs at low-carbon times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18104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118104"/>
            <a:ext cx="868680" cy="8046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18104"/>
            <a:ext cx="100584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Account every joule: report energy per job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14215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014215"/>
            <a:ext cx="868680" cy="8046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14215"/>
            <a:ext cx="100584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Lawful, local data: keep data in its country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10328"/>
            <a:ext cx="11155680" cy="80467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910328"/>
            <a:ext cx="868680" cy="8046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10328"/>
            <a:ext cx="100584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Equitable access: fair-share queues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52160"/>
            <a:ext cx="11155680" cy="502920"/>
          </a:xfrm>
          <a:prstGeom prst="roundRect">
            <a:avLst>
              <a:gd name="adj" fmla="val 3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0">
                <a:solidFill>
                  <a:srgbClr val="FFFFFF"/>
                </a:solidFill>
                <a:latin typeface="Arial"/>
              </a:rPr>
              <a:t>Principles give values. The EU gives numbers.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Limitations, future work and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371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A5B"/>
                </a:solidFill>
                <a:latin typeface="Arial"/>
              </a:rPr>
              <a:t>Presenter: Erwyna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Epoch AI (2026); Radovanovic et al. (2023).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212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Limit: Colab has 2 vCPUs, no GDS test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Next: nvJPEG + GDS + streams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Takeaway: memory bound, PCIe sets the ceiling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Task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86000"/>
            <a:ext cx="5212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Limit: model energy figures are estimates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Ours: 0.71 J per 8K image on the T4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Takeaway: a FLOP's cost depends on where and for whom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0">
                <a:solidFill>
                  <a:srgbClr val="BFD4FF"/>
                </a:solidFill>
                <a:latin typeface="Arial"/>
              </a:rPr>
              <a:t>Erwyna Soo Wen Xin and Taabish Farooq Bhat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A1. Where the time goes (8K, 30 degrees)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v2 nearest, pinned, Tesla T4, mean of 10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151194" cy="10972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H2D 8.06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36410" y="1737360"/>
            <a:ext cx="961072" cy="1097280"/>
          </a:xfrm>
          <a:prstGeom prst="roundRect">
            <a:avLst>
              <a:gd name="adj" fmla="val 5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34058" y="1737360"/>
            <a:ext cx="4842245" cy="10972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D2H 7.58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Kernel is only 1.55 ms (9%)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Total on GPU: 17.19 ms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CPU, one core: 509.3 ms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200" b="0">
                <a:solidFill>
                  <a:srgbClr val="1F2937"/>
                </a:solidFill>
                <a:latin typeface="Arial"/>
              </a:rPr>
              <a:t>Mismatch vs CPU: 0 pixels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A2. Pinned vs pageable, and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3_pinned_vs_page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56079"/>
            <a:ext cx="5394960" cy="2997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64592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6_stre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05939"/>
            <a:ext cx="5394960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84632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Pageable 4.6 GB/s vs pinned 12.3 GB/s</a:t>
            </a:r>
          </a:p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Streams: 1.8x on 8 images, 1.36x on one image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A2. Streams code (from our code)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rotate_cuda.cu in our submission zip.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32918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31750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YOUR SCREENSHOT 3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Round-robin streams loop with cudaMemcpyAsync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rotate_cuda.cu lines 803 to 815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Image i goes to stream i % 4</a:t>
            </a:r>
          </a:p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Async copies need pinned memory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A3. Block sweep and image size sweep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4_block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1215"/>
            <a:ext cx="5486400" cy="23211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64592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5_size_sw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45920"/>
            <a:ext cx="5303519" cy="2651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Nearest: block shape barely matters</a:t>
            </a:r>
          </a:p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Bilinear: 16 x 8 is fastest (2.83 ms)</a:t>
            </a:r>
          </a:p>
          <a:p>
            <a:pPr algn="l" marL="365760" indent="-365760">
              <a:spcAft>
                <a:spcPts val="6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Bigger images: bigger speed-up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A4. How we timed it (from our code)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rotate_cuda.cu in our submission zip.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852160" cy="44805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31750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48640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YOUR SCREENSHOT 4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CUDA events around H2D, kernel, D2H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B2A5B"/>
                </a:solidFill>
                <a:latin typeface="Arial"/>
              </a:rPr>
              <a:t>rotate_cuda.cu lines 440 to 450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51206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Events use the GPU clock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Warm-up run discarded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Mean of 10 runs</a:t>
            </a:r>
          </a:p>
          <a:p>
            <a:pPr algn="l" marL="365760" indent="-365760">
              <a:spcAft>
                <a:spcPts val="12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--fmad=false: v1 to v5 match the CPU exactly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A5. Why PCIe is the narrow pipe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PCI-SIG (2019); NVIDIA (n.d.-d).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T4 GDDR6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5120640" cy="640080"/>
          </a:xfrm>
          <a:prstGeom prst="roundRect">
            <a:avLst>
              <a:gd name="adj" fmla="val 1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73736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320 GB/s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PCIe 3.0 x16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834640"/>
            <a:ext cx="252031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1071" y="274320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15.75 GB/s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Arial"/>
              </a:rPr>
              <a:t>Pinned copy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840479"/>
            <a:ext cx="228600" cy="6400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3749039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12.3 GB/s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PCIe is about 20x narrower than GDDR6</a:t>
            </a:r>
          </a:p>
          <a:p>
            <a:pPr algn="l" marL="365760" indent="-365760">
              <a:spcAft>
                <a:spcPts val="8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T4 needs about 25 FLOP per byte; rotation does a few: memory bound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A6. GDS in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NVIDIA (n.d.-a, n.d.-b, n.d.-c).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cuFileDriverOpen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cuFileHandleRegister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cuFileBufRegister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cuFileRead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11064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Data goes NVMe to GPU, no host bounce buffer</a:t>
            </a:r>
          </a:p>
          <a:p>
            <a:pPr algn="l" marL="365760" indent="-365760">
              <a:spcAft>
                <a:spcPts val="10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Needs nvidia-fs, O_DIRECT, aligned buffers</a:t>
            </a:r>
          </a:p>
          <a:p>
            <a:pPr algn="l" marL="365760" indent="-365760">
              <a:spcAft>
                <a:spcPts val="1000"/>
              </a:spcAft>
              <a:buClr>
                <a:srgbClr val="2563EB"/>
              </a:buClr>
              <a:buFont typeface="Arial"/>
              <a:buChar char="•"/>
            </a:pPr>
            <a:r>
              <a:rPr sz="3000" b="0">
                <a:solidFill>
                  <a:srgbClr val="1F2937"/>
                </a:solidFill>
                <a:latin typeface="Arial"/>
              </a:rPr>
              <a:t>Without them: falls back to a bounce buffer (Colab)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A7. SIMD vs SIMT vs NPU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Sources: Lindholm et al. (2008); Jouppi et al. (2017).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SIMD (CPU)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795527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One instruction, wide register, lanes in lockstep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SIMT (GPU)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46120"/>
            <a:ext cx="795527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Warps of 32 threads, each with its own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79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54879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NPU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754879"/>
            <a:ext cx="795527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F2937"/>
                </a:solidFill>
                <a:latin typeface="Arial"/>
              </a:rPr>
              <a:t>Fixed matrix units: fast, but rotation is a poor fit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A8. References, Task 1 (APA 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Jouppi, N. P., Young, C., Patil, N., Patterson, D., Agrawal, G., Bajwa, R., Bates, S., Bhatia, S., Boden, N., Borchers, A., Boyle, R., Cantin, P.-l., Chao, C., Clark, C., Coriell, J., Daley, M., Dau, M., Dean, J., Gelb, B., . . . Yoon, D. H. (2017). In-datacenter performance analysis of a tensor processing unit. In Proceedings of the 44th Annual International Symposium on Computer Architecture (pp. 1-12). ACM. https://doi.org/10.1145/3079856.3080246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Lindholm, E., Nickolls, J., Oberman, S., &amp; Montrym, J. (2008). NVIDIA Tesla: A unified graphics and computing architecture. IEEE Micro, 28(2), 39-55. https://doi.org/10.1109/MM.2008.31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NVIDIA. (n.d.-a). cuFile API reference guide. https://docs.nvidia.com/gpudirect-storage/api-reference-guide/index.html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NVIDIA. (n.d.-b). NVIDIA GPUDirect Storage overview guide. https://docs.nvidia.com/gpudirect-storage/overview-guide/index.html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NVIDIA. (n.d.-c). NVIDIA GPUDirect Storage release notes. https://docs.nvidia.com/gpudirect-storage/release-notes/index.html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NVIDIA. (n.d.-d). NVIDIA T4 Tensor Core GPU. https://www.nvidia.com/en-us/data-center/tesla-t4/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NVIDIA. (2026a). CUDA C++ best practices guide (Version 13.4). https://docs.nvidia.com/cuda/cuda-c-best-practices-guide/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NVIDIA. (2026b). CUDA programming guide (Version 13.4). https://docs.nvidia.com/cuda/cuda-programming-guide/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PCI-SIG. (2019). PCI Express base specification (Revision 5.0). https://pcisig.com/specifications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Thompson, A., &amp; Newburn, C. J. (2019, August 6). GPUDirect Storage: A direct path between storage and GPU memory. NVIDIA Technical Blog. https://developer.nvidia.com/blog/gpudirect-storage/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A9. References, Task 2 (APA 7), 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Ahuja, K., Diddee, H., Hada, R., Ochieng, M., Ramesh, K., Jain, P., Nambi, A., Ganu, T., Segal, S., Ahmed, M., Bali, K., &amp; Sitaram, S. (2023). MEGA: Multilingual evaluation of generative AI. In Proceedings of the 2023 Conference on Empirical Methods in Natural Language Processing (pp. 4232-4267). Association for Computational Linguistics. https://doi.org/10.18653/v1/2023.emnlp-main.258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Bernama. (2026, July 1). Electricity consumption of data centres expected to surge to 31 pct by 2035. BernamaBiz. https://www.bernamabiz.com/news.php?id=2575423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Bureau of Industry and Security. (2022, October 13). Implementation of additional export controls: Certain advanced computing and semiconductor manufacturing items; supercomputer and semiconductor end use; entity list modification. Federal Register, 87, 62186. https://www.federalregister.gov/d/2022-21658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Common Crawl. (2026). Distribution of languages (CC-MAIN-2026-39) [Data set]. https://commoncrawl.github.io/cc-crawl-statistics/plots/languages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Ember. (2026, April 22). Malaysia: Electricity data. https://ember-energy.org/countries-and-regions/malaysia/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Epoch AI. (2026). Data on AI models [Data set]. https://epoch.ai/data/notable-ai-models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European Commission. (n.d.). Energy performance of data centres. https://energy.ec.europa.eu/topics/energy-efficiency/energy-efficiency-targets-directive-and-rules/energy-efficiency-directive/energy-performance-data-centres_en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European Parliament &amp; Council of the European Union. (2024). Regulation (EU) 2024/1689 laying down harmonised rules on artificial intelligence (Artificial Intelligence Act). Official Journal of the European Union. https://eur-lex.europa.eu/eli/reg/2024/1689/oj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Giles, M. (2025, June 27). By 2030, AI data centers could take a bigger share of CO2 emissions than aviation. Sherwood News. https://sherwood.news/world/by-2030-ai-data-centers-could-take-a-bigger-share-of-co-emissions-than/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International Energy Agency. (2025). Energy and AI. https://www.iea.org/reports/energy-and-ai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Jamison, S., Podder, S., Burden, A., Ghosh, B., Ramani, S., Singh, S. K., &amp; Robinson, M. (2025). Powering sustainable AI: Balancing growth with environmental responsibility. Accenture. https://www.accenture.com/content/dam/accenture/final/corporate/corporate-initiatives/sustainability/document/Powering-Sustainable-AI.pdf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Khandelwal, A., Yun, T., Nayak, N. V., Merullo, J., Bach, S. H., Sun, C., &amp; Pavlick, E. (2025). $100K or 100 days: Trade-offs when pre-training with academic resources. In Conference on Language Modeling. https://arxiv.org/abs/2410.23261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Loo, S. (2025, June 12). Data centres, energy demand and sustainability: Can Malaysia strike the right balance? (ISEAS Perspective No. 2025/43). ISEAS-Yusof Ishak Institute. https://www.iseas.edu.sg/articles-commentaries/iseas-perspective/2025-43-data-centres-energy-demand-and-sustainability-can-malaysia-strike-the-right-balance-by-sara-loo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LUMI consortium. (2023, March 9). LUMI data center receives the Green Data Centre of the Year award. https://lumi-supercomputer.eu/lumi-data-center-receives-the-green-data-centre-of-the-year-award/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Arial"/>
              </a:rPr>
              <a:t>A9. References, Task 2 (APA 7), 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38404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B2A5B"/>
                </a:solidFill>
                <a:latin typeface="Arial"/>
              </a:rPr>
              <a:t>APPENDIX: extra material for Q&amp;A, not part of the 7-minute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Ministry of Investment, Trade and Industry Malaysia. (2025, July 14). Malaysia regulates trade of US AI chips [Press statement]. https://www.miti.gov.my/miti/resources/Media%20Release/%5BFINAL%5D_MITI_Press_Stmt_Malaysia_Regulates_Trade_of_US_AI_Chips_2025-07-14.pdf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Ministry of Science, Technology and Innovation. (2024). The national guidelines on AI governance and ethics. https://mastic.mosti.gov.my/storage/2024/09/THE-NATIONAL-GUIDELINES-ON-AI-GOVERNANCE-ETHICS.pdf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National Computational Infrastructure. (n.d.-a). HPC systems: Gadi. https://nci.org.au/infrastructure/hpc-systems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National Computational Infrastructure. (n.d.-b). Record demand highlights Australia's growing need for supercomputing power. https://nci.org.au/news-events/news/record-demand-highlights-australias-growing-need-supercomputing-power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OECD. (2024). OECD AI principles. https://oecd.ai/en/ai-principles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Pilz, K. F., Sanders, J., Rahman, R., &amp; Heim, L. (2025). Trends in AI supercomputers. arXiv. https://arxiv.org/abs/2504.16026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Radovanovic, A., Koningstein, R., Schneider, I., Chen, B., Duarte, A., Roy, B., Xiao, D., Haridasan, M., Hung, P., Care, N., Talukdar, S., Mullen, E., Smith, K., Cottman, M., &amp; Cirne, W. (2023). Carbon-aware computing for datacenters. IEEE Transactions on Power Systems, 38(2), 1270-1280. https://doi.org/10.1109/TPWRS.2022.3173250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Shadiqe, J. (2025, November 27). Johor shuts door on water-guzzling data centres, tightens approval rules. New Straits Times. https://www.nst.com.my/news/nation/2025/11/1324188/johor-shuts-door-water-guzzling-data-centres-tightens-approval-rules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Stanford Institute for Human-Centered AI. (2026). The AI index 2026 annual report. https://hai.stanford.edu/ai-index/2026-ai-index-report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TOP500. (2026). Green500 list, June 2026. https://www.top500.org/lists/green500/list/2026/06/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UNESCO. (2021). Recommendation on the ethics of artificial intelligence. https://www.unesco.org/en/artificial-intelligence/recommendation-ethics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Wiesner, P., Behnke, I., Scheinert, D., Gontarska, K., &amp; Thamsen, L. (2021). Let's wait awhile: How temporal workload shifting can reduce carbon emissions in the cloud. In Proceedings of the 22nd International Middleware Conference (pp. 260-272). Association for Computing Machinery. https://doi.org/10.1145/3464298.3493399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Arial"/>
              </a:rPr>
              <a:t>Zhu, L., Liu, Z., &amp; Han, S. (2019). Deep leakage from gradients. Advances in Neural Information Processing Systems, 32. https://arxiv.org/abs/1906.08935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