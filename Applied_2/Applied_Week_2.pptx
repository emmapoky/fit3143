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6" r:id="rId3"/>
  </p:sldMasterIdLst>
  <p:notesMasterIdLst>
    <p:notesMasterId r:id="rId3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5143500" type="screen16x9"/>
  <p:notesSz cx="6858000" cy="9144000"/>
  <p:embeddedFontLst>
    <p:embeddedFont>
      <p:font typeface="Arial Narrow" panose="020B0604020202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02">
          <p15:clr>
            <a:srgbClr val="A4A3A4"/>
          </p15:clr>
        </p15:guide>
        <p15:guide id="2" orient="horz" pos="3018">
          <p15:clr>
            <a:srgbClr val="A4A3A4"/>
          </p15:clr>
        </p15:guide>
        <p15:guide id="3" orient="horz" pos="226">
          <p15:clr>
            <a:srgbClr val="A4A3A4"/>
          </p15:clr>
        </p15:guide>
        <p15:guide id="4" orient="horz" pos="681">
          <p15:clr>
            <a:srgbClr val="A4A3A4"/>
          </p15:clr>
        </p15:guide>
        <p15:guide id="5" orient="horz" pos="1277">
          <p15:clr>
            <a:srgbClr val="A4A3A4"/>
          </p15:clr>
        </p15:guide>
        <p15:guide id="6" orient="horz" pos="1457">
          <p15:clr>
            <a:srgbClr val="A4A3A4"/>
          </p15:clr>
        </p15:guide>
        <p15:guide id="7" orient="horz" pos="1575">
          <p15:clr>
            <a:srgbClr val="A4A3A4"/>
          </p15:clr>
        </p15:guide>
        <p15:guide id="8" orient="horz" pos="1749">
          <p15:clr>
            <a:srgbClr val="A4A3A4"/>
          </p15:clr>
        </p15:guide>
        <p15:guide id="9" orient="horz" pos="2480">
          <p15:clr>
            <a:srgbClr val="A4A3A4"/>
          </p15:clr>
        </p15:guide>
        <p15:guide id="10" orient="horz" pos="1153">
          <p15:clr>
            <a:srgbClr val="A4A3A4"/>
          </p15:clr>
        </p15:guide>
        <p15:guide id="11" orient="horz" pos="338">
          <p15:clr>
            <a:srgbClr val="A4A3A4"/>
          </p15:clr>
        </p15:guide>
        <p15:guide id="12" orient="horz" pos="200">
          <p15:clr>
            <a:srgbClr val="A4A3A4"/>
          </p15:clr>
        </p15:guide>
        <p15:guide id="13" orient="horz" pos="2013">
          <p15:clr>
            <a:srgbClr val="A4A3A4"/>
          </p15:clr>
        </p15:guide>
        <p15:guide id="14" orient="horz" pos="532">
          <p15:clr>
            <a:srgbClr val="A4A3A4"/>
          </p15:clr>
        </p15:guide>
        <p15:guide id="15" orient="horz" pos="202">
          <p15:clr>
            <a:srgbClr val="A4A3A4"/>
          </p15:clr>
        </p15:guide>
        <p15:guide id="16" pos="235">
          <p15:clr>
            <a:srgbClr val="A4A3A4"/>
          </p15:clr>
        </p15:guide>
        <p15:guide id="17" pos="26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bcKfhJ9YCgdZIbz0+cg9VN8nW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2"/>
  </p:normalViewPr>
  <p:slideViewPr>
    <p:cSldViewPr snapToGrid="0">
      <p:cViewPr varScale="1">
        <p:scale>
          <a:sx n="134" d="100"/>
          <a:sy n="134" d="100"/>
        </p:scale>
        <p:origin x="904" y="176"/>
      </p:cViewPr>
      <p:guideLst>
        <p:guide orient="horz" pos="902"/>
        <p:guide orient="horz" pos="3018"/>
        <p:guide orient="horz" pos="226"/>
        <p:guide orient="horz" pos="681"/>
        <p:guide orient="horz" pos="1277"/>
        <p:guide orient="horz" pos="1457"/>
        <p:guide orient="horz" pos="1575"/>
        <p:guide orient="horz" pos="1749"/>
        <p:guide orient="horz" pos="2480"/>
        <p:guide orient="horz" pos="1153"/>
        <p:guide orient="horz" pos="338"/>
        <p:guide orient="horz" pos="200"/>
        <p:guide orient="horz" pos="2013"/>
        <p:guide orient="horz" pos="532"/>
        <p:guide orient="horz" pos="202"/>
        <p:guide pos="235"/>
        <p:guide pos="2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3.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3f59d3e3f11_0_4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g3f59d3e3f11_0_4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g3f59d3e3f11_0_4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 name="Google Shape;5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f5aa1f4a90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g3f5aa1f4a90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g3f5aa1f4a90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f5aa1f4a90_1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 name="Google Shape;65;g3f5aa1f4a90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5977d359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g3f5977d359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 name="Google Shape;72;g3f5977d359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5977d359e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g3f5977d359e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3f5977d359e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f5977d359e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g3f5977d359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3f5977d359e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f5977d359e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g3f5977d359e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g3f5977d359e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5977d359e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g3f5977d359e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g3f5977d359e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5977d359e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3f5977d359e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f5977d359e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5977d359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g3f5977d359e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3f5977d359e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5977d359e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3f5977d359e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3f5977d359e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977d359e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3f5977d359e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3f5977d359e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977d359e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g3f5977d359e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f5977d359e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59a7897f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g3f59a7897f7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3f59a7897f7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59d3e3f11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3f59d3e3f11_0_2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f59d3e3f11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f5977d359e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f5977d359e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f5977d359e_0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5977d359e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3f5977d359e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f5977d359e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5977d359e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3f5977d359e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f5977d359e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5977d359e_0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f5977d359e_0_1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f5977d359e_0_1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5977d359e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f5977d359e_0_1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g3f5977d359e_0_1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f59d3e3f11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f59d3e3f11_0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f59d3e3f11_0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59d3e3f11_0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f59d3e3f11_0_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f59d3e3f11_0_2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f59d3e3f11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f59d3e3f11_0_3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f59d3e3f11_0_3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f59d3e3f11_0_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f59d3e3f11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f59d3e3f11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5977d359e_0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f5977d359e_0_1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f5977d359e_0_1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f59d3e3f11_0_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f59d3e3f11_0_3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f59d3e3f11_0_3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pic>
        <p:nvPicPr>
          <p:cNvPr id="13" name="Google Shape;13;p10" descr="Logo&#10;&#10;Description automatically generated"/>
          <p:cNvPicPr preferRelativeResize="0"/>
          <p:nvPr/>
        </p:nvPicPr>
        <p:blipFill rotWithShape="1">
          <a:blip r:embed="rId2">
            <a:alphaModFix/>
          </a:blip>
          <a:srcRect/>
          <a:stretch/>
        </p:blipFill>
        <p:spPr>
          <a:xfrm>
            <a:off x="79514" y="70834"/>
            <a:ext cx="2720836" cy="542660"/>
          </a:xfrm>
          <a:prstGeom prst="rect">
            <a:avLst/>
          </a:prstGeom>
          <a:noFill/>
          <a:ln>
            <a:noFill/>
          </a:ln>
        </p:spPr>
      </p:pic>
      <p:sp>
        <p:nvSpPr>
          <p:cNvPr id="14" name="Google Shape;14;p10"/>
          <p:cNvSpPr txBox="1">
            <a:spLocks noGrp="1"/>
          </p:cNvSpPr>
          <p:nvPr>
            <p:ph type="ctrTitle"/>
          </p:nvPr>
        </p:nvSpPr>
        <p:spPr>
          <a:xfrm>
            <a:off x="114300" y="483338"/>
            <a:ext cx="8915400" cy="208059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2000"/>
              <a:buFont typeface="Calibri"/>
              <a:buNone/>
              <a:defRPr sz="2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0"/>
          <p:cNvSpPr txBox="1">
            <a:spLocks noGrp="1"/>
          </p:cNvSpPr>
          <p:nvPr>
            <p:ph type="subTitle" idx="1"/>
          </p:nvPr>
        </p:nvSpPr>
        <p:spPr>
          <a:xfrm>
            <a:off x="0" y="3091898"/>
            <a:ext cx="8410575" cy="188967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12"/>
          <p:cNvSpPr txBox="1">
            <a:spLocks noGrp="1"/>
          </p:cNvSpPr>
          <p:nvPr>
            <p:ph type="body" idx="1"/>
          </p:nvPr>
        </p:nvSpPr>
        <p:spPr>
          <a:xfrm>
            <a:off x="262110" y="784545"/>
            <a:ext cx="8658370" cy="3598082"/>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12"/>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0" i="0" u="none" strike="noStrike" cap="none">
                <a:solidFill>
                  <a:schemeClr val="dk1"/>
                </a:solidFill>
                <a:latin typeface="Arial Narrow"/>
                <a:ea typeface="Arial Narrow"/>
                <a:cs typeface="Arial Narrow"/>
                <a:sym typeface="Arial Narrow"/>
              </a:rPr>
              <a:t>‹#›</a:t>
            </a:fld>
            <a:endParaRPr sz="1600" b="0" i="0" u="none" strike="noStrike" cap="none">
              <a:solidFill>
                <a:schemeClr val="dk1"/>
              </a:solidFill>
              <a:latin typeface="Arial Narrow"/>
              <a:ea typeface="Arial Narrow"/>
              <a:cs typeface="Arial Narrow"/>
              <a:sym typeface="Arial Narrow"/>
            </a:endParaRPr>
          </a:p>
        </p:txBody>
      </p:sp>
      <p:sp>
        <p:nvSpPr>
          <p:cNvPr id="22" name="Google Shape;22;p12"/>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3"/>
        <p:cNvGrpSpPr/>
        <p:nvPr/>
      </p:nvGrpSpPr>
      <p:grpSpPr>
        <a:xfrm>
          <a:off x="0" y="0"/>
          <a:ext cx="0" cy="0"/>
          <a:chOff x="0" y="0"/>
          <a:chExt cx="0" cy="0"/>
        </a:xfrm>
      </p:grpSpPr>
      <p:sp>
        <p:nvSpPr>
          <p:cNvPr id="24" name="Google Shape;24;p16"/>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25" name="Google Shape;25;p16"/>
          <p:cNvSpPr txBox="1">
            <a:spLocks noGrp="1"/>
          </p:cNvSpPr>
          <p:nvPr>
            <p:ph type="body" idx="1"/>
          </p:nvPr>
        </p:nvSpPr>
        <p:spPr>
          <a:xfrm>
            <a:off x="256066" y="1005931"/>
            <a:ext cx="4038600" cy="3089329"/>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16"/>
          <p:cNvSpPr txBox="1">
            <a:spLocks noGrp="1"/>
          </p:cNvSpPr>
          <p:nvPr>
            <p:ph type="body" idx="2"/>
          </p:nvPr>
        </p:nvSpPr>
        <p:spPr>
          <a:xfrm>
            <a:off x="4553746" y="1005931"/>
            <a:ext cx="4038600" cy="3089329"/>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6"/>
          <p:cNvSpPr txBox="1">
            <a:spLocks noGrp="1"/>
          </p:cNvSpPr>
          <p:nvPr>
            <p:ph type="body" idx="3"/>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
        <p:cNvGrpSpPr/>
        <p:nvPr/>
      </p:nvGrpSpPr>
      <p:grpSpPr>
        <a:xfrm>
          <a:off x="0" y="0"/>
          <a:ext cx="0" cy="0"/>
          <a:chOff x="0" y="0"/>
          <a:chExt cx="0" cy="0"/>
        </a:xfrm>
      </p:grpSpPr>
      <p:sp>
        <p:nvSpPr>
          <p:cNvPr id="29" name="Google Shape;29;p15"/>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0" name="Google Shape;30;p15"/>
          <p:cNvSpPr txBox="1">
            <a:spLocks noGrp="1"/>
          </p:cNvSpPr>
          <p:nvPr>
            <p:ph type="body" idx="1"/>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17"/>
          <p:cNvSpPr>
            <a:spLocks noGrp="1"/>
          </p:cNvSpPr>
          <p:nvPr>
            <p:ph type="pic" idx="2"/>
          </p:nvPr>
        </p:nvSpPr>
        <p:spPr>
          <a:xfrm>
            <a:off x="3197172" y="996950"/>
            <a:ext cx="5511828" cy="2998993"/>
          </a:xfrm>
          <a:prstGeom prst="rect">
            <a:avLst/>
          </a:prstGeom>
          <a:noFill/>
          <a:ln>
            <a:noFill/>
          </a:ln>
        </p:spPr>
      </p:sp>
      <p:sp>
        <p:nvSpPr>
          <p:cNvPr id="33" name="Google Shape;33;p17"/>
          <p:cNvSpPr txBox="1">
            <a:spLocks noGrp="1"/>
          </p:cNvSpPr>
          <p:nvPr>
            <p:ph type="body" idx="1"/>
          </p:nvPr>
        </p:nvSpPr>
        <p:spPr>
          <a:xfrm>
            <a:off x="261414" y="996950"/>
            <a:ext cx="2484666" cy="299899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 name="Google Shape;34;p17"/>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5" name="Google Shape;35;p17"/>
          <p:cNvSpPr txBox="1">
            <a:spLocks noGrp="1"/>
          </p:cNvSpPr>
          <p:nvPr>
            <p:ph type="body" idx="3"/>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6"/>
        <p:cNvGrpSpPr/>
        <p:nvPr/>
      </p:nvGrpSpPr>
      <p:grpSpPr>
        <a:xfrm>
          <a:off x="0" y="0"/>
          <a:ext cx="0" cy="0"/>
          <a:chOff x="0" y="0"/>
          <a:chExt cx="0" cy="0"/>
        </a:xfrm>
      </p:grpSpPr>
      <p:sp>
        <p:nvSpPr>
          <p:cNvPr id="37" name="Google Shape;37;p18"/>
          <p:cNvSpPr>
            <a:spLocks noGrp="1"/>
          </p:cNvSpPr>
          <p:nvPr>
            <p:ph type="pic" idx="2"/>
          </p:nvPr>
        </p:nvSpPr>
        <p:spPr>
          <a:xfrm>
            <a:off x="377508" y="1001432"/>
            <a:ext cx="8288662" cy="3063901"/>
          </a:xfrm>
          <a:prstGeom prst="rect">
            <a:avLst/>
          </a:prstGeom>
          <a:noFill/>
          <a:ln>
            <a:noFill/>
          </a:ln>
        </p:spPr>
      </p:sp>
      <p:sp>
        <p:nvSpPr>
          <p:cNvPr id="38" name="Google Shape;38;p18"/>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9" name="Google Shape;39;p18"/>
          <p:cNvSpPr txBox="1">
            <a:spLocks noGrp="1"/>
          </p:cNvSpPr>
          <p:nvPr>
            <p:ph type="body" idx="1"/>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2"/>
        <p:cNvGrpSpPr/>
        <p:nvPr/>
      </p:nvGrpSpPr>
      <p:grpSpPr>
        <a:xfrm>
          <a:off x="0" y="0"/>
          <a:ext cx="0" cy="0"/>
          <a:chOff x="0" y="0"/>
          <a:chExt cx="0" cy="0"/>
        </a:xfrm>
      </p:grpSpPr>
      <p:sp>
        <p:nvSpPr>
          <p:cNvPr id="43" name="Google Shape;43;p14"/>
          <p:cNvSpPr txBox="1">
            <a:spLocks noGrp="1"/>
          </p:cNvSpPr>
          <p:nvPr>
            <p:ph type="body" idx="1"/>
          </p:nvPr>
        </p:nvSpPr>
        <p:spPr>
          <a:xfrm>
            <a:off x="274320" y="1887378"/>
            <a:ext cx="4097338" cy="10285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FFFFFF"/>
              </a:buClr>
              <a:buSzPts val="3000"/>
              <a:buFont typeface="Arial"/>
              <a:buNone/>
              <a:defRPr sz="3000" b="0" i="0" u="none" strike="noStrike" cap="none">
                <a:solidFill>
                  <a:srgbClr val="FFFFFF"/>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4.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9" descr="PPT templates-1-widescreen-FINAL.jpg"/>
          <p:cNvPicPr preferRelativeResize="0"/>
          <p:nvPr/>
        </p:nvPicPr>
        <p:blipFill rotWithShape="1">
          <a:blip r:embed="rId3">
            <a:alphaModFix/>
          </a:blip>
          <a:srcRect/>
          <a:stretch/>
        </p:blipFill>
        <p:spPr>
          <a:xfrm>
            <a:off x="0" y="133350"/>
            <a:ext cx="9135879" cy="5143500"/>
          </a:xfrm>
          <a:prstGeom prst="rect">
            <a:avLst/>
          </a:prstGeom>
          <a:noFill/>
          <a:ln>
            <a:noFill/>
          </a:ln>
        </p:spPr>
      </p:pic>
      <p:pic>
        <p:nvPicPr>
          <p:cNvPr id="11" name="Google Shape;11;p9" descr="A close-up of a computer&#10;&#10;Description automatically generated with low confidence"/>
          <p:cNvPicPr preferRelativeResize="0"/>
          <p:nvPr/>
        </p:nvPicPr>
        <p:blipFill rotWithShape="1">
          <a:blip r:embed="rId4">
            <a:alphaModFix/>
          </a:blip>
          <a:srcRect/>
          <a:stretch/>
        </p:blipFill>
        <p:spPr>
          <a:xfrm>
            <a:off x="-201876" y="-89677"/>
            <a:ext cx="9671808" cy="54316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
        <p:cNvGrpSpPr/>
        <p:nvPr/>
      </p:nvGrpSpPr>
      <p:grpSpPr>
        <a:xfrm>
          <a:off x="0" y="0"/>
          <a:ext cx="0" cy="0"/>
          <a:chOff x="0" y="0"/>
          <a:chExt cx="0" cy="0"/>
        </a:xfrm>
      </p:grpSpPr>
      <p:pic>
        <p:nvPicPr>
          <p:cNvPr id="17" name="Google Shape;17;p11" descr="PPT templates-1-widescreen-FINAL-4.jpg"/>
          <p:cNvPicPr preferRelativeResize="0"/>
          <p:nvPr/>
        </p:nvPicPr>
        <p:blipFill rotWithShape="1">
          <a:blip r:embed="rId7">
            <a:alphaModFix/>
          </a:blip>
          <a:srcRect/>
          <a:stretch/>
        </p:blipFill>
        <p:spPr>
          <a:xfrm>
            <a:off x="0" y="0"/>
            <a:ext cx="9135879" cy="5143500"/>
          </a:xfrm>
          <a:prstGeom prst="rect">
            <a:avLst/>
          </a:prstGeom>
          <a:noFill/>
          <a:ln>
            <a:noFill/>
          </a:ln>
        </p:spPr>
      </p:pic>
      <p:sp>
        <p:nvSpPr>
          <p:cNvPr id="18" name="Google Shape;18;p11"/>
          <p:cNvSpPr txBox="1">
            <a:spLocks noGrp="1"/>
          </p:cNvSpPr>
          <p:nvPr>
            <p:ph type="sldNum" idx="12"/>
          </p:nvPr>
        </p:nvSpPr>
        <p:spPr>
          <a:xfrm>
            <a:off x="4405866" y="4735279"/>
            <a:ext cx="21336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pic>
        <p:nvPicPr>
          <p:cNvPr id="41" name="Google Shape;41;p13" descr="PPT templates-1-widescreen-FINAL-6.jpg"/>
          <p:cNvPicPr preferRelativeResize="0"/>
          <p:nvPr/>
        </p:nvPicPr>
        <p:blipFill rotWithShape="1">
          <a:blip r:embed="rId3">
            <a:alphaModFix/>
          </a:blip>
          <a:srcRect/>
          <a:stretch/>
        </p:blipFill>
        <p:spPr>
          <a:xfrm>
            <a:off x="0" y="0"/>
            <a:ext cx="9135879" cy="5143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programiz.com/c-programming/online-compil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file/d/1Qx2D0sGx3gsHB-2_TN-nGwTQwah6zWXS/view?usp=sharing"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man7.org/linux/man-pages/man3/pthread_cond_signal.3.html?utm_source=chatgpt.com" TargetMode="External"/><Relationship Id="rId5" Type="http://schemas.openxmlformats.org/officeDocument/2006/relationships/hyperlink" Target="https://hpc-tutorials.llnl.gov/posix/?utm_source=chatgpt.com#note-this-tutorial-is-no-longer-supported-it-remains-for-archival-purposes" TargetMode="External"/><Relationship Id="rId4" Type="http://schemas.openxmlformats.org/officeDocument/2006/relationships/hyperlink" Target="https://drive.google.com/file/d/1KwAqN9eKRGcGYTtE7YTViemShvH3rwsw/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3f59d3e3f11_0_401"/>
          <p:cNvSpPr txBox="1">
            <a:spLocks noGrp="1"/>
          </p:cNvSpPr>
          <p:nvPr>
            <p:ph type="ctrTitle"/>
          </p:nvPr>
        </p:nvSpPr>
        <p:spPr>
          <a:xfrm>
            <a:off x="168442" y="483338"/>
            <a:ext cx="8861400" cy="2080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1200"/>
              <a:buFont typeface="Arial"/>
              <a:buNone/>
            </a:pPr>
            <a:r>
              <a:rPr lang="en-US" sz="1200" b="0">
                <a:solidFill>
                  <a:schemeClr val="lt1"/>
                </a:solidFill>
                <a:latin typeface="Arial"/>
                <a:ea typeface="Arial"/>
                <a:cs typeface="Arial"/>
                <a:sym typeface="Arial"/>
              </a:rPr>
              <a:t>Information Technology</a:t>
            </a:r>
            <a:br>
              <a:rPr lang="en-US">
                <a:solidFill>
                  <a:schemeClr val="lt1"/>
                </a:solidFill>
                <a:latin typeface="Arial"/>
                <a:ea typeface="Arial"/>
                <a:cs typeface="Arial"/>
                <a:sym typeface="Arial"/>
              </a:rPr>
            </a:b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FIT3143 Parallel Computing </a:t>
            </a: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Semester 2 2026</a:t>
            </a:r>
            <a:endParaRPr>
              <a:solidFill>
                <a:schemeClr val="lt1"/>
              </a:solidFill>
            </a:endParaRPr>
          </a:p>
        </p:txBody>
      </p:sp>
      <p:sp>
        <p:nvSpPr>
          <p:cNvPr id="50" name="Google Shape;50;g3f59d3e3f11_0_401"/>
          <p:cNvSpPr txBox="1">
            <a:spLocks noGrp="1"/>
          </p:cNvSpPr>
          <p:nvPr>
            <p:ph type="subTitle" idx="1"/>
          </p:nvPr>
        </p:nvSpPr>
        <p:spPr>
          <a:xfrm>
            <a:off x="325783" y="3041583"/>
            <a:ext cx="8506800" cy="215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2400"/>
              <a:buNone/>
            </a:pPr>
            <a:r>
              <a:rPr lang="en-US" sz="2400" b="1">
                <a:solidFill>
                  <a:schemeClr val="lt1"/>
                </a:solidFill>
                <a:latin typeface="Arial"/>
                <a:ea typeface="Arial"/>
                <a:cs typeface="Arial"/>
                <a:sym typeface="Arial"/>
              </a:rPr>
              <a:t>Applied Week 2</a:t>
            </a:r>
            <a:endParaRPr/>
          </a:p>
          <a:p>
            <a:pPr marL="0" lvl="0" indent="0" algn="l" rtl="0">
              <a:lnSpc>
                <a:spcPct val="100000"/>
              </a:lnSpc>
              <a:spcBef>
                <a:spcPts val="480"/>
              </a:spcBef>
              <a:spcAft>
                <a:spcPts val="0"/>
              </a:spcAft>
              <a:buClr>
                <a:schemeClr val="lt1"/>
              </a:buClr>
              <a:buSzPts val="2400"/>
              <a:buNone/>
            </a:pPr>
            <a:endParaRPr/>
          </a:p>
          <a:p>
            <a:pPr marL="0" lvl="0" indent="0" algn="l" rtl="0">
              <a:lnSpc>
                <a:spcPct val="100000"/>
              </a:lnSpc>
              <a:spcBef>
                <a:spcPts val="280"/>
              </a:spcBef>
              <a:spcAft>
                <a:spcPts val="0"/>
              </a:spcAft>
              <a:buClr>
                <a:schemeClr val="dk1"/>
              </a:buClr>
              <a:buSzPts val="1400"/>
              <a:buNone/>
            </a:pPr>
            <a:endParaRPr>
              <a:solidFill>
                <a:schemeClr val="lt1"/>
              </a:solidFill>
              <a:latin typeface="Arial"/>
              <a:ea typeface="Arial"/>
              <a:cs typeface="Arial"/>
              <a:sym typeface="Arial"/>
            </a:endParaRPr>
          </a:p>
          <a:p>
            <a:pPr marL="0" lvl="0" indent="0" algn="l" rtl="0">
              <a:lnSpc>
                <a:spcPct val="100000"/>
              </a:lnSpc>
              <a:spcBef>
                <a:spcPts val="280"/>
              </a:spcBef>
              <a:spcAft>
                <a:spcPts val="0"/>
              </a:spcAft>
              <a:buClr>
                <a:schemeClr val="lt1"/>
              </a:buClr>
              <a:buSzPts val="1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2"/>
          <p:cNvSpPr txBox="1">
            <a:spLocks noGrp="1"/>
          </p:cNvSpPr>
          <p:nvPr>
            <p:ph type="body" idx="1"/>
          </p:nvPr>
        </p:nvSpPr>
        <p:spPr>
          <a:xfrm>
            <a:off x="262110" y="833886"/>
            <a:ext cx="8658370" cy="354874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SzPts val="2000"/>
              <a:buFont typeface="Calibri"/>
              <a:buAutoNum type="arabicPeriod"/>
            </a:pPr>
            <a:r>
              <a:rPr lang="en-US" sz="2000" b="1" dirty="0"/>
              <a:t>Introduction to C Programming [45 min]</a:t>
            </a:r>
            <a:endParaRPr sz="2000" b="1" dirty="0"/>
          </a:p>
          <a:p>
            <a:pPr marL="457200" lvl="0" indent="-457200" algn="l" rtl="0">
              <a:lnSpc>
                <a:spcPct val="100000"/>
              </a:lnSpc>
              <a:spcBef>
                <a:spcPts val="1000"/>
              </a:spcBef>
              <a:spcAft>
                <a:spcPts val="0"/>
              </a:spcAft>
              <a:buSzPts val="2000"/>
              <a:buFont typeface="Calibri"/>
              <a:buAutoNum type="arabicPeriod"/>
            </a:pPr>
            <a:r>
              <a:rPr lang="en-US" sz="2000" b="1" dirty="0"/>
              <a:t>Parallel computing on shared memory [1 hour]</a:t>
            </a:r>
            <a:endParaRPr sz="2000" b="1" dirty="0"/>
          </a:p>
          <a:p>
            <a:pPr marL="742950" lvl="1" indent="-285750" algn="l" rtl="0">
              <a:lnSpc>
                <a:spcPct val="100000"/>
              </a:lnSpc>
              <a:spcBef>
                <a:spcPts val="1000"/>
              </a:spcBef>
              <a:spcAft>
                <a:spcPts val="0"/>
              </a:spcAft>
              <a:buSzPts val="2000"/>
              <a:buChar char="–"/>
            </a:pPr>
            <a:r>
              <a:rPr lang="en-US" dirty="0"/>
              <a:t>Single address space: Any memory location can be accessible by any of the processors or cores within a processor.</a:t>
            </a:r>
            <a:endParaRPr dirty="0"/>
          </a:p>
          <a:p>
            <a:pPr marL="742950" lvl="1" indent="-285750" algn="l" rtl="0">
              <a:lnSpc>
                <a:spcPct val="100000"/>
              </a:lnSpc>
              <a:spcBef>
                <a:spcPts val="1000"/>
              </a:spcBef>
              <a:spcAft>
                <a:spcPts val="0"/>
              </a:spcAft>
              <a:buSzPts val="2000"/>
              <a:buChar char="–"/>
            </a:pPr>
            <a:r>
              <a:rPr lang="en-US" dirty="0"/>
              <a:t>The basic concept of threads</a:t>
            </a:r>
          </a:p>
          <a:p>
            <a:pPr marL="742950" lvl="1" indent="-285750" algn="l" rtl="0">
              <a:lnSpc>
                <a:spcPct val="100000"/>
              </a:lnSpc>
              <a:spcBef>
                <a:spcPts val="1000"/>
              </a:spcBef>
              <a:spcAft>
                <a:spcPts val="0"/>
              </a:spcAft>
              <a:buSzPts val="2000"/>
              <a:buChar char="–"/>
            </a:pPr>
            <a:r>
              <a:rPr lang="en-US" sz="2000" i="1" u="sng" dirty="0"/>
              <a:t>POSIX Threads:</a:t>
            </a:r>
            <a:r>
              <a:rPr lang="en-US" sz="2000" b="1" dirty="0"/>
              <a:t> </a:t>
            </a:r>
            <a:r>
              <a:rPr lang="en-US" sz="1850" dirty="0"/>
              <a:t>Thread creation, Thread synchronization using mutex</a:t>
            </a:r>
            <a:endParaRPr sz="2000" b="1" dirty="0"/>
          </a:p>
        </p:txBody>
      </p:sp>
      <p:sp>
        <p:nvSpPr>
          <p:cNvPr id="56" name="Google Shape;56;p2"/>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US"/>
              <a:t>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g3f5aa1f4a90_1_0"/>
          <p:cNvSpPr txBox="1">
            <a:spLocks noGrp="1"/>
          </p:cNvSpPr>
          <p:nvPr>
            <p:ph type="body" idx="1"/>
          </p:nvPr>
        </p:nvSpPr>
        <p:spPr>
          <a:xfrm>
            <a:off x="274320" y="1887378"/>
            <a:ext cx="6987300" cy="102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Introduction to C Programming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8" name="Google Shape;68;g3f5aa1f4a90_1_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AU" dirty="0"/>
              <a:t>Instructions</a:t>
            </a:r>
            <a:endParaRPr dirty="0"/>
          </a:p>
        </p:txBody>
      </p:sp>
      <p:sp>
        <p:nvSpPr>
          <p:cNvPr id="2" name="Google Shape;55;p2">
            <a:extLst>
              <a:ext uri="{FF2B5EF4-FFF2-40B4-BE49-F238E27FC236}">
                <a16:creationId xmlns:a16="http://schemas.microsoft.com/office/drawing/2014/main" id="{17E4687E-3B00-267E-F287-35C2123E0E42}"/>
              </a:ext>
            </a:extLst>
          </p:cNvPr>
          <p:cNvSpPr txBox="1">
            <a:spLocks noGrp="1"/>
          </p:cNvSpPr>
          <p:nvPr>
            <p:ph type="body" idx="1"/>
          </p:nvPr>
        </p:nvSpPr>
        <p:spPr>
          <a:xfrm>
            <a:off x="262110" y="833886"/>
            <a:ext cx="8658370" cy="354874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SzPts val="2000"/>
              <a:buFont typeface="Calibri"/>
              <a:buAutoNum type="arabicPeriod"/>
            </a:pPr>
            <a:r>
              <a:rPr lang="en-AU" sz="2000" dirty="0"/>
              <a:t>Please download the C working exercises document</a:t>
            </a:r>
          </a:p>
          <a:p>
            <a:pPr marL="457200" lvl="0" indent="-457200" algn="l" rtl="0">
              <a:lnSpc>
                <a:spcPct val="100000"/>
              </a:lnSpc>
              <a:spcBef>
                <a:spcPts val="0"/>
              </a:spcBef>
              <a:spcAft>
                <a:spcPts val="0"/>
              </a:spcAft>
              <a:buSzPts val="2000"/>
              <a:buFont typeface="Calibri"/>
              <a:buAutoNum type="arabicPeriod"/>
            </a:pPr>
            <a:endParaRPr lang="en-AU" sz="2000" dirty="0"/>
          </a:p>
          <a:p>
            <a:pPr marL="457200" lvl="0" indent="-457200" algn="l" rtl="0">
              <a:lnSpc>
                <a:spcPct val="100000"/>
              </a:lnSpc>
              <a:spcBef>
                <a:spcPts val="0"/>
              </a:spcBef>
              <a:spcAft>
                <a:spcPts val="0"/>
              </a:spcAft>
              <a:buSzPts val="2000"/>
              <a:buFont typeface="Calibri"/>
              <a:buAutoNum type="arabicPeriod"/>
            </a:pPr>
            <a:r>
              <a:rPr lang="en-AU" sz="2000" dirty="0"/>
              <a:t>Download and prepare a C (or universal) program editor on your laptop</a:t>
            </a:r>
          </a:p>
          <a:p>
            <a:pPr lvl="1" indent="-457200">
              <a:spcBef>
                <a:spcPts val="0"/>
              </a:spcBef>
            </a:pPr>
            <a:r>
              <a:rPr lang="en-AU" sz="1600" dirty="0"/>
              <a:t>If infeasible, you can use an online editor/compiler for this class (e.g., </a:t>
            </a:r>
            <a:r>
              <a:rPr lang="en-AU" sz="1600" dirty="0">
                <a:hlinkClick r:id="rId3"/>
              </a:rPr>
              <a:t>https://www.programiz.com/c-programming/online-compiler/</a:t>
            </a:r>
            <a:r>
              <a:rPr lang="en-AU" sz="1600" dirty="0"/>
              <a:t>)</a:t>
            </a:r>
          </a:p>
          <a:p>
            <a:pPr lvl="1" indent="-457200">
              <a:spcBef>
                <a:spcPts val="0"/>
              </a:spcBef>
            </a:pPr>
            <a:r>
              <a:rPr lang="en-AU" sz="1600" dirty="0"/>
              <a:t>However, you will need one for your machine in later classes</a:t>
            </a:r>
          </a:p>
          <a:p>
            <a:pPr marL="457200" lvl="0" indent="-457200" algn="l" rtl="0">
              <a:lnSpc>
                <a:spcPct val="100000"/>
              </a:lnSpc>
              <a:spcBef>
                <a:spcPts val="0"/>
              </a:spcBef>
              <a:spcAft>
                <a:spcPts val="0"/>
              </a:spcAft>
              <a:buSzPts val="2000"/>
              <a:buFont typeface="Calibri"/>
              <a:buAutoNum type="arabicPeriod"/>
            </a:pPr>
            <a:endParaRPr lang="en-AU" sz="2000" dirty="0"/>
          </a:p>
          <a:p>
            <a:pPr marL="457200" lvl="0" indent="-457200" algn="l" rtl="0">
              <a:lnSpc>
                <a:spcPct val="100000"/>
              </a:lnSpc>
              <a:spcBef>
                <a:spcPts val="0"/>
              </a:spcBef>
              <a:spcAft>
                <a:spcPts val="0"/>
              </a:spcAft>
              <a:buSzPts val="2000"/>
              <a:buFont typeface="Calibri"/>
              <a:buAutoNum type="arabicPeriod"/>
            </a:pPr>
            <a:r>
              <a:rPr lang="en-AU" sz="2000" dirty="0"/>
              <a:t>Start working according to the instructions in the exercise document</a:t>
            </a:r>
          </a:p>
          <a:p>
            <a:pPr lvl="1" indent="-457200">
              <a:spcBef>
                <a:spcPts val="0"/>
              </a:spcBef>
            </a:pPr>
            <a:r>
              <a:rPr lang="en-AU" sz="1600" dirty="0"/>
              <a:t>Note: This is </a:t>
            </a:r>
            <a:r>
              <a:rPr lang="en-AU" sz="1600"/>
              <a:t>a set of scaffolding exercises </a:t>
            </a:r>
            <a:r>
              <a:rPr lang="en-AU" sz="1600" dirty="0"/>
              <a:t>for students without C background</a:t>
            </a:r>
            <a:r>
              <a:rPr lang="en-AU" sz="1600"/>
              <a:t>. </a:t>
            </a:r>
          </a:p>
          <a:p>
            <a:pPr lvl="1" indent="-457200">
              <a:spcBef>
                <a:spcPts val="0"/>
              </a:spcBef>
            </a:pPr>
            <a:r>
              <a:rPr lang="en-AU" sz="1600"/>
              <a:t>If </a:t>
            </a:r>
            <a:r>
              <a:rPr lang="en-AU" sz="1600" dirty="0"/>
              <a:t>you are an advanced/experienced C programmer, feel free to help your other classmates!</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g3f5977d359e_0_187"/>
          <p:cNvSpPr txBox="1">
            <a:spLocks noGrp="1"/>
          </p:cNvSpPr>
          <p:nvPr>
            <p:ph type="body" idx="1"/>
          </p:nvPr>
        </p:nvSpPr>
        <p:spPr>
          <a:xfrm>
            <a:off x="274320" y="1887378"/>
            <a:ext cx="6987300" cy="102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Parallel Computing on Shared Memory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body" idx="1"/>
          </p:nvPr>
        </p:nvSpPr>
        <p:spPr>
          <a:xfrm>
            <a:off x="181594" y="771450"/>
            <a:ext cx="88815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Char char="▪"/>
            </a:pPr>
            <a:r>
              <a:rPr lang="en-US" sz="1800"/>
              <a:t>Any memory location can be accessible by any of the processors or cores within a processor.</a:t>
            </a:r>
            <a:endParaRPr sz="1800"/>
          </a:p>
          <a:p>
            <a:pPr marL="457200" lvl="0" indent="-342900" algn="l" rtl="0">
              <a:lnSpc>
                <a:spcPct val="100000"/>
              </a:lnSpc>
              <a:spcBef>
                <a:spcPts val="0"/>
              </a:spcBef>
              <a:spcAft>
                <a:spcPts val="0"/>
              </a:spcAft>
              <a:buSzPts val="1800"/>
              <a:buChar char="▪"/>
            </a:pPr>
            <a:r>
              <a:rPr lang="en-US" sz="1800"/>
              <a:t>A single address space exists, meaning that each memory location is given a unique address within a single range of addresses. </a:t>
            </a:r>
            <a:endParaRPr sz="1800"/>
          </a:p>
        </p:txBody>
      </p:sp>
      <p:sp>
        <p:nvSpPr>
          <p:cNvPr id="80" name="Google Shape;80;p4"/>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US"/>
              <a:t>Shared Memory Architecture</a:t>
            </a:r>
            <a:endParaRPr/>
          </a:p>
        </p:txBody>
      </p:sp>
      <p:pic>
        <p:nvPicPr>
          <p:cNvPr id="81" name="Google Shape;81;p4"/>
          <p:cNvPicPr preferRelativeResize="0"/>
          <p:nvPr/>
        </p:nvPicPr>
        <p:blipFill rotWithShape="1">
          <a:blip r:embed="rId3">
            <a:alphaModFix/>
          </a:blip>
          <a:srcRect/>
          <a:stretch/>
        </p:blipFill>
        <p:spPr>
          <a:xfrm>
            <a:off x="181600" y="2032675"/>
            <a:ext cx="4134999" cy="2325925"/>
          </a:xfrm>
          <a:prstGeom prst="rect">
            <a:avLst/>
          </a:prstGeom>
          <a:noFill/>
          <a:ln>
            <a:noFill/>
          </a:ln>
        </p:spPr>
      </p:pic>
      <p:pic>
        <p:nvPicPr>
          <p:cNvPr id="82" name="Google Shape;82;p4"/>
          <p:cNvPicPr preferRelativeResize="0"/>
          <p:nvPr/>
        </p:nvPicPr>
        <p:blipFill rotWithShape="1">
          <a:blip r:embed="rId4">
            <a:alphaModFix/>
          </a:blip>
          <a:srcRect/>
          <a:stretch/>
        </p:blipFill>
        <p:spPr>
          <a:xfrm>
            <a:off x="4349550" y="2587486"/>
            <a:ext cx="4794449" cy="1592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f5977d359e_0_4"/>
          <p:cNvSpPr txBox="1">
            <a:spLocks noGrp="1"/>
          </p:cNvSpPr>
          <p:nvPr>
            <p:ph type="body" idx="1"/>
          </p:nvPr>
        </p:nvSpPr>
        <p:spPr>
          <a:xfrm>
            <a:off x="262103" y="784550"/>
            <a:ext cx="60012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A process is an instance of a computer program that is being executed.</a:t>
            </a:r>
            <a:endParaRPr sz="1800"/>
          </a:p>
          <a:p>
            <a:pPr marL="457200" lvl="0" indent="-342900" algn="l" rtl="0">
              <a:lnSpc>
                <a:spcPct val="100000"/>
              </a:lnSpc>
              <a:spcBef>
                <a:spcPts val="1000"/>
              </a:spcBef>
              <a:spcAft>
                <a:spcPts val="0"/>
              </a:spcAft>
              <a:buSzPts val="1800"/>
              <a:buChar char="▪"/>
            </a:pPr>
            <a:r>
              <a:rPr lang="en-US" sz="1800"/>
              <a:t>A process can execute another </a:t>
            </a:r>
            <a:r>
              <a:rPr lang="en-US" sz="1800" b="1"/>
              <a:t>FORK </a:t>
            </a:r>
            <a:r>
              <a:rPr lang="en-US" sz="1800"/>
              <a:t>to spawn further sub-processes, creating a cascade of concurrent tasks.</a:t>
            </a:r>
            <a:endParaRPr sz="1800"/>
          </a:p>
          <a:p>
            <a:pPr marL="457200" lvl="0" indent="-342900" algn="l" rtl="0">
              <a:lnSpc>
                <a:spcPct val="100000"/>
              </a:lnSpc>
              <a:spcBef>
                <a:spcPts val="1000"/>
              </a:spcBef>
              <a:spcAft>
                <a:spcPts val="0"/>
              </a:spcAft>
              <a:buSzPts val="1800"/>
              <a:buChar char="▪"/>
            </a:pPr>
            <a:r>
              <a:rPr lang="en-US" sz="1800"/>
              <a:t>Each </a:t>
            </a:r>
            <a:r>
              <a:rPr lang="en-US" sz="1800" b="1"/>
              <a:t>FORK </a:t>
            </a:r>
            <a:r>
              <a:rPr lang="en-US" sz="1800"/>
              <a:t>branch eventually converges at a paired </a:t>
            </a:r>
            <a:r>
              <a:rPr lang="en-US" sz="1800" b="1"/>
              <a:t>JOIN </a:t>
            </a:r>
            <a:r>
              <a:rPr lang="en-US" sz="1800"/>
              <a:t>statement to terminate that branch safely.</a:t>
            </a:r>
            <a:endParaRPr sz="1800"/>
          </a:p>
          <a:p>
            <a:pPr marL="457200" lvl="0" indent="-342900" algn="l" rtl="0">
              <a:lnSpc>
                <a:spcPct val="100000"/>
              </a:lnSpc>
              <a:spcBef>
                <a:spcPts val="1000"/>
              </a:spcBef>
              <a:spcAft>
                <a:spcPts val="1000"/>
              </a:spcAft>
              <a:buSzPts val="1800"/>
              <a:buChar char="▪"/>
            </a:pPr>
            <a:r>
              <a:rPr lang="en-US" sz="1800"/>
              <a:t>The </a:t>
            </a:r>
            <a:r>
              <a:rPr lang="en-US" sz="1800" b="1"/>
              <a:t>JOIN </a:t>
            </a:r>
            <a:r>
              <a:rPr lang="en-US" sz="1800"/>
              <a:t>construct relies on a process counter, decrementing as each process finishes, to ensure sequential execution only resumes when the counter hits zero.</a:t>
            </a:r>
            <a:endParaRPr sz="1800"/>
          </a:p>
        </p:txBody>
      </p:sp>
      <p:sp>
        <p:nvSpPr>
          <p:cNvPr id="89" name="Google Shape;89;g3f5977d359e_0_4"/>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Creating concurrent processes</a:t>
            </a:r>
            <a:endParaRPr/>
          </a:p>
        </p:txBody>
      </p:sp>
      <p:pic>
        <p:nvPicPr>
          <p:cNvPr id="90" name="Google Shape;90;g3f5977d359e_0_4"/>
          <p:cNvPicPr preferRelativeResize="0"/>
          <p:nvPr/>
        </p:nvPicPr>
        <p:blipFill rotWithShape="1">
          <a:blip r:embed="rId3">
            <a:alphaModFix/>
          </a:blip>
          <a:srcRect/>
          <a:stretch/>
        </p:blipFill>
        <p:spPr>
          <a:xfrm>
            <a:off x="6445778" y="843269"/>
            <a:ext cx="2575897" cy="2939462"/>
          </a:xfrm>
          <a:prstGeom prst="rect">
            <a:avLst/>
          </a:prstGeom>
          <a:noFill/>
          <a:ln>
            <a:noFill/>
          </a:ln>
        </p:spPr>
      </p:pic>
      <p:pic>
        <p:nvPicPr>
          <p:cNvPr id="91" name="Google Shape;91;g3f5977d359e_0_4"/>
          <p:cNvPicPr preferRelativeResize="0"/>
          <p:nvPr/>
        </p:nvPicPr>
        <p:blipFill rotWithShape="1">
          <a:blip r:embed="rId4">
            <a:alphaModFix/>
          </a:blip>
          <a:srcRect/>
          <a:stretch/>
        </p:blipFill>
        <p:spPr>
          <a:xfrm>
            <a:off x="5756482" y="3937000"/>
            <a:ext cx="3798591" cy="46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f5977d359e_0_14"/>
          <p:cNvSpPr txBox="1">
            <a:spLocks noGrp="1"/>
          </p:cNvSpPr>
          <p:nvPr>
            <p:ph type="body" idx="1"/>
          </p:nvPr>
        </p:nvSpPr>
        <p:spPr>
          <a:xfrm>
            <a:off x="262100" y="3778021"/>
            <a:ext cx="8658300" cy="60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An instruction pointer holds address of the next instruction to be executed. A stack is present for procedure calls, and a heap, system routines and files. </a:t>
            </a:r>
            <a:endParaRPr sz="1800"/>
          </a:p>
        </p:txBody>
      </p:sp>
      <p:sp>
        <p:nvSpPr>
          <p:cNvPr id="98" name="Google Shape;98;g3f5977d359e_0_14"/>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Constructs for specifying parallelism </a:t>
            </a:r>
            <a:endParaRPr/>
          </a:p>
        </p:txBody>
      </p:sp>
      <p:pic>
        <p:nvPicPr>
          <p:cNvPr id="99" name="Google Shape;99;g3f5977d359e_0_14"/>
          <p:cNvPicPr preferRelativeResize="0"/>
          <p:nvPr/>
        </p:nvPicPr>
        <p:blipFill rotWithShape="1">
          <a:blip r:embed="rId3">
            <a:alphaModFix/>
          </a:blip>
          <a:srcRect/>
          <a:stretch/>
        </p:blipFill>
        <p:spPr>
          <a:xfrm>
            <a:off x="1550450" y="741756"/>
            <a:ext cx="6098748" cy="28838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f5977d359e_0_29"/>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Constructs for specifying parallelism </a:t>
            </a:r>
            <a:endParaRPr/>
          </a:p>
        </p:txBody>
      </p:sp>
      <p:pic>
        <p:nvPicPr>
          <p:cNvPr id="106" name="Google Shape;106;g3f5977d359e_0_29"/>
          <p:cNvPicPr preferRelativeResize="0"/>
          <p:nvPr/>
        </p:nvPicPr>
        <p:blipFill rotWithShape="1">
          <a:blip r:embed="rId3">
            <a:alphaModFix/>
          </a:blip>
          <a:srcRect/>
          <a:stretch/>
        </p:blipFill>
        <p:spPr>
          <a:xfrm>
            <a:off x="1433325" y="748769"/>
            <a:ext cx="6153800" cy="3680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f5977d359e_0_36"/>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Creating threads is faster than spawning processes, and threads directly access shared global variables within the same process.</a:t>
            </a:r>
            <a:endParaRPr sz="1800"/>
          </a:p>
          <a:p>
            <a:pPr marL="457200" lvl="0" indent="-342900" algn="l" rtl="0">
              <a:lnSpc>
                <a:spcPct val="100000"/>
              </a:lnSpc>
              <a:spcBef>
                <a:spcPts val="1000"/>
              </a:spcBef>
              <a:spcAft>
                <a:spcPts val="0"/>
              </a:spcAft>
              <a:buSzPts val="1800"/>
              <a:buChar char="▪"/>
            </a:pPr>
            <a:r>
              <a:rPr lang="en-US" sz="1800"/>
              <a:t>Thread synchronization incurs significantly lower overhead compared to inter-process synchronization.</a:t>
            </a:r>
            <a:endParaRPr sz="1800"/>
          </a:p>
          <a:p>
            <a:pPr marL="457200" lvl="0" indent="-342900" algn="l" rtl="0">
              <a:lnSpc>
                <a:spcPct val="100000"/>
              </a:lnSpc>
              <a:spcBef>
                <a:spcPts val="1000"/>
              </a:spcBef>
              <a:spcAft>
                <a:spcPts val="0"/>
              </a:spcAft>
              <a:buSzPts val="1800"/>
              <a:buChar char="▪"/>
            </a:pPr>
            <a:r>
              <a:rPr lang="en-US" sz="1800"/>
              <a:t>When a thread blocks (e.g., waiting for I/O or message passing), the CPU can quickly switch to another thread to keep execution pipeline busy.</a:t>
            </a:r>
            <a:endParaRPr sz="1800"/>
          </a:p>
          <a:p>
            <a:pPr marL="457200" lvl="0" indent="-342900" algn="l" rtl="0">
              <a:lnSpc>
                <a:spcPct val="100000"/>
              </a:lnSpc>
              <a:spcBef>
                <a:spcPts val="1000"/>
              </a:spcBef>
              <a:spcAft>
                <a:spcPts val="1000"/>
              </a:spcAft>
              <a:buSzPts val="1800"/>
              <a:buChar char="▪"/>
            </a:pPr>
            <a:r>
              <a:rPr lang="en-US" sz="1800"/>
              <a:t>POSIX Threads (Pthreads, IEEE 1003.1c) is the widely adopted standard, supported across modern OS environments (e.g., Linux, macOS, and Windows via translation layers).</a:t>
            </a:r>
            <a:endParaRPr sz="1800"/>
          </a:p>
        </p:txBody>
      </p:sp>
      <p:sp>
        <p:nvSpPr>
          <p:cNvPr id="113" name="Google Shape;113;g3f5977d359e_0_36"/>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Why Use Threads?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3f5977d359e_0_45"/>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In shared-address architectures, processors communicate implicitly simply by reading and writing to the same shared memory space. Because communication is automatic, programming for these systems focuses on managing concurrency, synchronization (such as locks), and minimizing memory-access overheads.</a:t>
            </a:r>
            <a:endParaRPr sz="1800"/>
          </a:p>
        </p:txBody>
      </p:sp>
      <p:sp>
        <p:nvSpPr>
          <p:cNvPr id="120" name="Google Shape;120;g3f5977d359e_0_4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Threads</a:t>
            </a:r>
            <a:endParaRPr/>
          </a:p>
        </p:txBody>
      </p:sp>
      <p:pic>
        <p:nvPicPr>
          <p:cNvPr id="121" name="Google Shape;121;g3f5977d359e_0_45"/>
          <p:cNvPicPr preferRelativeResize="0"/>
          <p:nvPr/>
        </p:nvPicPr>
        <p:blipFill rotWithShape="1">
          <a:blip r:embed="rId3">
            <a:alphaModFix/>
          </a:blip>
          <a:srcRect t="9190"/>
          <a:stretch/>
        </p:blipFill>
        <p:spPr>
          <a:xfrm>
            <a:off x="1443400" y="1948857"/>
            <a:ext cx="6257200" cy="2444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f5977d359e_0_53"/>
          <p:cNvSpPr txBox="1">
            <a:spLocks noGrp="1"/>
          </p:cNvSpPr>
          <p:nvPr>
            <p:ph type="body" idx="1"/>
          </p:nvPr>
        </p:nvSpPr>
        <p:spPr>
          <a:xfrm>
            <a:off x="262100" y="724375"/>
            <a:ext cx="88818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500"/>
              <a:t>Multiplying two n x n matrices requires n</a:t>
            </a:r>
            <a:r>
              <a:rPr lang="en-US" sz="1500" baseline="30000"/>
              <a:t>2</a:t>
            </a:r>
            <a:r>
              <a:rPr lang="en-US" sz="1500"/>
              <a:t> dot-product operation</a:t>
            </a:r>
            <a:endParaRPr sz="1500"/>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Sequential Execution (Single Thread)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latin typeface="Courier New"/>
                <a:ea typeface="Courier New"/>
                <a:cs typeface="Courier New"/>
                <a:sym typeface="Courier New"/>
              </a:rPr>
              <a:t>for(row = 0; row &lt; n; row++) </a:t>
            </a:r>
            <a:endParaRPr sz="1400" b="1">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for(column = 0; column &lt; n; column++) </a:t>
            </a:r>
            <a:endParaRPr sz="1400" b="1">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c[row][column] = dot_product(get_row(a,row), get_col(b,col)); </a:t>
            </a:r>
            <a:endParaRPr sz="1400" b="1">
              <a:latin typeface="Courier New"/>
              <a:ea typeface="Courier New"/>
              <a:cs typeface="Courier New"/>
              <a:sym typeface="Courier New"/>
            </a:endParaRPr>
          </a:p>
          <a:p>
            <a:pPr marL="457200" lvl="0" indent="457200" algn="l" rtl="0">
              <a:lnSpc>
                <a:spcPct val="100000"/>
              </a:lnSpc>
              <a:spcBef>
                <a:spcPts val="1000"/>
              </a:spcBef>
              <a:spcAft>
                <a:spcPts val="0"/>
              </a:spcAft>
              <a:buSzPts val="2400"/>
              <a:buNone/>
            </a:pPr>
            <a:endParaRPr sz="1500" b="1">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t>Because all n</a:t>
            </a:r>
            <a:r>
              <a:rPr lang="en-US" sz="1500" baseline="30000"/>
              <a:t>2 </a:t>
            </a:r>
            <a:r>
              <a:rPr lang="en-US" sz="1500"/>
              <a:t>iterations are completely independent, each dot product can run as its own thread across multiple CPU/GPU cores simultaneously.</a:t>
            </a:r>
            <a:endParaRPr sz="1500"/>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Parallel Execution (n</a:t>
            </a:r>
            <a:r>
              <a:rPr lang="en-US" sz="1400" b="1" baseline="30000">
                <a:solidFill>
                  <a:srgbClr val="674EA7"/>
                </a:solidFill>
                <a:latin typeface="Courier New"/>
                <a:ea typeface="Courier New"/>
                <a:cs typeface="Courier New"/>
                <a:sym typeface="Courier New"/>
              </a:rPr>
              <a:t>2</a:t>
            </a:r>
            <a:r>
              <a:rPr lang="en-US" sz="1400" b="1">
                <a:solidFill>
                  <a:srgbClr val="674EA7"/>
                </a:solidFill>
                <a:latin typeface="Courier New"/>
                <a:ea typeface="Courier New"/>
                <a:cs typeface="Courier New"/>
                <a:sym typeface="Courier New"/>
              </a:rPr>
              <a:t> Concurrent Threads)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latin typeface="Courier New"/>
                <a:ea typeface="Courier New"/>
                <a:cs typeface="Courier New"/>
                <a:sym typeface="Courier New"/>
              </a:rPr>
              <a:t>for(row = 0; row &lt; n; row++) </a:t>
            </a:r>
            <a:endParaRPr sz="1400" b="1">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for(column = 0; column &lt; n; column++) </a:t>
            </a:r>
            <a:endParaRPr sz="1400" b="1">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c[row][column] = create_thread(dot_product(get_row(a,row), get_col(b,col))); </a:t>
            </a:r>
            <a:endParaRPr sz="1400" b="1">
              <a:latin typeface="Courier New"/>
              <a:ea typeface="Courier New"/>
              <a:cs typeface="Courier New"/>
              <a:sym typeface="Courier New"/>
            </a:endParaRPr>
          </a:p>
        </p:txBody>
      </p:sp>
      <p:sp>
        <p:nvSpPr>
          <p:cNvPr id="128" name="Google Shape;128;g3f5977d359e_0_5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3f5977d359e_0_62"/>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On a </a:t>
            </a:r>
            <a:r>
              <a:rPr lang="en-US" sz="1800" b="1"/>
              <a:t>single processor</a:t>
            </a:r>
            <a:r>
              <a:rPr lang="en-US" sz="1800"/>
              <a:t>, multithreading generally occurs by time division multiplexing (as in multitasking): the processor switches between different threads. </a:t>
            </a:r>
            <a:endParaRPr sz="1800"/>
          </a:p>
          <a:p>
            <a:pPr marL="457200" lvl="0" indent="-342900" algn="l" rtl="0">
              <a:lnSpc>
                <a:spcPct val="100000"/>
              </a:lnSpc>
              <a:spcBef>
                <a:spcPts val="1000"/>
              </a:spcBef>
              <a:spcAft>
                <a:spcPts val="0"/>
              </a:spcAft>
              <a:buSzPts val="1800"/>
              <a:buChar char="▪"/>
            </a:pPr>
            <a:r>
              <a:rPr lang="en-US" sz="1800"/>
              <a:t>This </a:t>
            </a:r>
            <a:r>
              <a:rPr lang="en-US" sz="1800" b="1"/>
              <a:t>context switching generally happens frequently</a:t>
            </a:r>
            <a:r>
              <a:rPr lang="en-US" sz="1800"/>
              <a:t> </a:t>
            </a:r>
            <a:r>
              <a:rPr lang="en-US" sz="1800" b="1"/>
              <a:t>enough </a:t>
            </a:r>
            <a:r>
              <a:rPr lang="en-US" sz="1800"/>
              <a:t>that the user </a:t>
            </a:r>
            <a:r>
              <a:rPr lang="en-US" sz="1800" b="1"/>
              <a:t>perceives </a:t>
            </a:r>
            <a:r>
              <a:rPr lang="en-US" sz="1800"/>
              <a:t>the threads or tasks as running at the same time. </a:t>
            </a:r>
            <a:endParaRPr sz="1800"/>
          </a:p>
          <a:p>
            <a:pPr marL="457200" lvl="0" indent="-342900" algn="l" rtl="0">
              <a:lnSpc>
                <a:spcPct val="100000"/>
              </a:lnSpc>
              <a:spcBef>
                <a:spcPts val="1000"/>
              </a:spcBef>
              <a:spcAft>
                <a:spcPts val="1000"/>
              </a:spcAft>
              <a:buSzPts val="1800"/>
              <a:buChar char="▪"/>
            </a:pPr>
            <a:r>
              <a:rPr lang="en-US" sz="1800"/>
              <a:t>On a </a:t>
            </a:r>
            <a:r>
              <a:rPr lang="en-US" sz="1800" b="1"/>
              <a:t>multiprocessor or multi-core system</a:t>
            </a:r>
            <a:r>
              <a:rPr lang="en-US" sz="1800"/>
              <a:t>, the threads or tasks will generally run at the same time, with each processor or core running a particular thread or task. </a:t>
            </a:r>
            <a:endParaRPr sz="1800"/>
          </a:p>
        </p:txBody>
      </p:sp>
      <p:sp>
        <p:nvSpPr>
          <p:cNvPr id="135" name="Google Shape;135;g3f5977d359e_0_62"/>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Basics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f5977d359e_0_71"/>
          <p:cNvSpPr txBox="1">
            <a:spLocks noGrp="1"/>
          </p:cNvSpPr>
          <p:nvPr>
            <p:ph type="body" idx="1"/>
          </p:nvPr>
        </p:nvSpPr>
        <p:spPr>
          <a:xfrm>
            <a:off x="262110" y="748764"/>
            <a:ext cx="8658300" cy="3598200"/>
          </a:xfrm>
          <a:prstGeom prst="rect">
            <a:avLst/>
          </a:prstGeom>
          <a:noFill/>
          <a:ln>
            <a:noFill/>
          </a:ln>
        </p:spPr>
        <p:txBody>
          <a:bodyPr spcFirstLastPara="1" wrap="square" lIns="91425" tIns="45700" rIns="91425" bIns="45700" anchor="t" anchorCtr="0">
            <a:noAutofit/>
          </a:bodyPr>
          <a:lstStyle/>
          <a:p>
            <a:pPr marL="457200" lvl="0" indent="-342900" algn="just" rtl="0">
              <a:lnSpc>
                <a:spcPct val="115000"/>
              </a:lnSpc>
              <a:spcBef>
                <a:spcPts val="0"/>
              </a:spcBef>
              <a:spcAft>
                <a:spcPts val="0"/>
              </a:spcAft>
              <a:buSzPts val="1800"/>
              <a:buChar char="▪"/>
            </a:pPr>
            <a:r>
              <a:rPr lang="en-US" sz="1800" b="1"/>
              <a:t>Software portability</a:t>
            </a:r>
            <a:r>
              <a:rPr lang="en-US" sz="1800"/>
              <a:t>: Threaded applications can be developed on serial machines and on parallel machines without changes (migrating programs between diverse architectural platforms).</a:t>
            </a:r>
            <a:endParaRPr sz="1800"/>
          </a:p>
          <a:p>
            <a:pPr marL="457200" lvl="0" indent="0" algn="just" rtl="0">
              <a:lnSpc>
                <a:spcPct val="115000"/>
              </a:lnSpc>
              <a:spcBef>
                <a:spcPts val="600"/>
              </a:spcBef>
              <a:spcAft>
                <a:spcPts val="0"/>
              </a:spcAft>
              <a:buSzPts val="2400"/>
              <a:buNone/>
            </a:pPr>
            <a:endParaRPr sz="1800"/>
          </a:p>
          <a:p>
            <a:pPr marL="457200" lvl="0" indent="-342900" algn="just" rtl="0">
              <a:lnSpc>
                <a:spcPct val="115000"/>
              </a:lnSpc>
              <a:spcBef>
                <a:spcPts val="600"/>
              </a:spcBef>
              <a:spcAft>
                <a:spcPts val="0"/>
              </a:spcAft>
              <a:buSzPts val="1800"/>
              <a:buChar char="▪"/>
            </a:pPr>
            <a:r>
              <a:rPr lang="en-US" sz="1800" b="1"/>
              <a:t>Latency hiding: </a:t>
            </a:r>
            <a:r>
              <a:rPr lang="en-US" sz="1800"/>
              <a:t>One of the major overheads in programs is the access latency for memory access, I/O and communication. Multiple threads are executing on the same processor, thus hiding this latency. While one thread is waiting for a communication operation, other threads can utilize the CPU, thus masking associated overhead.</a:t>
            </a:r>
            <a:endParaRPr sz="1800" b="1"/>
          </a:p>
        </p:txBody>
      </p:sp>
      <p:sp>
        <p:nvSpPr>
          <p:cNvPr id="142" name="Google Shape;142;g3f5977d359e_0_7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Advantages and Disadvantages of Threads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f5977d359e_0_87"/>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30200" algn="just" rtl="0">
              <a:lnSpc>
                <a:spcPct val="115000"/>
              </a:lnSpc>
              <a:spcBef>
                <a:spcPts val="0"/>
              </a:spcBef>
              <a:spcAft>
                <a:spcPts val="0"/>
              </a:spcAft>
              <a:buSzPts val="1600"/>
              <a:buChar char="▪"/>
            </a:pPr>
            <a:r>
              <a:rPr lang="en-US" sz="1600" b="1"/>
              <a:t>Scheduling and load balancing</a:t>
            </a:r>
            <a:r>
              <a:rPr lang="en-US" sz="1600"/>
              <a:t>: A programmer must express concurrency in a way that minimizes overheads of remote interaction and idling. In many structured applications, the task of allocating equal work to processors is easily accomplished. In unstructured and dynamic applications (e.g. game playing and discrete optimization) this task is more difficult. Threaded APIs allow the programmer to specify a large number of concurrent tasks and support system-level dynamic mapping of tasks to processor with a view to minimizing idling overheads, thus there is no need for explicit scheduling and load balancing.</a:t>
            </a:r>
            <a:endParaRPr sz="1600"/>
          </a:p>
          <a:p>
            <a:pPr marL="457200" lvl="0" indent="0" algn="just" rtl="0">
              <a:lnSpc>
                <a:spcPct val="115000"/>
              </a:lnSpc>
              <a:spcBef>
                <a:spcPts val="600"/>
              </a:spcBef>
              <a:spcAft>
                <a:spcPts val="0"/>
              </a:spcAft>
              <a:buSzPts val="2400"/>
              <a:buNone/>
            </a:pPr>
            <a:endParaRPr sz="1600"/>
          </a:p>
          <a:p>
            <a:pPr marL="457200" lvl="0" indent="-330200" algn="just" rtl="0">
              <a:lnSpc>
                <a:spcPct val="115000"/>
              </a:lnSpc>
              <a:spcBef>
                <a:spcPts val="600"/>
              </a:spcBef>
              <a:spcAft>
                <a:spcPts val="0"/>
              </a:spcAft>
              <a:buSzPts val="1600"/>
              <a:buChar char="▪"/>
            </a:pPr>
            <a:r>
              <a:rPr lang="en-US" sz="1600" b="1"/>
              <a:t>Ease of programming, widespread use</a:t>
            </a:r>
            <a:r>
              <a:rPr lang="en-US" sz="1600"/>
              <a:t>: Threaded programs are easier to write than programs using message passing APIs. With widespread acceptance of POSIX thread API, development tools for POSIX are more widely available and stable.</a:t>
            </a:r>
            <a:endParaRPr sz="1600" b="1"/>
          </a:p>
        </p:txBody>
      </p:sp>
      <p:sp>
        <p:nvSpPr>
          <p:cNvPr id="149" name="Google Shape;149;g3f5977d359e_0_87"/>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Advantages and Disadvantages of Threads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txBox="1">
            <a:spLocks noGrp="1"/>
          </p:cNvSpPr>
          <p:nvPr>
            <p:ph type="body" idx="1"/>
          </p:nvPr>
        </p:nvSpPr>
        <p:spPr>
          <a:xfrm>
            <a:off x="274320" y="1887378"/>
            <a:ext cx="6987406" cy="102854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POSIX* Thread  or  Pthread</a:t>
            </a:r>
            <a:endParaRPr/>
          </a:p>
          <a:p>
            <a:pPr marL="0" lvl="0" indent="0" algn="l" rtl="0">
              <a:lnSpc>
                <a:spcPct val="100000"/>
              </a:lnSpc>
              <a:spcBef>
                <a:spcPts val="0"/>
              </a:spcBef>
              <a:spcAft>
                <a:spcPts val="0"/>
              </a:spcAft>
              <a:buClr>
                <a:srgbClr val="FFFFFF"/>
              </a:buClr>
              <a:buSzPts val="3000"/>
              <a:buNone/>
            </a:pPr>
            <a:endParaRPr sz="2400"/>
          </a:p>
          <a:p>
            <a:pPr marL="0" lvl="0" indent="0" algn="l" rtl="0">
              <a:lnSpc>
                <a:spcPct val="100000"/>
              </a:lnSpc>
              <a:spcBef>
                <a:spcPts val="0"/>
              </a:spcBef>
              <a:spcAft>
                <a:spcPts val="0"/>
              </a:spcAft>
              <a:buClr>
                <a:srgbClr val="FFFFFF"/>
              </a:buClr>
              <a:buSzPts val="3000"/>
              <a:buNone/>
            </a:pPr>
            <a:r>
              <a:rPr lang="en-US" sz="2400"/>
              <a:t>Thread Creation &amp; Synchronization</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f59a7897f7_0_1"/>
          <p:cNvSpPr txBox="1">
            <a:spLocks noGrp="1"/>
          </p:cNvSpPr>
          <p:nvPr>
            <p:ph type="body" idx="1"/>
          </p:nvPr>
        </p:nvSpPr>
        <p:spPr>
          <a:xfrm>
            <a:off x="262098" y="784550"/>
            <a:ext cx="7593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1800" b="1"/>
              <a:t>What are Pthreads?</a:t>
            </a:r>
            <a:endParaRPr sz="1800" b="1"/>
          </a:p>
          <a:p>
            <a:pPr marL="457200" lvl="0" indent="-342900" algn="l" rtl="0">
              <a:lnSpc>
                <a:spcPct val="100000"/>
              </a:lnSpc>
              <a:spcBef>
                <a:spcPts val="1000"/>
              </a:spcBef>
              <a:spcAft>
                <a:spcPts val="0"/>
              </a:spcAft>
              <a:buSzPts val="1800"/>
              <a:buChar char="▪"/>
            </a:pPr>
            <a:r>
              <a:rPr lang="en-US" sz="1800"/>
              <a:t>POSIX.1c standard </a:t>
            </a:r>
            <a:endParaRPr sz="1800"/>
          </a:p>
          <a:p>
            <a:pPr marL="457200" lvl="0" indent="-342900" algn="l" rtl="0">
              <a:lnSpc>
                <a:spcPct val="100000"/>
              </a:lnSpc>
              <a:spcBef>
                <a:spcPts val="0"/>
              </a:spcBef>
              <a:spcAft>
                <a:spcPts val="0"/>
              </a:spcAft>
              <a:buSzPts val="1800"/>
              <a:buChar char="▪"/>
            </a:pPr>
            <a:r>
              <a:rPr lang="en-US" sz="1800"/>
              <a:t>C language interface </a:t>
            </a:r>
            <a:endParaRPr sz="1800"/>
          </a:p>
          <a:p>
            <a:pPr marL="457200" lvl="0" indent="-342900" algn="l" rtl="0">
              <a:lnSpc>
                <a:spcPct val="100000"/>
              </a:lnSpc>
              <a:spcBef>
                <a:spcPts val="0"/>
              </a:spcBef>
              <a:spcAft>
                <a:spcPts val="0"/>
              </a:spcAft>
              <a:buSzPts val="1800"/>
              <a:buChar char="▪"/>
            </a:pPr>
            <a:r>
              <a:rPr lang="en-US" sz="1800"/>
              <a:t>Threads exist within same process </a:t>
            </a:r>
            <a:endParaRPr sz="1800"/>
          </a:p>
          <a:p>
            <a:pPr marL="457200" lvl="0" indent="-342900" algn="l" rtl="0">
              <a:lnSpc>
                <a:spcPct val="100000"/>
              </a:lnSpc>
              <a:spcBef>
                <a:spcPts val="0"/>
              </a:spcBef>
              <a:spcAft>
                <a:spcPts val="0"/>
              </a:spcAft>
              <a:buSzPts val="1800"/>
              <a:buChar char="▪"/>
            </a:pPr>
            <a:r>
              <a:rPr lang="en-US" sz="1800"/>
              <a:t>All threads are peers </a:t>
            </a:r>
            <a:endParaRPr sz="1800"/>
          </a:p>
          <a:p>
            <a:pPr marL="914400" lvl="1" indent="-342900" algn="l" rtl="0">
              <a:lnSpc>
                <a:spcPct val="100000"/>
              </a:lnSpc>
              <a:spcBef>
                <a:spcPts val="0"/>
              </a:spcBef>
              <a:spcAft>
                <a:spcPts val="0"/>
              </a:spcAft>
              <a:buSzPts val="1800"/>
              <a:buChar char="–"/>
            </a:pPr>
            <a:r>
              <a:rPr lang="en-US" sz="1800"/>
              <a:t>No explicit parent-child model </a:t>
            </a:r>
            <a:endParaRPr sz="1800"/>
          </a:p>
          <a:p>
            <a:pPr marL="914400" lvl="1" indent="-342900" algn="l" rtl="0">
              <a:lnSpc>
                <a:spcPct val="100000"/>
              </a:lnSpc>
              <a:spcBef>
                <a:spcPts val="0"/>
              </a:spcBef>
              <a:spcAft>
                <a:spcPts val="0"/>
              </a:spcAft>
              <a:buSzPts val="1800"/>
              <a:buChar char="–"/>
            </a:pPr>
            <a:r>
              <a:rPr lang="en-US" sz="1800"/>
              <a:t>Exception: “main thread” holds process information </a:t>
            </a:r>
            <a:endParaRPr sz="1800"/>
          </a:p>
        </p:txBody>
      </p:sp>
      <p:sp>
        <p:nvSpPr>
          <p:cNvPr id="162" name="Google Shape;162;g3f59a7897f7_0_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1000"/>
              </a:spcAft>
              <a:buClr>
                <a:schemeClr val="dk1"/>
              </a:buClr>
              <a:buSzPts val="1100"/>
              <a:buFont typeface="Arial"/>
              <a:buNone/>
            </a:pPr>
            <a:r>
              <a:rPr lang="en-US"/>
              <a:t>POSIX Threads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f59d3e3f11_0_26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pthread_create</a:t>
            </a:r>
            <a:endParaRPr/>
          </a:p>
        </p:txBody>
      </p:sp>
      <p:sp>
        <p:nvSpPr>
          <p:cNvPr id="169" name="Google Shape;169;g3f59d3e3f11_0_265"/>
          <p:cNvSpPr/>
          <p:nvPr/>
        </p:nvSpPr>
        <p:spPr>
          <a:xfrm>
            <a:off x="4174311" y="1289413"/>
            <a:ext cx="4859400" cy="20472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Spawn a thread running the function</a:t>
            </a:r>
            <a:endParaRPr sz="1500" b="0"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Thread handle returned via </a:t>
            </a:r>
            <a:r>
              <a:rPr lang="en-US" sz="1500" b="1" i="0" u="none" strike="noStrike" cap="none">
                <a:solidFill>
                  <a:srgbClr val="393938"/>
                </a:solidFill>
                <a:latin typeface="Arial"/>
                <a:ea typeface="Arial"/>
                <a:cs typeface="Arial"/>
                <a:sym typeface="Arial"/>
              </a:rPr>
              <a:t>pthread_t</a:t>
            </a:r>
            <a:r>
              <a:rPr lang="en-US" sz="1500" b="0" i="0" u="none" strike="noStrike" cap="none">
                <a:solidFill>
                  <a:srgbClr val="393938"/>
                </a:solidFill>
                <a:latin typeface="Arial"/>
                <a:ea typeface="Arial"/>
                <a:cs typeface="Arial"/>
                <a:sym typeface="Arial"/>
              </a:rPr>
              <a:t> structure</a:t>
            </a:r>
            <a:endParaRPr sz="1500" b="0" i="0" u="none" strike="noStrike" cap="none">
              <a:solidFill>
                <a:srgbClr val="393938"/>
              </a:solidFill>
              <a:latin typeface="Arial"/>
              <a:ea typeface="Arial"/>
              <a:cs typeface="Arial"/>
              <a:sym typeface="Arial"/>
            </a:endParaRPr>
          </a:p>
          <a:p>
            <a:pPr marL="914400" marR="0" lvl="1"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Specify </a:t>
            </a:r>
            <a:r>
              <a:rPr lang="en-US" sz="1500" b="1" i="0" u="none" strike="noStrike" cap="none">
                <a:solidFill>
                  <a:srgbClr val="393938"/>
                </a:solidFill>
                <a:latin typeface="Arial"/>
                <a:ea typeface="Arial"/>
                <a:cs typeface="Arial"/>
                <a:sym typeface="Arial"/>
              </a:rPr>
              <a:t>NULL</a:t>
            </a:r>
            <a:r>
              <a:rPr lang="en-US" sz="1500" b="0" i="0" u="none" strike="noStrike" cap="none">
                <a:solidFill>
                  <a:srgbClr val="393938"/>
                </a:solidFill>
                <a:latin typeface="Arial"/>
                <a:ea typeface="Arial"/>
                <a:cs typeface="Arial"/>
                <a:sym typeface="Arial"/>
              </a:rPr>
              <a:t> to use default attributes</a:t>
            </a:r>
            <a:endParaRPr sz="1500" b="0"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Single argument sent to function</a:t>
            </a:r>
            <a:endParaRPr sz="1500" b="0" i="0" u="none" strike="noStrike" cap="none">
              <a:solidFill>
                <a:srgbClr val="393938"/>
              </a:solidFill>
              <a:latin typeface="Arial"/>
              <a:ea typeface="Arial"/>
              <a:cs typeface="Arial"/>
              <a:sym typeface="Arial"/>
            </a:endParaRPr>
          </a:p>
          <a:p>
            <a:pPr marL="914400" marR="0" lvl="1"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If no arguments to function, specify </a:t>
            </a:r>
            <a:r>
              <a:rPr lang="en-US" sz="1500" b="1" i="0" u="none" strike="noStrike" cap="none">
                <a:solidFill>
                  <a:srgbClr val="393938"/>
                </a:solidFill>
                <a:latin typeface="Arial"/>
                <a:ea typeface="Arial"/>
                <a:cs typeface="Arial"/>
                <a:sym typeface="Arial"/>
              </a:rPr>
              <a:t>NULL</a:t>
            </a:r>
            <a:endParaRPr sz="1500" b="1"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Check error codes!</a:t>
            </a:r>
            <a:endParaRPr sz="1500" b="0" i="0" u="none" strike="noStrike" cap="none">
              <a:solidFill>
                <a:srgbClr val="000099"/>
              </a:solidFill>
              <a:latin typeface="Arial"/>
              <a:ea typeface="Arial"/>
              <a:cs typeface="Arial"/>
              <a:sym typeface="Arial"/>
            </a:endParaRPr>
          </a:p>
        </p:txBody>
      </p:sp>
      <p:pic>
        <p:nvPicPr>
          <p:cNvPr id="170" name="Google Shape;170;g3f59d3e3f11_0_265"/>
          <p:cNvPicPr preferRelativeResize="0"/>
          <p:nvPr/>
        </p:nvPicPr>
        <p:blipFill rotWithShape="1">
          <a:blip r:embed="rId3">
            <a:alphaModFix/>
          </a:blip>
          <a:srcRect/>
          <a:stretch/>
        </p:blipFill>
        <p:spPr>
          <a:xfrm>
            <a:off x="3574043" y="3737550"/>
            <a:ext cx="5459650" cy="699000"/>
          </a:xfrm>
          <a:prstGeom prst="rect">
            <a:avLst/>
          </a:prstGeom>
          <a:noFill/>
          <a:ln>
            <a:noFill/>
          </a:ln>
        </p:spPr>
      </p:pic>
      <p:sp>
        <p:nvSpPr>
          <p:cNvPr id="171" name="Google Shape;171;g3f59d3e3f11_0_265"/>
          <p:cNvSpPr txBox="1">
            <a:spLocks noGrp="1"/>
          </p:cNvSpPr>
          <p:nvPr>
            <p:ph type="body" idx="1"/>
          </p:nvPr>
        </p:nvSpPr>
        <p:spPr>
          <a:xfrm>
            <a:off x="262104" y="784550"/>
            <a:ext cx="5387400" cy="3598200"/>
          </a:xfrm>
          <a:prstGeom prst="rect">
            <a:avLst/>
          </a:prstGeom>
          <a:noFill/>
          <a:ln>
            <a:noFill/>
          </a:ln>
        </p:spPr>
        <p:txBody>
          <a:bodyPr spcFirstLastPara="1" wrap="square" lIns="91425" tIns="45700" rIns="91425" bIns="45700" anchor="t" anchorCtr="0">
            <a:noAutofit/>
          </a:bodyPr>
          <a:lstStyle/>
          <a:p>
            <a:pPr marL="0" lvl="0" indent="0" algn="l" rtl="0">
              <a:lnSpc>
                <a:spcPct val="85000"/>
              </a:lnSpc>
              <a:spcBef>
                <a:spcPts val="0"/>
              </a:spcBef>
              <a:spcAft>
                <a:spcPts val="0"/>
              </a:spcAft>
              <a:buClr>
                <a:schemeClr val="dk1"/>
              </a:buClr>
              <a:buSzPts val="1100"/>
              <a:buFont typeface="Arial"/>
              <a:buNone/>
            </a:pPr>
            <a:r>
              <a:rPr lang="en-US" sz="2000" b="1"/>
              <a:t>int pthread_create(tid, attr, function, arg);</a:t>
            </a:r>
            <a:endParaRPr sz="2000" b="1"/>
          </a:p>
          <a:p>
            <a:pPr marL="0" lvl="0" indent="0" algn="l" rtl="0">
              <a:lnSpc>
                <a:spcPct val="85000"/>
              </a:lnSpc>
              <a:spcBef>
                <a:spcPts val="600"/>
              </a:spcBef>
              <a:spcAft>
                <a:spcPts val="0"/>
              </a:spcAft>
              <a:buSzPts val="2400"/>
              <a:buNone/>
            </a:pPr>
            <a:endParaRPr sz="1800" b="1"/>
          </a:p>
          <a:p>
            <a:pPr marL="0" lvl="0" indent="0" algn="l" rtl="0">
              <a:lnSpc>
                <a:spcPct val="85000"/>
              </a:lnSpc>
              <a:spcBef>
                <a:spcPts val="600"/>
              </a:spcBef>
              <a:spcAft>
                <a:spcPts val="0"/>
              </a:spcAft>
              <a:buClr>
                <a:schemeClr val="dk1"/>
              </a:buClr>
              <a:buSzPts val="1100"/>
              <a:buFont typeface="Arial"/>
              <a:buNone/>
            </a:pPr>
            <a:r>
              <a:rPr lang="en-US" sz="1800" b="1"/>
              <a:t>pthread_t *tid</a:t>
            </a:r>
            <a:endParaRPr sz="1800" b="1"/>
          </a:p>
          <a:p>
            <a:pPr marL="241300" lvl="0" indent="0" algn="l" rtl="0">
              <a:lnSpc>
                <a:spcPct val="85000"/>
              </a:lnSpc>
              <a:spcBef>
                <a:spcPts val="600"/>
              </a:spcBef>
              <a:spcAft>
                <a:spcPts val="0"/>
              </a:spcAft>
              <a:buClr>
                <a:schemeClr val="dk1"/>
              </a:buClr>
              <a:buSzPts val="1100"/>
              <a:buFont typeface="Arial"/>
              <a:buNone/>
            </a:pPr>
            <a:r>
              <a:rPr lang="en-US" sz="1800"/>
              <a:t>  handle of created thread</a:t>
            </a:r>
            <a:endParaRPr sz="1800"/>
          </a:p>
          <a:p>
            <a:pPr marL="0" lvl="0" indent="0" algn="l" rtl="0">
              <a:lnSpc>
                <a:spcPct val="85000"/>
              </a:lnSpc>
              <a:spcBef>
                <a:spcPts val="600"/>
              </a:spcBef>
              <a:spcAft>
                <a:spcPts val="0"/>
              </a:spcAft>
              <a:buClr>
                <a:schemeClr val="dk1"/>
              </a:buClr>
              <a:buSzPts val="1100"/>
              <a:buFont typeface="Arial"/>
              <a:buNone/>
            </a:pPr>
            <a:r>
              <a:rPr lang="en-US" sz="1800" b="1"/>
              <a:t>const pthread_attr_t *attr</a:t>
            </a:r>
            <a:endParaRPr sz="1800" b="1"/>
          </a:p>
          <a:p>
            <a:pPr marL="241300" lvl="0" indent="0" algn="l" rtl="0">
              <a:lnSpc>
                <a:spcPct val="85000"/>
              </a:lnSpc>
              <a:spcBef>
                <a:spcPts val="600"/>
              </a:spcBef>
              <a:spcAft>
                <a:spcPts val="0"/>
              </a:spcAft>
              <a:buClr>
                <a:schemeClr val="dk1"/>
              </a:buClr>
              <a:buSzPts val="1100"/>
              <a:buFont typeface="Arial"/>
              <a:buNone/>
            </a:pPr>
            <a:r>
              <a:rPr lang="en-US" sz="1800"/>
              <a:t>  attributes of thread to be created</a:t>
            </a:r>
            <a:endParaRPr sz="1800"/>
          </a:p>
          <a:p>
            <a:pPr marL="0" lvl="0" indent="0" algn="l" rtl="0">
              <a:lnSpc>
                <a:spcPct val="85000"/>
              </a:lnSpc>
              <a:spcBef>
                <a:spcPts val="600"/>
              </a:spcBef>
              <a:spcAft>
                <a:spcPts val="0"/>
              </a:spcAft>
              <a:buClr>
                <a:schemeClr val="dk1"/>
              </a:buClr>
              <a:buSzPts val="1100"/>
              <a:buFont typeface="Arial"/>
              <a:buNone/>
            </a:pPr>
            <a:r>
              <a:rPr lang="en-US" sz="1800" b="1"/>
              <a:t>void *(*function)(void *)</a:t>
            </a:r>
            <a:endParaRPr sz="1800" b="1"/>
          </a:p>
          <a:p>
            <a:pPr marL="241300" lvl="0" indent="0" algn="l" rtl="0">
              <a:lnSpc>
                <a:spcPct val="85000"/>
              </a:lnSpc>
              <a:spcBef>
                <a:spcPts val="600"/>
              </a:spcBef>
              <a:spcAft>
                <a:spcPts val="0"/>
              </a:spcAft>
              <a:buClr>
                <a:schemeClr val="dk1"/>
              </a:buClr>
              <a:buSzPts val="1100"/>
              <a:buFont typeface="Arial"/>
              <a:buNone/>
            </a:pPr>
            <a:r>
              <a:rPr lang="en-US" sz="1800"/>
              <a:t>  function to be mapped to thread</a:t>
            </a:r>
            <a:endParaRPr sz="1800"/>
          </a:p>
          <a:p>
            <a:pPr marL="0" lvl="0" indent="0" algn="l" rtl="0">
              <a:lnSpc>
                <a:spcPct val="85000"/>
              </a:lnSpc>
              <a:spcBef>
                <a:spcPts val="600"/>
              </a:spcBef>
              <a:spcAft>
                <a:spcPts val="0"/>
              </a:spcAft>
              <a:buClr>
                <a:schemeClr val="dk1"/>
              </a:buClr>
              <a:buSzPts val="1100"/>
              <a:buFont typeface="Arial"/>
              <a:buNone/>
            </a:pPr>
            <a:r>
              <a:rPr lang="en-US" sz="1800" b="1"/>
              <a:t>void *arg</a:t>
            </a:r>
            <a:endParaRPr sz="1800" b="1"/>
          </a:p>
          <a:p>
            <a:pPr marL="241300" lvl="0" indent="0" algn="l" rtl="0">
              <a:lnSpc>
                <a:spcPct val="85000"/>
              </a:lnSpc>
              <a:spcBef>
                <a:spcPts val="600"/>
              </a:spcBef>
              <a:spcAft>
                <a:spcPts val="600"/>
              </a:spcAft>
              <a:buSzPts val="2400"/>
              <a:buNone/>
            </a:pPr>
            <a:r>
              <a:rPr lang="en-US" sz="1800"/>
              <a:t>  single argument to function</a:t>
            </a:r>
            <a:endParaRPr sz="15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f5977d359e_0_106"/>
          <p:cNvSpPr txBox="1">
            <a:spLocks noGrp="1"/>
          </p:cNvSpPr>
          <p:nvPr>
            <p:ph type="body" idx="1"/>
          </p:nvPr>
        </p:nvSpPr>
        <p:spPr>
          <a:xfrm>
            <a:off x="262104" y="784550"/>
            <a:ext cx="53874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1500">
                <a:latin typeface="Courier New"/>
                <a:ea typeface="Courier New"/>
                <a:cs typeface="Courier New"/>
                <a:sym typeface="Courier New"/>
              </a:rPr>
              <a:t>#include &lt;stdio.h&gt;</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#include &lt;pthread.h&gt;</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void *hello (void * arg) {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printf(“Hello Thread\n”);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return NULL; </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 </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main() {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pthread_t tid;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pthread_create(&amp;tid, NULL, hello, NULL); </a:t>
            </a:r>
            <a:endParaRPr sz="1500">
              <a:latin typeface="Courier New"/>
              <a:ea typeface="Courier New"/>
              <a:cs typeface="Courier New"/>
              <a:sym typeface="Courier New"/>
            </a:endParaRPr>
          </a:p>
          <a:p>
            <a:pPr marL="0" lvl="0" indent="0" algn="l" rtl="0">
              <a:lnSpc>
                <a:spcPct val="100000"/>
              </a:lnSpc>
              <a:spcBef>
                <a:spcPts val="1000"/>
              </a:spcBef>
              <a:spcAft>
                <a:spcPts val="1000"/>
              </a:spcAft>
              <a:buSzPts val="2400"/>
              <a:buNone/>
            </a:pPr>
            <a:r>
              <a:rPr lang="en-US" sz="1500">
                <a:latin typeface="Courier New"/>
                <a:ea typeface="Courier New"/>
                <a:cs typeface="Courier New"/>
                <a:sym typeface="Courier New"/>
              </a:rPr>
              <a:t>} </a:t>
            </a:r>
            <a:endParaRPr sz="1500">
              <a:latin typeface="Courier New"/>
              <a:ea typeface="Courier New"/>
              <a:cs typeface="Courier New"/>
              <a:sym typeface="Courier New"/>
            </a:endParaRPr>
          </a:p>
        </p:txBody>
      </p:sp>
      <p:sp>
        <p:nvSpPr>
          <p:cNvPr id="178" name="Google Shape;178;g3f5977d359e_0_106"/>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Creation - Example I</a:t>
            </a:r>
            <a:endParaRPr/>
          </a:p>
        </p:txBody>
      </p:sp>
      <p:sp>
        <p:nvSpPr>
          <p:cNvPr id="179" name="Google Shape;179;g3f5977d359e_0_106"/>
          <p:cNvSpPr/>
          <p:nvPr/>
        </p:nvSpPr>
        <p:spPr>
          <a:xfrm>
            <a:off x="5364675" y="1239000"/>
            <a:ext cx="3555900" cy="214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Possible outcomes:</a:t>
            </a:r>
            <a:endParaRPr sz="1800" b="1" i="0" u="none" strike="noStrike" cap="none">
              <a:solidFill>
                <a:schemeClr val="dk1"/>
              </a:solidFill>
              <a:latin typeface="Arial"/>
              <a:ea typeface="Arial"/>
              <a:cs typeface="Arial"/>
              <a:sym typeface="Arial"/>
            </a:endParaRPr>
          </a:p>
          <a:p>
            <a:pPr marL="457200" marR="0" lvl="0" indent="-342900" algn="l" rtl="0">
              <a:lnSpc>
                <a:spcPct val="100000"/>
              </a:lnSpc>
              <a:spcBef>
                <a:spcPts val="100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Message “Hello Thread” is printed on screen</a:t>
            </a:r>
            <a:endParaRPr sz="1800" b="0" i="0" u="none" strike="noStrike" cap="none">
              <a:solidFill>
                <a:schemeClr val="dk1"/>
              </a:solidFill>
              <a:latin typeface="Arial"/>
              <a:ea typeface="Arial"/>
              <a:cs typeface="Arial"/>
              <a:sym typeface="Arial"/>
            </a:endParaRPr>
          </a:p>
          <a:p>
            <a:pPr marL="457200" marR="0" lvl="0" indent="-342900" algn="l" rtl="0">
              <a:lnSpc>
                <a:spcPct val="100000"/>
              </a:lnSpc>
              <a:spcBef>
                <a:spcPts val="1000"/>
              </a:spcBef>
              <a:spcAft>
                <a:spcPts val="100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Nothing printed on screen. </a:t>
            </a:r>
            <a:r>
              <a:rPr lang="en-US" sz="1800" b="1" i="0" u="none" strike="noStrike" cap="none">
                <a:solidFill>
                  <a:schemeClr val="dk1"/>
                </a:solidFill>
                <a:latin typeface="Arial"/>
                <a:ea typeface="Arial"/>
                <a:cs typeface="Arial"/>
                <a:sym typeface="Arial"/>
              </a:rPr>
              <a:t>Why?</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f5977d359e_0_115"/>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400">
                <a:latin typeface="Courier New"/>
                <a:ea typeface="Courier New"/>
                <a:cs typeface="Courier New"/>
                <a:sym typeface="Courier New"/>
              </a:rPr>
              <a:t>#include &lt;stdio.h&gt;</a:t>
            </a:r>
            <a:endParaRPr sz="1400">
              <a:latin typeface="Courier New"/>
              <a:ea typeface="Courier New"/>
              <a:cs typeface="Courier New"/>
              <a:sym typeface="Courier New"/>
            </a:endParaRPr>
          </a:p>
          <a:p>
            <a:pPr marL="0" lvl="0" indent="0" algn="l" rtl="0">
              <a:lnSpc>
                <a:spcPct val="100000"/>
              </a:lnSpc>
              <a:spcBef>
                <a:spcPts val="1000"/>
              </a:spcBef>
              <a:spcAft>
                <a:spcPts val="0"/>
              </a:spcAft>
              <a:buClr>
                <a:schemeClr val="dk1"/>
              </a:buClr>
              <a:buSzPts val="1100"/>
              <a:buFont typeface="Arial"/>
              <a:buNone/>
            </a:pPr>
            <a:r>
              <a:rPr lang="en-US" sz="1400">
                <a:latin typeface="Courier New"/>
                <a:ea typeface="Courier New"/>
                <a:cs typeface="Courier New"/>
                <a:sym typeface="Courier New"/>
              </a:rPr>
              <a:t>#include &lt;pthread.h&gt;</a:t>
            </a:r>
            <a:endParaRPr sz="14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400">
                <a:latin typeface="Courier New"/>
                <a:ea typeface="Courier New"/>
                <a:cs typeface="Courier New"/>
                <a:sym typeface="Courier New"/>
              </a:rPr>
              <a:t>#define NUM_THREADS 4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void *hello (void *arg) {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printf(“Hello Thread\n”);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main() {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pthread_t tid[NUM_THREADS];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for (int i = 0; i &lt; NUM_THREADS; i++) </a:t>
            </a:r>
            <a:endParaRPr sz="1400">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pthread_create(&amp;tid[i], NULL, hello, NULL); </a:t>
            </a:r>
            <a:endParaRPr sz="1400">
              <a:latin typeface="Courier New"/>
              <a:ea typeface="Courier New"/>
              <a:cs typeface="Courier New"/>
              <a:sym typeface="Courier New"/>
            </a:endParaRPr>
          </a:p>
          <a:p>
            <a:pPr marL="457200" lvl="0" indent="0" algn="l" rtl="0">
              <a:lnSpc>
                <a:spcPct val="100000"/>
              </a:lnSpc>
              <a:spcBef>
                <a:spcPts val="480"/>
              </a:spcBef>
              <a:spcAft>
                <a:spcPts val="0"/>
              </a:spcAft>
              <a:buSzPts val="2400"/>
              <a:buNone/>
            </a:pPr>
            <a:r>
              <a:rPr lang="en-US" sz="1400">
                <a:latin typeface="Courier New"/>
                <a:ea typeface="Courier New"/>
                <a:cs typeface="Courier New"/>
                <a:sym typeface="Courier New"/>
              </a:rPr>
              <a:t>for (int i = 0; i &lt; NUM_THREADS; i++) </a:t>
            </a:r>
            <a:endParaRPr sz="1400">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pthread_join(tid[i], NULL); </a:t>
            </a:r>
            <a:endParaRPr sz="1400" b="1">
              <a:solidFill>
                <a:srgbClr val="CC0000"/>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 </a:t>
            </a:r>
            <a:endParaRPr sz="1400">
              <a:latin typeface="Courier New"/>
              <a:ea typeface="Courier New"/>
              <a:cs typeface="Courier New"/>
              <a:sym typeface="Courier New"/>
            </a:endParaRPr>
          </a:p>
        </p:txBody>
      </p:sp>
      <p:sp>
        <p:nvSpPr>
          <p:cNvPr id="186" name="Google Shape;186;g3f5977d359e_0_11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Creation - Example II</a:t>
            </a:r>
            <a:endParaRPr/>
          </a:p>
        </p:txBody>
      </p:sp>
      <p:sp>
        <p:nvSpPr>
          <p:cNvPr id="187" name="Google Shape;187;g3f5977d359e_0_115"/>
          <p:cNvSpPr/>
          <p:nvPr/>
        </p:nvSpPr>
        <p:spPr>
          <a:xfrm>
            <a:off x="5364500" y="904525"/>
            <a:ext cx="3555900" cy="232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457200" marR="0" lvl="0" indent="-317500" algn="l" rtl="0">
              <a:lnSpc>
                <a:spcPct val="115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There must be one call for each thread needed to be </a:t>
            </a:r>
            <a:r>
              <a:rPr lang="en-US" sz="1400" b="1" i="0" u="none" strike="noStrike" cap="none">
                <a:solidFill>
                  <a:schemeClr val="dk1"/>
                </a:solidFill>
                <a:latin typeface="Arial"/>
                <a:ea typeface="Arial"/>
                <a:cs typeface="Arial"/>
                <a:sym typeface="Arial"/>
              </a:rPr>
              <a:t>“joined”</a:t>
            </a:r>
            <a:r>
              <a:rPr lang="en-US" sz="1400" b="0" i="0" u="none" strike="noStrike" cap="none">
                <a:solidFill>
                  <a:schemeClr val="dk1"/>
                </a:solidFill>
                <a:latin typeface="Arial"/>
                <a:ea typeface="Arial"/>
                <a:cs typeface="Arial"/>
                <a:sym typeface="Arial"/>
              </a:rPr>
              <a:t> after termination. </a:t>
            </a:r>
            <a:endParaRPr sz="1400" b="0" i="0" u="none" strike="noStrike" cap="none">
              <a:solidFill>
                <a:schemeClr val="dk1"/>
              </a:solidFill>
              <a:latin typeface="Arial"/>
              <a:ea typeface="Arial"/>
              <a:cs typeface="Arial"/>
              <a:sym typeface="Arial"/>
            </a:endParaRPr>
          </a:p>
          <a:p>
            <a:pPr marL="457200" marR="0" lvl="0" indent="-317500" algn="l" rtl="0">
              <a:lnSpc>
                <a:spcPct val="115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joins are done in </a:t>
            </a:r>
            <a:r>
              <a:rPr lang="en-US" sz="1400" b="1" i="0" u="none" strike="noStrike" cap="none">
                <a:solidFill>
                  <a:schemeClr val="dk1"/>
                </a:solidFill>
                <a:latin typeface="Arial"/>
                <a:ea typeface="Arial"/>
                <a:cs typeface="Arial"/>
                <a:sym typeface="Arial"/>
              </a:rPr>
              <a:t>the order of the thread’s creation</a:t>
            </a:r>
            <a:r>
              <a:rPr lang="en-US" sz="1400" b="0" i="0" u="none" strike="noStrike" cap="none">
                <a:solidFill>
                  <a:schemeClr val="dk1"/>
                </a:solidFill>
                <a:latin typeface="Arial"/>
                <a:ea typeface="Arial"/>
                <a:cs typeface="Arial"/>
                <a:sym typeface="Arial"/>
              </a:rPr>
              <a:t>. Thus, if the last thread created is the first to finish, it will not be joined until the previous threads have finished. </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f5977d359e_0_125"/>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void *threadFunc(void *pArg) {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int* p = (int*)pArg;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int myNum = *p;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printf( “Thread number %d\n”, myNum);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 .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from main():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for (int i = 0; i &lt; numThreads; i++) {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pthread_create(&amp;tid[i],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NULL, threadFunc, &amp;i);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a:t>
            </a:r>
            <a:endParaRPr sz="1600">
              <a:latin typeface="Courier New"/>
              <a:ea typeface="Courier New"/>
              <a:cs typeface="Courier New"/>
              <a:sym typeface="Courier New"/>
            </a:endParaRPr>
          </a:p>
        </p:txBody>
      </p:sp>
      <p:sp>
        <p:nvSpPr>
          <p:cNvPr id="194" name="Google Shape;194;g3f5977d359e_0_12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a:t>
            </a:r>
            <a:endParaRPr/>
          </a:p>
        </p:txBody>
      </p:sp>
      <p:sp>
        <p:nvSpPr>
          <p:cNvPr id="195" name="Google Shape;195;g3f5977d359e_0_125"/>
          <p:cNvSpPr/>
          <p:nvPr/>
        </p:nvSpPr>
        <p:spPr>
          <a:xfrm>
            <a:off x="6325850" y="1963650"/>
            <a:ext cx="2301600" cy="6987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What’s wrong with the code?</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f5977d359e_0_133"/>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void *threadFunc(void *pArg) {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int* p = (int*)pArg;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int myNum = *p;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printf( “Thread number %d\n”, myNum);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 .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from main():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for (int i = 0; i &lt; numThreads; i++) {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pthread_create(&amp;tid[i], </a:t>
            </a:r>
            <a:endParaRPr sz="16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a:latin typeface="Courier New"/>
                <a:ea typeface="Courier New"/>
                <a:cs typeface="Courier New"/>
                <a:sym typeface="Courier New"/>
              </a:rPr>
              <a:t>NULL, threadFunc, &amp;i); </a:t>
            </a:r>
            <a:endParaRPr sz="16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a:latin typeface="Courier New"/>
                <a:ea typeface="Courier New"/>
                <a:cs typeface="Courier New"/>
                <a:sym typeface="Courier New"/>
              </a:rPr>
              <a:t>} </a:t>
            </a:r>
            <a:endParaRPr sz="1600">
              <a:latin typeface="Courier New"/>
              <a:ea typeface="Courier New"/>
              <a:cs typeface="Courier New"/>
              <a:sym typeface="Courier New"/>
            </a:endParaRPr>
          </a:p>
        </p:txBody>
      </p:sp>
      <p:sp>
        <p:nvSpPr>
          <p:cNvPr id="202" name="Google Shape;202;g3f5977d359e_0_13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a:t>
            </a:r>
            <a:endParaRPr/>
          </a:p>
        </p:txBody>
      </p:sp>
      <p:sp>
        <p:nvSpPr>
          <p:cNvPr id="203" name="Google Shape;203;g3f5977d359e_0_133"/>
          <p:cNvSpPr/>
          <p:nvPr/>
        </p:nvSpPr>
        <p:spPr>
          <a:xfrm>
            <a:off x="5710800" y="951350"/>
            <a:ext cx="3352200" cy="15489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Problem is passing *address* of “i”; value of “i” is changing and will likely be different when thread is allowed to run than when pthread_create was called. </a:t>
            </a:r>
            <a:endParaRPr sz="1300" b="1" i="0" u="none" strike="noStrike" cap="none">
              <a:solidFill>
                <a:schemeClr val="dk1"/>
              </a:solidFill>
              <a:latin typeface="Arial"/>
              <a:ea typeface="Arial"/>
              <a:cs typeface="Arial"/>
              <a:sym typeface="Arial"/>
            </a:endParaRPr>
          </a:p>
        </p:txBody>
      </p:sp>
      <p:sp>
        <p:nvSpPr>
          <p:cNvPr id="204" name="Google Shape;204;g3f5977d359e_0_133"/>
          <p:cNvSpPr/>
          <p:nvPr/>
        </p:nvSpPr>
        <p:spPr>
          <a:xfrm>
            <a:off x="4446000" y="3379683"/>
            <a:ext cx="4617000" cy="9894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Time   	   thread0        thread1        thread2	 index </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0: 	   created 				    0</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1:		           created			    1 </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2: 	   get *arg 				    2       // value of *arg is 2</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Etc. </a:t>
            </a:r>
            <a:endParaRPr sz="1000" b="1"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f5977d359e_0_143"/>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void *threadFunc(void *pArg)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 </a:t>
            </a:r>
            <a:endParaRPr sz="18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b="1">
                <a:solidFill>
                  <a:srgbClr val="CC0000"/>
                </a:solidFill>
                <a:latin typeface="Courier New"/>
                <a:ea typeface="Courier New"/>
                <a:cs typeface="Courier New"/>
                <a:sym typeface="Courier New"/>
              </a:rPr>
              <a:t>int myNum = *((int*)pArg); </a:t>
            </a:r>
            <a:endParaRPr sz="1800" b="1">
              <a:solidFill>
                <a:srgbClr val="CC0000"/>
              </a:solidFill>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a:latin typeface="Courier New"/>
                <a:ea typeface="Courier New"/>
                <a:cs typeface="Courier New"/>
                <a:sym typeface="Courier New"/>
              </a:rPr>
              <a:t>printf( “Thread number %d\n”, myNum);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 . .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 from main():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for (int i = 0; i &lt; numThreads; i++) { </a:t>
            </a:r>
            <a:endParaRPr sz="18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b="1">
                <a:solidFill>
                  <a:srgbClr val="CC0000"/>
                </a:solidFill>
                <a:latin typeface="Courier New"/>
                <a:ea typeface="Courier New"/>
                <a:cs typeface="Courier New"/>
                <a:sym typeface="Courier New"/>
              </a:rPr>
              <a:t>tNum[i] = i; </a:t>
            </a:r>
            <a:endParaRPr sz="1800" b="1">
              <a:solidFill>
                <a:srgbClr val="CC0000"/>
              </a:solidFill>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a:latin typeface="Courier New"/>
                <a:ea typeface="Courier New"/>
                <a:cs typeface="Courier New"/>
                <a:sym typeface="Courier New"/>
              </a:rPr>
              <a:t>pthread_create(&amp;tid[i], NULL, threadFunc, </a:t>
            </a:r>
            <a:r>
              <a:rPr lang="en-US" sz="1800" b="1">
                <a:solidFill>
                  <a:srgbClr val="CC0000"/>
                </a:solidFill>
                <a:latin typeface="Courier New"/>
                <a:ea typeface="Courier New"/>
                <a:cs typeface="Courier New"/>
                <a:sym typeface="Courier New"/>
              </a:rPr>
              <a:t>&amp;tNum[i]</a:t>
            </a:r>
            <a:r>
              <a:rPr lang="en-US" sz="1800">
                <a:latin typeface="Courier New"/>
                <a:ea typeface="Courier New"/>
                <a:cs typeface="Courier New"/>
                <a:sym typeface="Courier New"/>
              </a:rPr>
              <a:t>); </a:t>
            </a:r>
            <a:endParaRPr sz="18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a:latin typeface="Courier New"/>
                <a:ea typeface="Courier New"/>
                <a:cs typeface="Courier New"/>
                <a:sym typeface="Courier New"/>
              </a:rPr>
              <a:t>} </a:t>
            </a:r>
            <a:endParaRPr sz="1800">
              <a:latin typeface="Courier New"/>
              <a:ea typeface="Courier New"/>
              <a:cs typeface="Courier New"/>
              <a:sym typeface="Courier New"/>
            </a:endParaRPr>
          </a:p>
        </p:txBody>
      </p:sp>
      <p:sp>
        <p:nvSpPr>
          <p:cNvPr id="211" name="Google Shape;211;g3f5977d359e_0_14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 - Solution</a:t>
            </a:r>
            <a:endParaRPr/>
          </a:p>
        </p:txBody>
      </p:sp>
      <p:sp>
        <p:nvSpPr>
          <p:cNvPr id="212" name="Google Shape;212;g3f5977d359e_0_143"/>
          <p:cNvSpPr/>
          <p:nvPr/>
        </p:nvSpPr>
        <p:spPr>
          <a:xfrm>
            <a:off x="6140475" y="1081100"/>
            <a:ext cx="2895900" cy="18651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Solve the problem of passing *address* of “i” by saving current value of “i” in location that will not change. Be sure each thread gets pointer to unique element of tNum array. </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f59d3e3f11_0_278"/>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85000"/>
              </a:lnSpc>
              <a:spcBef>
                <a:spcPts val="0"/>
              </a:spcBef>
              <a:spcAft>
                <a:spcPts val="0"/>
              </a:spcAft>
              <a:buSzPts val="1800"/>
              <a:buFont typeface="Arial"/>
              <a:buChar char="▪"/>
            </a:pPr>
            <a:r>
              <a:rPr lang="en-US" sz="1800">
                <a:solidFill>
                  <a:srgbClr val="393938"/>
                </a:solidFill>
              </a:rPr>
              <a:t>Simple, flexible, and efficient</a:t>
            </a:r>
            <a:endParaRPr sz="1800">
              <a:solidFill>
                <a:srgbClr val="393938"/>
              </a:solidFill>
            </a:endParaRPr>
          </a:p>
          <a:p>
            <a:pPr marL="457200" lvl="0" indent="-342900" algn="l" rtl="0">
              <a:lnSpc>
                <a:spcPct val="85000"/>
              </a:lnSpc>
              <a:spcBef>
                <a:spcPts val="0"/>
              </a:spcBef>
              <a:spcAft>
                <a:spcPts val="0"/>
              </a:spcAft>
              <a:buSzPts val="1800"/>
              <a:buFont typeface="Arial"/>
              <a:buChar char="▪"/>
            </a:pPr>
            <a:r>
              <a:rPr lang="en-US" sz="1800">
                <a:solidFill>
                  <a:srgbClr val="393938"/>
                </a:solidFill>
              </a:rPr>
              <a:t>Enables correct programming structures for avoiding race conditions</a:t>
            </a:r>
            <a:endParaRPr sz="1800">
              <a:solidFill>
                <a:srgbClr val="393938"/>
              </a:solidFill>
            </a:endParaRPr>
          </a:p>
          <a:p>
            <a:pPr marL="457200" lvl="0" indent="-342900" algn="l" rtl="0">
              <a:lnSpc>
                <a:spcPct val="85000"/>
              </a:lnSpc>
              <a:spcBef>
                <a:spcPts val="0"/>
              </a:spcBef>
              <a:spcAft>
                <a:spcPts val="0"/>
              </a:spcAft>
              <a:buSzPts val="1800"/>
              <a:buFont typeface="Arial"/>
              <a:buChar char="▪"/>
            </a:pPr>
            <a:r>
              <a:rPr lang="en-US" sz="1800">
                <a:solidFill>
                  <a:srgbClr val="393938"/>
                </a:solidFill>
              </a:rPr>
              <a:t>New data types to declare objects</a:t>
            </a:r>
            <a:endParaRPr sz="1800">
              <a:solidFill>
                <a:srgbClr val="393938"/>
              </a:solidFill>
            </a:endParaRPr>
          </a:p>
          <a:p>
            <a:pPr marL="914400" lvl="1" indent="-342900" algn="l" rtl="0">
              <a:lnSpc>
                <a:spcPct val="85000"/>
              </a:lnSpc>
              <a:spcBef>
                <a:spcPts val="0"/>
              </a:spcBef>
              <a:spcAft>
                <a:spcPts val="0"/>
              </a:spcAft>
              <a:buSzPts val="1800"/>
              <a:buChar char="–"/>
            </a:pPr>
            <a:r>
              <a:rPr lang="en-US" sz="1800" b="1">
                <a:solidFill>
                  <a:srgbClr val="393938"/>
                </a:solidFill>
              </a:rPr>
              <a:t>pthread_mutex_t</a:t>
            </a:r>
            <a:endParaRPr sz="1800" b="1">
              <a:solidFill>
                <a:srgbClr val="393938"/>
              </a:solidFill>
            </a:endParaRPr>
          </a:p>
          <a:p>
            <a:pPr marL="1371600" lvl="2" indent="-342900" algn="l" rtl="0">
              <a:lnSpc>
                <a:spcPct val="85000"/>
              </a:lnSpc>
              <a:spcBef>
                <a:spcPts val="0"/>
              </a:spcBef>
              <a:spcAft>
                <a:spcPts val="0"/>
              </a:spcAft>
              <a:buSzPts val="1800"/>
              <a:buFont typeface="Arial"/>
              <a:buChar char="▪"/>
            </a:pPr>
            <a:r>
              <a:rPr lang="en-US">
                <a:solidFill>
                  <a:srgbClr val="393938"/>
                </a:solidFill>
              </a:rPr>
              <a:t>the mutex variable</a:t>
            </a:r>
            <a:endParaRPr>
              <a:solidFill>
                <a:srgbClr val="393938"/>
              </a:solidFill>
            </a:endParaRPr>
          </a:p>
          <a:p>
            <a:pPr marL="914400" lvl="1" indent="-342900" algn="l" rtl="0">
              <a:lnSpc>
                <a:spcPct val="85000"/>
              </a:lnSpc>
              <a:spcBef>
                <a:spcPts val="0"/>
              </a:spcBef>
              <a:spcAft>
                <a:spcPts val="0"/>
              </a:spcAft>
              <a:buSzPts val="1800"/>
              <a:buChar char="–"/>
            </a:pPr>
            <a:r>
              <a:rPr lang="en-US" sz="1800" b="1">
                <a:solidFill>
                  <a:srgbClr val="393938"/>
                </a:solidFill>
              </a:rPr>
              <a:t>pthread_mutexattr_t</a:t>
            </a:r>
            <a:endParaRPr sz="1800" b="1">
              <a:solidFill>
                <a:srgbClr val="393938"/>
              </a:solidFill>
            </a:endParaRPr>
          </a:p>
          <a:p>
            <a:pPr marL="1371600" lvl="2" indent="-342900" algn="l" rtl="0">
              <a:lnSpc>
                <a:spcPct val="85000"/>
              </a:lnSpc>
              <a:spcBef>
                <a:spcPts val="0"/>
              </a:spcBef>
              <a:spcAft>
                <a:spcPts val="0"/>
              </a:spcAft>
              <a:buSzPts val="1800"/>
              <a:buFont typeface="Arial"/>
              <a:buChar char="▪"/>
            </a:pPr>
            <a:r>
              <a:rPr lang="en-US">
                <a:solidFill>
                  <a:srgbClr val="393938"/>
                </a:solidFill>
              </a:rPr>
              <a:t>mutex attributes</a:t>
            </a:r>
            <a:endParaRPr>
              <a:solidFill>
                <a:srgbClr val="393938"/>
              </a:solidFill>
            </a:endParaRPr>
          </a:p>
          <a:p>
            <a:pPr marL="457200" lvl="0" indent="-342900" algn="l" rtl="0">
              <a:lnSpc>
                <a:spcPct val="115000"/>
              </a:lnSpc>
              <a:spcBef>
                <a:spcPts val="0"/>
              </a:spcBef>
              <a:spcAft>
                <a:spcPts val="0"/>
              </a:spcAft>
              <a:buSzPts val="1800"/>
              <a:buFont typeface="Arial"/>
              <a:buChar char="▪"/>
            </a:pPr>
            <a:r>
              <a:rPr lang="en-US" sz="1800">
                <a:solidFill>
                  <a:srgbClr val="393938"/>
                </a:solidFill>
              </a:rPr>
              <a:t>Mutex must first be initialized before it can be used.</a:t>
            </a:r>
            <a:endParaRPr sz="1800"/>
          </a:p>
        </p:txBody>
      </p:sp>
      <p:sp>
        <p:nvSpPr>
          <p:cNvPr id="219" name="Google Shape;219;g3f59d3e3f11_0_278"/>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Pthreads Mutex Variables</a:t>
            </a:r>
            <a:endParaRPr/>
          </a:p>
        </p:txBody>
      </p:sp>
      <p:sp>
        <p:nvSpPr>
          <p:cNvPr id="220" name="Google Shape;220;g3f59d3e3f11_0_278"/>
          <p:cNvSpPr/>
          <p:nvPr/>
        </p:nvSpPr>
        <p:spPr>
          <a:xfrm>
            <a:off x="2929400" y="3195650"/>
            <a:ext cx="5991000" cy="889500"/>
          </a:xfrm>
          <a:prstGeom prst="roundRect">
            <a:avLst>
              <a:gd name="adj" fmla="val 16667"/>
            </a:avLst>
          </a:prstGeom>
          <a:solidFill>
            <a:srgbClr val="FFD966"/>
          </a:solidFill>
          <a:ln>
            <a:noFill/>
          </a:ln>
        </p:spPr>
        <p:txBody>
          <a:bodyPr spcFirstLastPara="1" wrap="square" lIns="91425" tIns="91425" rIns="91425" bIns="91425"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US" sz="1600" b="1" i="0" u="none" strike="noStrike" cap="none">
                <a:solidFill>
                  <a:srgbClr val="393938"/>
                </a:solidFill>
                <a:latin typeface="Arial"/>
                <a:ea typeface="Arial"/>
                <a:cs typeface="Arial"/>
                <a:sym typeface="Arial"/>
              </a:rPr>
              <a:t>Mutex can only be “held” by one thread at a time. </a:t>
            </a:r>
            <a:endParaRPr sz="1600" b="1" i="0" u="none" strike="noStrike" cap="none">
              <a:solidFill>
                <a:srgbClr val="393938"/>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600"/>
              <a:buFont typeface="Arial"/>
              <a:buNone/>
            </a:pPr>
            <a:r>
              <a:rPr lang="en-US" sz="1600" b="1" i="0" u="none" strike="noStrike" cap="none">
                <a:solidFill>
                  <a:srgbClr val="393938"/>
                </a:solidFill>
                <a:latin typeface="Arial"/>
                <a:ea typeface="Arial"/>
                <a:cs typeface="Arial"/>
                <a:sym typeface="Arial"/>
              </a:rPr>
              <a:t>Mutexes can be shared between processes, but only if the Pthreads system supports the functionality.</a:t>
            </a: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f59d3e3f11_0_29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pthread_mutex_init</a:t>
            </a:r>
            <a:endParaRPr/>
          </a:p>
        </p:txBody>
      </p:sp>
      <p:sp>
        <p:nvSpPr>
          <p:cNvPr id="227" name="Google Shape;227;g3f59d3e3f11_0_291"/>
          <p:cNvSpPr txBox="1">
            <a:spLocks noGrp="1"/>
          </p:cNvSpPr>
          <p:nvPr>
            <p:ph type="body" idx="1"/>
          </p:nvPr>
        </p:nvSpPr>
        <p:spPr>
          <a:xfrm>
            <a:off x="262100" y="784550"/>
            <a:ext cx="5387400" cy="2475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2400"/>
              <a:buNone/>
            </a:pPr>
            <a:r>
              <a:rPr lang="en-US" sz="1800" b="1"/>
              <a:t>int pthread_mutex_init( mutex, attr );</a:t>
            </a:r>
            <a:endParaRPr sz="1800" b="1"/>
          </a:p>
          <a:p>
            <a:pPr marL="0" lvl="0" indent="0" algn="l" rtl="0">
              <a:lnSpc>
                <a:spcPct val="115000"/>
              </a:lnSpc>
              <a:spcBef>
                <a:spcPts val="600"/>
              </a:spcBef>
              <a:spcAft>
                <a:spcPts val="0"/>
              </a:spcAft>
              <a:buClr>
                <a:schemeClr val="dk1"/>
              </a:buClr>
              <a:buSzPts val="1100"/>
              <a:buFont typeface="Arial"/>
              <a:buNone/>
            </a:pPr>
            <a:endParaRPr sz="1800" b="1"/>
          </a:p>
          <a:p>
            <a:pPr marL="0" lvl="0" indent="0" algn="l" rtl="0">
              <a:lnSpc>
                <a:spcPct val="115000"/>
              </a:lnSpc>
              <a:spcBef>
                <a:spcPts val="600"/>
              </a:spcBef>
              <a:spcAft>
                <a:spcPts val="0"/>
              </a:spcAft>
              <a:buClr>
                <a:schemeClr val="dk1"/>
              </a:buClr>
              <a:buSzPts val="1100"/>
              <a:buFont typeface="Arial"/>
              <a:buNone/>
            </a:pPr>
            <a:r>
              <a:rPr lang="en-US" sz="1800" b="1"/>
              <a:t>pthread_mutex_t *mutex</a:t>
            </a:r>
            <a:endParaRPr sz="1800" b="1"/>
          </a:p>
          <a:p>
            <a:pPr marL="241300" lvl="0" indent="0" algn="l" rtl="0">
              <a:lnSpc>
                <a:spcPct val="115000"/>
              </a:lnSpc>
              <a:spcBef>
                <a:spcPts val="600"/>
              </a:spcBef>
              <a:spcAft>
                <a:spcPts val="0"/>
              </a:spcAft>
              <a:buClr>
                <a:schemeClr val="dk1"/>
              </a:buClr>
              <a:buSzPts val="1100"/>
              <a:buFont typeface="Arial"/>
              <a:buNone/>
            </a:pPr>
            <a:r>
              <a:rPr lang="en-US" sz="1800"/>
              <a:t>  mutex to be initialized</a:t>
            </a:r>
            <a:endParaRPr sz="1800"/>
          </a:p>
          <a:p>
            <a:pPr marL="0" lvl="0" indent="0" algn="l" rtl="0">
              <a:lnSpc>
                <a:spcPct val="115000"/>
              </a:lnSpc>
              <a:spcBef>
                <a:spcPts val="600"/>
              </a:spcBef>
              <a:spcAft>
                <a:spcPts val="0"/>
              </a:spcAft>
              <a:buClr>
                <a:schemeClr val="dk1"/>
              </a:buClr>
              <a:buSzPts val="1100"/>
              <a:buFont typeface="Arial"/>
              <a:buNone/>
            </a:pPr>
            <a:r>
              <a:rPr lang="en-US" sz="1800" b="1"/>
              <a:t>const pthread_mutexattr_t *attr</a:t>
            </a:r>
            <a:endParaRPr sz="1800" b="1"/>
          </a:p>
          <a:p>
            <a:pPr marL="241300" lvl="0" indent="0" algn="l" rtl="0">
              <a:lnSpc>
                <a:spcPct val="115000"/>
              </a:lnSpc>
              <a:spcBef>
                <a:spcPts val="600"/>
              </a:spcBef>
              <a:spcAft>
                <a:spcPts val="0"/>
              </a:spcAft>
              <a:buClr>
                <a:schemeClr val="dk1"/>
              </a:buClr>
              <a:buSzPts val="1100"/>
              <a:buFont typeface="Arial"/>
              <a:buNone/>
            </a:pPr>
            <a:r>
              <a:rPr lang="en-US" sz="1800"/>
              <a:t>  attributes to be given to mutex</a:t>
            </a:r>
            <a:endParaRPr sz="1800"/>
          </a:p>
          <a:p>
            <a:pPr marL="241300" lvl="0" indent="0" algn="l" rtl="0">
              <a:lnSpc>
                <a:spcPct val="85000"/>
              </a:lnSpc>
              <a:spcBef>
                <a:spcPts val="600"/>
              </a:spcBef>
              <a:spcAft>
                <a:spcPts val="600"/>
              </a:spcAft>
              <a:buSzPts val="2400"/>
              <a:buNone/>
            </a:pPr>
            <a:endParaRPr sz="1800" b="1"/>
          </a:p>
        </p:txBody>
      </p:sp>
      <p:sp>
        <p:nvSpPr>
          <p:cNvPr id="228" name="Google Shape;228;g3f59d3e3f11_0_291"/>
          <p:cNvSpPr/>
          <p:nvPr/>
        </p:nvSpPr>
        <p:spPr>
          <a:xfrm>
            <a:off x="3741375" y="1308575"/>
            <a:ext cx="51792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ENOMEM - insufficient memory for mutex</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EAGAIN - insufficient resources (other than memory)</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EPERM  - no privilege to perform operation</a:t>
            </a:r>
            <a:endParaRPr sz="1600" b="1" i="0" u="none" strike="noStrike" cap="none">
              <a:solidFill>
                <a:srgbClr val="393938"/>
              </a:solidFill>
              <a:latin typeface="Arial"/>
              <a:ea typeface="Arial"/>
              <a:cs typeface="Arial"/>
              <a:sym typeface="Arial"/>
            </a:endParaRPr>
          </a:p>
        </p:txBody>
      </p:sp>
      <p:sp>
        <p:nvSpPr>
          <p:cNvPr id="229" name="Google Shape;229;g3f59d3e3f11_0_291"/>
          <p:cNvSpPr/>
          <p:nvPr/>
        </p:nvSpPr>
        <p:spPr>
          <a:xfrm>
            <a:off x="373075" y="3260525"/>
            <a:ext cx="8547600" cy="11046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393938"/>
                </a:solidFill>
                <a:latin typeface="Arial"/>
                <a:ea typeface="Arial"/>
                <a:cs typeface="Arial"/>
                <a:sym typeface="Arial"/>
              </a:rPr>
              <a:t>Can also use the static, default initializer: </a:t>
            </a:r>
            <a:r>
              <a:rPr lang="en-US" sz="1600" b="1" i="0" u="none" strike="noStrike" cap="none">
                <a:solidFill>
                  <a:srgbClr val="393938"/>
                </a:solidFill>
                <a:latin typeface="Arial"/>
                <a:ea typeface="Arial"/>
                <a:cs typeface="Arial"/>
                <a:sym typeface="Arial"/>
              </a:rPr>
              <a:t>PTHREAD_MUTEX_INITIALIZER</a:t>
            </a:r>
            <a:endParaRPr sz="1600" b="1" i="0" u="none" strike="noStrike" cap="none">
              <a:solidFill>
                <a:srgbClr val="393938"/>
              </a:solidFill>
              <a:latin typeface="Arial"/>
              <a:ea typeface="Arial"/>
              <a:cs typeface="Arial"/>
              <a:sym typeface="Arial"/>
            </a:endParaRPr>
          </a:p>
          <a:p>
            <a:pPr marL="0" marR="0" lvl="0" indent="0" algn="ctr" rtl="0">
              <a:lnSpc>
                <a:spcPct val="115000"/>
              </a:lnSpc>
              <a:spcBef>
                <a:spcPts val="1100"/>
              </a:spcBef>
              <a:spcAft>
                <a:spcPts val="0"/>
              </a:spcAft>
              <a:buClr>
                <a:srgbClr val="000000"/>
              </a:buClr>
              <a:buSzPts val="1600"/>
              <a:buFont typeface="Arial"/>
              <a:buNone/>
            </a:pPr>
            <a:r>
              <a:rPr lang="en-US" sz="1600" b="1" i="0" u="none" strike="noStrike" cap="none">
                <a:solidFill>
                  <a:srgbClr val="000099"/>
                </a:solidFill>
                <a:latin typeface="Arial"/>
                <a:ea typeface="Arial"/>
                <a:cs typeface="Arial"/>
                <a:sym typeface="Arial"/>
              </a:rPr>
              <a:t>pthread_mutex_t mtx1 = PTHREAD_MUTEX_INITIALIZER;</a:t>
            </a:r>
            <a:endParaRPr sz="1600" b="1" i="0" u="none" strike="noStrike" cap="none">
              <a:solidFill>
                <a:srgbClr val="000099"/>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393938"/>
                </a:solidFill>
                <a:latin typeface="Arial"/>
                <a:ea typeface="Arial"/>
                <a:cs typeface="Arial"/>
                <a:sym typeface="Arial"/>
              </a:rPr>
              <a:t>which uses default attributes</a:t>
            </a:r>
            <a:endParaRPr sz="1600" b="1" i="0" u="none" strike="noStrike" cap="none">
              <a:solidFill>
                <a:srgbClr val="39393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f59d3e3f11_0_303"/>
          <p:cNvSpPr txBox="1">
            <a:spLocks noGrp="1"/>
          </p:cNvSpPr>
          <p:nvPr>
            <p:ph type="body" idx="1"/>
          </p:nvPr>
        </p:nvSpPr>
        <p:spPr>
          <a:xfrm>
            <a:off x="279075" y="1455150"/>
            <a:ext cx="3905700" cy="17157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b="1"/>
              <a:t>int pthread_mutex_lock( mutex );</a:t>
            </a:r>
            <a:endParaRPr sz="1800" b="1"/>
          </a:p>
          <a:p>
            <a:pPr marL="0" lvl="0" indent="0" algn="l" rtl="0">
              <a:lnSpc>
                <a:spcPct val="115000"/>
              </a:lnSpc>
              <a:spcBef>
                <a:spcPts val="600"/>
              </a:spcBef>
              <a:spcAft>
                <a:spcPts val="0"/>
              </a:spcAft>
              <a:buSzPts val="2400"/>
              <a:buNone/>
            </a:pPr>
            <a:endParaRPr sz="1800" b="1"/>
          </a:p>
          <a:p>
            <a:pPr marL="0" lvl="0" indent="0" algn="l" rtl="0">
              <a:lnSpc>
                <a:spcPct val="115000"/>
              </a:lnSpc>
              <a:spcBef>
                <a:spcPts val="600"/>
              </a:spcBef>
              <a:spcAft>
                <a:spcPts val="0"/>
              </a:spcAft>
              <a:buClr>
                <a:schemeClr val="dk1"/>
              </a:buClr>
              <a:buSzPts val="1100"/>
              <a:buFont typeface="Arial"/>
              <a:buNone/>
            </a:pPr>
            <a:r>
              <a:rPr lang="en-US" sz="1800" b="1"/>
              <a:t>pthread_mutex_t *mutex</a:t>
            </a:r>
            <a:endParaRPr sz="1800" b="1"/>
          </a:p>
          <a:p>
            <a:pPr marL="241300" lvl="0" indent="0" algn="l" rtl="0">
              <a:lnSpc>
                <a:spcPct val="115000"/>
              </a:lnSpc>
              <a:spcBef>
                <a:spcPts val="600"/>
              </a:spcBef>
              <a:spcAft>
                <a:spcPts val="0"/>
              </a:spcAft>
              <a:buClr>
                <a:schemeClr val="dk1"/>
              </a:buClr>
              <a:buSzPts val="1100"/>
              <a:buFont typeface="Arial"/>
              <a:buNone/>
            </a:pPr>
            <a:r>
              <a:rPr lang="en-US" sz="1800"/>
              <a:t>mutex to attempt to lock</a:t>
            </a:r>
            <a:endParaRPr sz="1800"/>
          </a:p>
          <a:p>
            <a:pPr marL="0" lvl="0" indent="0" algn="l" rtl="0">
              <a:lnSpc>
                <a:spcPct val="100000"/>
              </a:lnSpc>
              <a:spcBef>
                <a:spcPts val="600"/>
              </a:spcBef>
              <a:spcAft>
                <a:spcPts val="0"/>
              </a:spcAft>
              <a:buSzPts val="2400"/>
              <a:buNone/>
            </a:pPr>
            <a:endParaRPr sz="1800"/>
          </a:p>
        </p:txBody>
      </p:sp>
      <p:sp>
        <p:nvSpPr>
          <p:cNvPr id="236" name="Google Shape;236;g3f59d3e3f11_0_30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pthread_mutex_lock</a:t>
            </a:r>
            <a:endParaRPr/>
          </a:p>
        </p:txBody>
      </p:sp>
      <p:sp>
        <p:nvSpPr>
          <p:cNvPr id="237" name="Google Shape;237;g3f59d3e3f11_0_303"/>
          <p:cNvSpPr txBox="1"/>
          <p:nvPr/>
        </p:nvSpPr>
        <p:spPr>
          <a:xfrm>
            <a:off x="4324175" y="681150"/>
            <a:ext cx="4689000" cy="237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Attempts to lock mutex</a:t>
            </a:r>
            <a:endParaRPr sz="1800" b="0" i="0" u="none" strike="noStrike" cap="none">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If mutex is locked by another thread, calling thread is blocked</a:t>
            </a:r>
            <a:endParaRPr sz="1800" b="0" i="0" u="none" strike="noStrike" cap="none">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Mutex is held by calling thread until unlocked</a:t>
            </a:r>
            <a:endParaRPr sz="1800" b="0" i="0" u="none" strike="noStrike" cap="none">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Mutex lock/unlock must be paired or deadlock occurs</a:t>
            </a:r>
            <a:endParaRPr sz="1800" b="0" i="0" u="none" strike="noStrike" cap="none">
              <a:solidFill>
                <a:schemeClr val="dk1"/>
              </a:solidFill>
              <a:latin typeface="Arial"/>
              <a:ea typeface="Arial"/>
              <a:cs typeface="Arial"/>
              <a:sym typeface="Arial"/>
            </a:endParaRPr>
          </a:p>
        </p:txBody>
      </p:sp>
      <p:sp>
        <p:nvSpPr>
          <p:cNvPr id="238" name="Google Shape;238;g3f59d3e3f11_0_303"/>
          <p:cNvSpPr/>
          <p:nvPr/>
        </p:nvSpPr>
        <p:spPr>
          <a:xfrm>
            <a:off x="4408325" y="3146550"/>
            <a:ext cx="45207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EINVAL  - mutex is invalid</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EDEADLK - calling thread already owns mutex</a:t>
            </a:r>
            <a:endParaRPr sz="1600" b="1" i="0" u="none" strike="noStrike" cap="none">
              <a:solidFill>
                <a:srgbClr val="393938"/>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f59d3e3f11_0_31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pthread_mutex_unlock</a:t>
            </a:r>
            <a:endParaRPr/>
          </a:p>
          <a:p>
            <a:pPr marL="0" lvl="0" indent="0" algn="l" rtl="0">
              <a:lnSpc>
                <a:spcPct val="100000"/>
              </a:lnSpc>
              <a:spcBef>
                <a:spcPts val="560"/>
              </a:spcBef>
              <a:spcAft>
                <a:spcPts val="0"/>
              </a:spcAft>
              <a:buSzPts val="2800"/>
              <a:buNone/>
            </a:pPr>
            <a:endParaRPr/>
          </a:p>
        </p:txBody>
      </p:sp>
      <p:sp>
        <p:nvSpPr>
          <p:cNvPr id="245" name="Google Shape;245;g3f59d3e3f11_0_315"/>
          <p:cNvSpPr txBox="1">
            <a:spLocks noGrp="1"/>
          </p:cNvSpPr>
          <p:nvPr>
            <p:ph type="body" idx="1"/>
          </p:nvPr>
        </p:nvSpPr>
        <p:spPr>
          <a:xfrm>
            <a:off x="279075" y="1455150"/>
            <a:ext cx="4272600" cy="17157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2400"/>
              <a:buNone/>
            </a:pPr>
            <a:r>
              <a:rPr lang="en-US" sz="1800" b="1"/>
              <a:t>int pthread_mutex_unlock( mutex );</a:t>
            </a:r>
            <a:endParaRPr sz="1800" b="1"/>
          </a:p>
          <a:p>
            <a:pPr marL="0" lvl="0" indent="0" algn="l" rtl="0">
              <a:lnSpc>
                <a:spcPct val="115000"/>
              </a:lnSpc>
              <a:spcBef>
                <a:spcPts val="0"/>
              </a:spcBef>
              <a:spcAft>
                <a:spcPts val="0"/>
              </a:spcAft>
              <a:buClr>
                <a:schemeClr val="dk1"/>
              </a:buClr>
              <a:buSzPts val="1100"/>
              <a:buFont typeface="Arial"/>
              <a:buNone/>
            </a:pPr>
            <a:endParaRPr sz="1800" b="1"/>
          </a:p>
          <a:p>
            <a:pPr marL="0" lvl="0" indent="0" algn="l" rtl="0">
              <a:lnSpc>
                <a:spcPct val="115000"/>
              </a:lnSpc>
              <a:spcBef>
                <a:spcPts val="0"/>
              </a:spcBef>
              <a:spcAft>
                <a:spcPts val="0"/>
              </a:spcAft>
              <a:buClr>
                <a:schemeClr val="dk1"/>
              </a:buClr>
              <a:buSzPts val="1100"/>
              <a:buFont typeface="Arial"/>
              <a:buNone/>
            </a:pPr>
            <a:r>
              <a:rPr lang="en-US" sz="1800" b="1"/>
              <a:t>pthread_mutex_t *mutex</a:t>
            </a:r>
            <a:endParaRPr sz="1800" b="1"/>
          </a:p>
          <a:p>
            <a:pPr marL="457200" lvl="0" indent="0" algn="l" rtl="0">
              <a:lnSpc>
                <a:spcPct val="115000"/>
              </a:lnSpc>
              <a:spcBef>
                <a:spcPts val="0"/>
              </a:spcBef>
              <a:spcAft>
                <a:spcPts val="0"/>
              </a:spcAft>
              <a:buClr>
                <a:schemeClr val="dk1"/>
              </a:buClr>
              <a:buSzPts val="1100"/>
              <a:buFont typeface="Arial"/>
              <a:buNone/>
            </a:pPr>
            <a:r>
              <a:rPr lang="en-US" sz="1800"/>
              <a:t>  mutex to be unlocked</a:t>
            </a:r>
            <a:endParaRPr sz="1800"/>
          </a:p>
          <a:p>
            <a:pPr marL="0" lvl="0" indent="0" algn="l" rtl="0">
              <a:lnSpc>
                <a:spcPct val="100000"/>
              </a:lnSpc>
              <a:spcBef>
                <a:spcPts val="480"/>
              </a:spcBef>
              <a:spcAft>
                <a:spcPts val="0"/>
              </a:spcAft>
              <a:buSzPts val="2400"/>
              <a:buNone/>
            </a:pPr>
            <a:endParaRPr sz="1800" b="1"/>
          </a:p>
        </p:txBody>
      </p:sp>
      <p:sp>
        <p:nvSpPr>
          <p:cNvPr id="246" name="Google Shape;246;g3f59d3e3f11_0_315"/>
          <p:cNvSpPr/>
          <p:nvPr/>
        </p:nvSpPr>
        <p:spPr>
          <a:xfrm>
            <a:off x="4737600" y="1868250"/>
            <a:ext cx="44064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EINVAL - mutex is invalid</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EPERM  - calling thread does not own mutex</a:t>
            </a:r>
            <a:endParaRPr sz="1600" b="1" i="0" u="none" strike="noStrike" cap="none">
              <a:solidFill>
                <a:srgbClr val="393938"/>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f5977d359e_0_152"/>
          <p:cNvSpPr txBox="1">
            <a:spLocks noGrp="1"/>
          </p:cNvSpPr>
          <p:nvPr>
            <p:ph type="body" idx="1"/>
          </p:nvPr>
        </p:nvSpPr>
        <p:spPr>
          <a:xfrm>
            <a:off x="262101" y="784550"/>
            <a:ext cx="41271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#define NUMTHREADS 4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why does this have to be global?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pthread_mutex_t gMutex; </a:t>
            </a:r>
            <a:endParaRPr sz="1400" b="1">
              <a:solidFill>
                <a:srgbClr val="CC0000"/>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int g_sum = 0;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void *threadFunc(void *arg) {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int mySum = bigComputation();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pthread_mutex_lock( &amp;gMutex ); </a:t>
            </a:r>
            <a:endParaRPr sz="1400" b="1">
              <a:solidFill>
                <a:srgbClr val="CC0000"/>
              </a:solidFill>
              <a:latin typeface="Courier New"/>
              <a:ea typeface="Courier New"/>
              <a:cs typeface="Courier New"/>
              <a:sym typeface="Courier New"/>
            </a:endParaRPr>
          </a:p>
          <a:p>
            <a:pPr marL="457200" lvl="0" indent="0" algn="l" rtl="0">
              <a:lnSpc>
                <a:spcPct val="100000"/>
              </a:lnSpc>
              <a:spcBef>
                <a:spcPts val="480"/>
              </a:spcBef>
              <a:spcAft>
                <a:spcPts val="0"/>
              </a:spcAft>
              <a:buClr>
                <a:schemeClr val="dk1"/>
              </a:buClr>
              <a:buSzPts val="1100"/>
              <a:buFont typeface="Arial"/>
              <a:buNone/>
            </a:pPr>
            <a:r>
              <a:rPr lang="en-US" sz="1400" b="1">
                <a:solidFill>
                  <a:srgbClr val="A64D79"/>
                </a:solidFill>
                <a:latin typeface="Courier New"/>
                <a:ea typeface="Courier New"/>
                <a:cs typeface="Courier New"/>
                <a:sym typeface="Courier New"/>
              </a:rPr>
              <a:t>// threads access one at a time</a:t>
            </a:r>
            <a:endParaRPr sz="1400" b="1">
              <a:solidFill>
                <a:srgbClr val="A64D79"/>
              </a:solidFill>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g_sum += mySum; </a:t>
            </a:r>
            <a:endParaRPr sz="1400">
              <a:latin typeface="Courier New"/>
              <a:ea typeface="Courier New"/>
              <a:cs typeface="Courier New"/>
              <a:sym typeface="Courier New"/>
            </a:endParaRPr>
          </a:p>
          <a:p>
            <a:pPr marL="457200" lvl="0" indent="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pthread_mutex_unlock( &amp;gMutex );</a:t>
            </a:r>
            <a:r>
              <a:rPr lang="en-US" sz="1400">
                <a:latin typeface="Courier New"/>
                <a:ea typeface="Courier New"/>
                <a:cs typeface="Courier New"/>
                <a:sym typeface="Courier New"/>
              </a:rPr>
              <a:t>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endParaRPr sz="1400">
              <a:latin typeface="Courier New"/>
              <a:ea typeface="Courier New"/>
              <a:cs typeface="Courier New"/>
              <a:sym typeface="Courier New"/>
            </a:endParaRPr>
          </a:p>
        </p:txBody>
      </p:sp>
      <p:sp>
        <p:nvSpPr>
          <p:cNvPr id="253" name="Google Shape;253;g3f5977d359e_0_152"/>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IV - Use of mutex</a:t>
            </a:r>
            <a:endParaRPr/>
          </a:p>
        </p:txBody>
      </p:sp>
      <p:sp>
        <p:nvSpPr>
          <p:cNvPr id="254" name="Google Shape;254;g3f5977d359e_0_152"/>
          <p:cNvSpPr txBox="1"/>
          <p:nvPr/>
        </p:nvSpPr>
        <p:spPr>
          <a:xfrm>
            <a:off x="4553700" y="1358525"/>
            <a:ext cx="4590300" cy="310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int main() { </a:t>
            </a:r>
            <a:endParaRPr sz="1400" b="0" i="0" u="none" strike="noStrike" cap="none">
              <a:solidFill>
                <a:schemeClr val="dk1"/>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pthread_t hThread[NUMTHREADS];</a:t>
            </a:r>
            <a:endParaRPr sz="1400" b="0" i="0" u="none" strike="noStrike" cap="none">
              <a:solidFill>
                <a:schemeClr val="dk1"/>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1" i="0" u="none" strike="noStrike" cap="none">
                <a:solidFill>
                  <a:srgbClr val="CC0000"/>
                </a:solidFill>
                <a:latin typeface="Courier New"/>
                <a:ea typeface="Courier New"/>
                <a:cs typeface="Courier New"/>
                <a:sym typeface="Courier New"/>
              </a:rPr>
              <a:t>pthread_mutex_init( &amp;gMutex, NULL ); </a:t>
            </a:r>
            <a:endParaRPr sz="1400" b="1" i="0" u="none" strike="noStrike" cap="none">
              <a:solidFill>
                <a:srgbClr val="CC0000"/>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for (int i = 0; i &lt; NUMTHREADS; i++)</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pthread_create(&amp;hThread[i],NULL,threadFunc,NULL); </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endParaRPr sz="1400" b="0" i="0" u="none" strike="noStrike" cap="none">
              <a:solidFill>
                <a:schemeClr val="dk1"/>
              </a:solidFill>
              <a:latin typeface="Courier New"/>
              <a:ea typeface="Courier New"/>
              <a:cs typeface="Courier New"/>
              <a:sym typeface="Courier New"/>
            </a:endParaRPr>
          </a:p>
          <a:p>
            <a:pPr marL="45720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for (int i = 0; i &lt; NUMTHREADS; i++) </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pthread_join(hThread[i]); </a:t>
            </a:r>
            <a:endParaRPr sz="1400" b="0" i="0" u="none" strike="noStrike" cap="none">
              <a:solidFill>
                <a:schemeClr val="dk1"/>
              </a:solidFill>
              <a:latin typeface="Courier New"/>
              <a:ea typeface="Courier New"/>
              <a:cs typeface="Courier New"/>
              <a:sym typeface="Courier New"/>
            </a:endParaRPr>
          </a:p>
          <a:p>
            <a:pPr marL="45720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printf (“Global sum = %f\n”, g_sum);</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Courier New"/>
              <a:ea typeface="Courier New"/>
              <a:cs typeface="Courier New"/>
              <a:sym typeface="Courier New"/>
            </a:endParaRPr>
          </a:p>
        </p:txBody>
      </p:sp>
      <p:sp>
        <p:nvSpPr>
          <p:cNvPr id="255" name="Google Shape;255;g3f5977d359e_0_152"/>
          <p:cNvSpPr/>
          <p:nvPr/>
        </p:nvSpPr>
        <p:spPr>
          <a:xfrm>
            <a:off x="6613200" y="784550"/>
            <a:ext cx="2414700" cy="73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Why not just put bigComputation() into critical region? </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f59d3e3f11_0_387"/>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Download and run the following files:</a:t>
            </a:r>
            <a:endParaRPr sz="1800"/>
          </a:p>
          <a:p>
            <a:pPr marL="457200" lvl="0" indent="-342900" algn="l" rtl="0">
              <a:lnSpc>
                <a:spcPct val="100000"/>
              </a:lnSpc>
              <a:spcBef>
                <a:spcPts val="480"/>
              </a:spcBef>
              <a:spcAft>
                <a:spcPts val="0"/>
              </a:spcAft>
              <a:buSzPts val="1800"/>
              <a:buChar char="▪"/>
            </a:pPr>
            <a:r>
              <a:rPr lang="en-US" sz="1800" u="sng">
                <a:solidFill>
                  <a:schemeClr val="hlink"/>
                </a:solidFill>
                <a:hlinkClick r:id="rId3"/>
              </a:rPr>
              <a:t>PThreadBasic.c</a:t>
            </a:r>
            <a:endParaRPr sz="1800"/>
          </a:p>
          <a:p>
            <a:pPr marL="457200" lvl="0" indent="-342900" algn="l" rtl="0">
              <a:lnSpc>
                <a:spcPct val="100000"/>
              </a:lnSpc>
              <a:spcBef>
                <a:spcPts val="0"/>
              </a:spcBef>
              <a:spcAft>
                <a:spcPts val="0"/>
              </a:spcAft>
              <a:buSzPts val="1800"/>
              <a:buChar char="▪"/>
            </a:pPr>
            <a:r>
              <a:rPr lang="en-US" sz="1800" u="sng">
                <a:solidFill>
                  <a:schemeClr val="hlink"/>
                </a:solidFill>
                <a:hlinkClick r:id="rId4"/>
              </a:rPr>
              <a:t>PThread_Cond.c</a:t>
            </a:r>
            <a:r>
              <a:rPr lang="en-US" sz="1800"/>
              <a:t> (Preliminary exploration of condition variables)</a:t>
            </a:r>
            <a:endParaRPr sz="1800"/>
          </a:p>
          <a:p>
            <a:pPr marL="0" lvl="0" indent="0" algn="l" rtl="0">
              <a:lnSpc>
                <a:spcPct val="100000"/>
              </a:lnSpc>
              <a:spcBef>
                <a:spcPts val="480"/>
              </a:spcBef>
              <a:spcAft>
                <a:spcPts val="0"/>
              </a:spcAft>
              <a:buSzPts val="2400"/>
              <a:buNone/>
            </a:pPr>
            <a:endParaRPr sz="1800"/>
          </a:p>
          <a:p>
            <a:pPr marL="0" lvl="0" indent="0" algn="l" rtl="0">
              <a:lnSpc>
                <a:spcPct val="100000"/>
              </a:lnSpc>
              <a:spcBef>
                <a:spcPts val="480"/>
              </a:spcBef>
              <a:spcAft>
                <a:spcPts val="0"/>
              </a:spcAft>
              <a:buSzPts val="2400"/>
              <a:buNone/>
            </a:pPr>
            <a:r>
              <a:rPr lang="en-US" sz="1800"/>
              <a:t>Execute the code and review its implementation to understand the workflow.</a:t>
            </a:r>
            <a:endParaRPr sz="1800"/>
          </a:p>
          <a:p>
            <a:pPr marL="0" lvl="0" indent="0" algn="l" rtl="0">
              <a:lnSpc>
                <a:spcPct val="100000"/>
              </a:lnSpc>
              <a:spcBef>
                <a:spcPts val="480"/>
              </a:spcBef>
              <a:spcAft>
                <a:spcPts val="0"/>
              </a:spcAft>
              <a:buSzPts val="2400"/>
              <a:buNone/>
            </a:pPr>
            <a:endParaRPr sz="1800"/>
          </a:p>
          <a:p>
            <a:pPr marL="0" lvl="0" indent="0" algn="l" rtl="0">
              <a:lnSpc>
                <a:spcPct val="100000"/>
              </a:lnSpc>
              <a:spcBef>
                <a:spcPts val="480"/>
              </a:spcBef>
              <a:spcAft>
                <a:spcPts val="0"/>
              </a:spcAft>
              <a:buSzPts val="2400"/>
              <a:buNone/>
            </a:pPr>
            <a:r>
              <a:rPr lang="en-US" sz="1800"/>
              <a:t>Additional reading list:</a:t>
            </a:r>
            <a:endParaRPr sz="1800"/>
          </a:p>
          <a:p>
            <a:pPr marL="457200" lvl="0" indent="-342900" algn="l" rtl="0">
              <a:lnSpc>
                <a:spcPct val="100000"/>
              </a:lnSpc>
              <a:spcBef>
                <a:spcPts val="480"/>
              </a:spcBef>
              <a:spcAft>
                <a:spcPts val="0"/>
              </a:spcAft>
              <a:buSzPts val="1800"/>
              <a:buChar char="▪"/>
            </a:pPr>
            <a:r>
              <a:rPr lang="en-US" sz="1800" u="sng">
                <a:solidFill>
                  <a:schemeClr val="hlink"/>
                </a:solidFill>
                <a:hlinkClick r:id="rId5"/>
              </a:rPr>
              <a:t>POSIX Threads Programming</a:t>
            </a:r>
            <a:endParaRPr sz="1800"/>
          </a:p>
          <a:p>
            <a:pPr marL="457200" lvl="0" indent="-342900" algn="l" rtl="0">
              <a:lnSpc>
                <a:spcPct val="100000"/>
              </a:lnSpc>
              <a:spcBef>
                <a:spcPts val="0"/>
              </a:spcBef>
              <a:spcAft>
                <a:spcPts val="0"/>
              </a:spcAft>
              <a:buSzPts val="1800"/>
              <a:buChar char="▪"/>
            </a:pPr>
            <a:r>
              <a:rPr lang="en-US" sz="1800" u="sng">
                <a:solidFill>
                  <a:schemeClr val="hlink"/>
                </a:solidFill>
                <a:hlinkClick r:id="rId6"/>
              </a:rPr>
              <a:t>Linux manual pages for the POSIX thread APIs</a:t>
            </a:r>
            <a:endParaRPr sz="1800"/>
          </a:p>
        </p:txBody>
      </p:sp>
      <p:sp>
        <p:nvSpPr>
          <p:cNvPr id="262" name="Google Shape;262;g3f59d3e3f11_0_387"/>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Task 1</a:t>
            </a:r>
            <a:endParaRPr/>
          </a:p>
        </p:txBody>
      </p:sp>
    </p:spTree>
  </p:cSld>
  <p:clrMapOvr>
    <a:masterClrMapping/>
  </p:clrMapOvr>
</p:sld>
</file>

<file path=ppt/theme/theme1.xml><?xml version="1.0" encoding="utf-8"?>
<a:theme xmlns:a="http://schemas.openxmlformats.org/drawingml/2006/main" name="Custom Design">
  <a:themeElements>
    <a:clrScheme name="Custo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E70D43"/>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2259</Words>
  <Application>Microsoft Macintosh PowerPoint</Application>
  <PresentationFormat>On-screen Show (16:9)</PresentationFormat>
  <Paragraphs>267</Paragraphs>
  <Slides>29</Slides>
  <Notes>29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29</vt:i4>
      </vt:variant>
    </vt:vector>
  </HeadingPairs>
  <TitlesOfParts>
    <vt:vector size="38" baseType="lpstr">
      <vt:lpstr>Courier New</vt:lpstr>
      <vt:lpstr>Noto Sans Symbols</vt:lpstr>
      <vt:lpstr>Times New Roman</vt:lpstr>
      <vt:lpstr>Arial</vt:lpstr>
      <vt:lpstr>Calibri</vt:lpstr>
      <vt:lpstr>Arial Narrow</vt:lpstr>
      <vt:lpstr>Custom Design</vt:lpstr>
      <vt:lpstr>1_Custom Design</vt:lpstr>
      <vt:lpstr>3_Custom Design</vt:lpstr>
      <vt:lpstr>Information Technology   FIT3143 Parallel Computing   Semester 2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Carlo Kopp</dc:creator>
  <cp:lastModifiedBy>Terrence Mak</cp:lastModifiedBy>
  <cp:revision>7</cp:revision>
  <dcterms:created xsi:type="dcterms:W3CDTF">2022-10-13T07:44:31Z</dcterms:created>
  <dcterms:modified xsi:type="dcterms:W3CDTF">2026-07-24T12:22:05Z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